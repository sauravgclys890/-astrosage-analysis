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80" r:id="rId6"/>
    <p:sldId id="278" r:id="rId7"/>
    <p:sldId id="281" r:id="rId8"/>
    <p:sldId id="275" r:id="rId9"/>
    <p:sldId id="282" r:id="rId10"/>
    <p:sldId id="283" r:id="rId11"/>
    <p:sldId id="284" r:id="rId12"/>
    <p:sldId id="285" r:id="rId13"/>
    <p:sldId id="286" r:id="rId14"/>
    <p:sldId id="287" r:id="rId15"/>
    <p:sldId id="288" r:id="rId16"/>
    <p:sldId id="289" r:id="rId17"/>
    <p:sldId id="292" r:id="rId18"/>
    <p:sldId id="290" r:id="rId19"/>
    <p:sldId id="258" r:id="rId20"/>
    <p:sldId id="269" r:id="rId21"/>
    <p:sldId id="271" r:id="rId22"/>
    <p:sldId id="273" r:id="rId23"/>
    <p:sldId id="279" r:id="rId24"/>
    <p:sldId id="272"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3CB1A70-E04F-4854-94BE-A2638B70E8BC}" styleName="Table_0">
    <a:wholeTbl>
      <a:tcTxStyle>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chemeClr val="accent1"/>
              </a:solidFill>
              <a:prstDash val="solid"/>
              <a:round/>
              <a:headEnd type="none" w="sm" len="sm"/>
              <a:tailEnd type="none" w="sm" len="sm"/>
            </a:ln>
          </a:top>
          <a:bottom>
            <a:ln w="12700" cap="flat" cmpd="sng">
              <a:solidFill>
                <a:schemeClr val="accen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band2V>
      <a:tcStyle>
        <a:tcBdr/>
      </a:tcStyle>
    </a:band2V>
    <a:lastCol>
      <a:tcTxStyle b="on"/>
      <a:tcStyle>
        <a:tcBdr/>
      </a:tcStyle>
    </a:lastCol>
    <a:firstCol>
      <a:tcTxStyle b="on"/>
      <a:tcStyle>
        <a:tcBdr/>
      </a:tcStyle>
    </a:firstCol>
    <a:lastRow>
      <a:tcTxStyle b="on"/>
      <a:tcStyle>
        <a:tcBdr>
          <a:top>
            <a:ln w="12700" cap="flat" cmpd="sng">
              <a:solidFill>
                <a:schemeClr val="accent1"/>
              </a:solidFill>
              <a:prstDash val="solid"/>
              <a:round/>
              <a:headEnd type="none" w="sm" len="sm"/>
              <a:tailEnd type="none" w="sm" len="sm"/>
            </a:ln>
          </a:top>
        </a:tcBdr>
        <a:fill>
          <a:solidFill>
            <a:srgbClr val="FFFFFF">
              <a:alpha val="0"/>
            </a:srgbClr>
          </a:solidFill>
        </a:fill>
      </a:tcStyle>
    </a:lastRow>
    <a:seCell>
      <a:tcStyle>
        <a:tcBdr/>
      </a:tcStyle>
    </a:seCell>
    <a:swCell>
      <a:tcStyle>
        <a:tcBdr/>
      </a:tcStyle>
    </a:swCell>
    <a:firstRow>
      <a:tcTxStyle b="on"/>
      <a:tcStyle>
        <a:tcBdr>
          <a:bottom>
            <a:ln w="12700" cap="flat" cmpd="sng">
              <a:solidFill>
                <a:schemeClr val="accent1"/>
              </a:solidFill>
              <a:prstDash val="solid"/>
              <a:round/>
              <a:headEnd type="none" w="sm" len="sm"/>
              <a:tailEnd type="none" w="sm" len="sm"/>
            </a:ln>
          </a:bottom>
        </a:tcBdr>
        <a:fill>
          <a:solidFill>
            <a:srgbClr val="FFFFFF">
              <a:alpha val="0"/>
            </a:srgbClr>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DE4A2801-E692-41A6-936F-3D1549D1022B}"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E19E8B9D-D7E2-4CF2-B2FA-76CF71DD3053}">
      <dgm:prSet/>
      <dgm:spPr/>
      <dgm:t>
        <a:bodyPr/>
        <a:lstStyle/>
        <a:p>
          <a:pPr rtl="0"/>
          <a:r>
            <a:rPr lang="en-IN" dirty="0" smtClean="0">
              <a:latin typeface="Arial Black" panose="020B0A04020102020204" pitchFamily="34" charset="0"/>
            </a:rPr>
            <a:t>User Traffic </a:t>
          </a:r>
          <a:br>
            <a:rPr lang="en-IN" dirty="0" smtClean="0">
              <a:latin typeface="Arial Black" panose="020B0A04020102020204" pitchFamily="34" charset="0"/>
            </a:rPr>
          </a:br>
          <a:r>
            <a:rPr lang="en-IN" dirty="0" smtClean="0">
              <a:latin typeface="Arial Black" panose="020B0A04020102020204" pitchFamily="34" charset="0"/>
            </a:rPr>
            <a:t>( Platform ) </a:t>
          </a:r>
          <a:endParaRPr lang="en-IN" dirty="0">
            <a:latin typeface="Arial Black" panose="020B0A04020102020204" pitchFamily="34" charset="0"/>
          </a:endParaRPr>
        </a:p>
      </dgm:t>
    </dgm:pt>
    <dgm:pt modelId="{1720BBD2-A36D-4672-84FC-A9A4A49388BA}" cxnId="{66361EA7-AE8B-4498-AB95-793FCA5DE55D}" type="parTrans">
      <dgm:prSet/>
      <dgm:spPr/>
      <dgm:t>
        <a:bodyPr/>
        <a:lstStyle/>
        <a:p>
          <a:endParaRPr lang="en-US"/>
        </a:p>
      </dgm:t>
    </dgm:pt>
    <dgm:pt modelId="{0B6E75BB-9B46-4A58-A3B6-601E655ADDEA}" cxnId="{66361EA7-AE8B-4498-AB95-793FCA5DE55D}" type="sibTrans">
      <dgm:prSet/>
      <dgm:spPr/>
      <dgm:t>
        <a:bodyPr/>
        <a:lstStyle/>
        <a:p>
          <a:endParaRPr lang="en-US"/>
        </a:p>
      </dgm:t>
    </dgm:pt>
    <dgm:pt modelId="{A3275663-6D63-4D67-AC1E-77BFEA9C09AC}">
      <dgm:prSet/>
      <dgm:spPr/>
      <dgm:t>
        <a:bodyPr/>
        <a:lstStyle/>
        <a:p>
          <a:pPr rtl="0"/>
          <a:r>
            <a:rPr lang="en-IN" dirty="0" smtClean="0">
              <a:latin typeface="Arial Black" panose="020B0A04020102020204" pitchFamily="34" charset="0"/>
            </a:rPr>
            <a:t>Gurucool</a:t>
          </a:r>
          <a:br>
            <a:rPr lang="en-IN" dirty="0" smtClean="0">
              <a:latin typeface="Arial Black" panose="020B0A04020102020204" pitchFamily="34" charset="0"/>
            </a:rPr>
          </a:br>
          <a:r>
            <a:rPr lang="en-IN" dirty="0" smtClean="0">
              <a:latin typeface="Arial Black" panose="020B0A04020102020204" pitchFamily="34" charset="0"/>
            </a:rPr>
            <a:t/>
          </a:r>
          <a:br>
            <a:rPr lang="en-IN" dirty="0" smtClean="0">
              <a:latin typeface="Arial Black" panose="020B0A04020102020204" pitchFamily="34" charset="0"/>
            </a:rPr>
          </a:br>
          <a:r>
            <a:rPr lang="en-IN" dirty="0" smtClean="0">
              <a:latin typeface="Arial Black" panose="020B0A04020102020204" pitchFamily="34" charset="0"/>
            </a:rPr>
            <a:t>App</a:t>
          </a:r>
          <a:br>
            <a:rPr lang="en-IN" dirty="0" smtClean="0">
              <a:latin typeface="Arial Black" panose="020B0A04020102020204" pitchFamily="34" charset="0"/>
            </a:rPr>
          </a:br>
          <a:r>
            <a:rPr lang="en-IN" dirty="0" smtClean="0">
              <a:latin typeface="Arial Black" panose="020B0A04020102020204" pitchFamily="34" charset="0"/>
            </a:rPr>
            <a:t/>
          </a:r>
          <a:br>
            <a:rPr lang="en-IN" dirty="0" smtClean="0">
              <a:latin typeface="Arial Black" panose="020B0A04020102020204" pitchFamily="34" charset="0"/>
            </a:rPr>
          </a:br>
          <a:r>
            <a:rPr lang="en-IN" dirty="0" smtClean="0">
              <a:latin typeface="Arial Black" panose="020B0A04020102020204" pitchFamily="34" charset="0"/>
            </a:rPr>
            <a:t>Dashboard</a:t>
          </a:r>
          <a:endParaRPr lang="en-IN" dirty="0">
            <a:latin typeface="Arial Black" panose="020B0A04020102020204" pitchFamily="34" charset="0"/>
          </a:endParaRPr>
        </a:p>
      </dgm:t>
    </dgm:pt>
    <dgm:pt modelId="{7C319DC7-7A62-4ECE-937E-BDC6C8D77721}" cxnId="{44B9114C-66BD-4F1C-B170-553CF8E1751D}" type="parTrans">
      <dgm:prSet/>
      <dgm:spPr/>
      <dgm:t>
        <a:bodyPr/>
        <a:lstStyle/>
        <a:p>
          <a:endParaRPr lang="en-US"/>
        </a:p>
      </dgm:t>
    </dgm:pt>
    <dgm:pt modelId="{CEDF81CE-1AC2-482A-AAFD-E10D3C53BF10}" cxnId="{44B9114C-66BD-4F1C-B170-553CF8E1751D}" type="sibTrans">
      <dgm:prSet/>
      <dgm:spPr/>
      <dgm:t>
        <a:bodyPr/>
        <a:lstStyle/>
        <a:p>
          <a:endParaRPr lang="en-US"/>
        </a:p>
      </dgm:t>
    </dgm:pt>
    <dgm:pt modelId="{1C3BE58A-4B3D-4A5F-A11B-DFF221715219}" type="pres">
      <dgm:prSet presAssocID="{DE4A2801-E692-41A6-936F-3D1549D1022B}" presName="Name0" presStyleCnt="0">
        <dgm:presLayoutVars>
          <dgm:dir/>
          <dgm:resizeHandles val="exact"/>
        </dgm:presLayoutVars>
      </dgm:prSet>
      <dgm:spPr/>
      <dgm:t>
        <a:bodyPr/>
        <a:lstStyle/>
        <a:p>
          <a:endParaRPr lang="en-US"/>
        </a:p>
      </dgm:t>
    </dgm:pt>
    <dgm:pt modelId="{ADB78435-AA70-4539-9D7A-89601F7B90A2}" type="pres">
      <dgm:prSet presAssocID="{E19E8B9D-D7E2-4CF2-B2FA-76CF71DD3053}" presName="node" presStyleLbl="node1" presStyleIdx="0" presStyleCnt="2">
        <dgm:presLayoutVars>
          <dgm:bulletEnabled val="1"/>
        </dgm:presLayoutVars>
      </dgm:prSet>
      <dgm:spPr/>
      <dgm:t>
        <a:bodyPr/>
        <a:lstStyle/>
        <a:p>
          <a:endParaRPr lang="en-US"/>
        </a:p>
      </dgm:t>
    </dgm:pt>
    <dgm:pt modelId="{0B870BCA-23AF-4B46-A31A-E41DB1BFAE76}" type="pres">
      <dgm:prSet presAssocID="{0B6E75BB-9B46-4A58-A3B6-601E655ADDEA}" presName="sibTrans" presStyleLbl="sibTrans2D1" presStyleIdx="0" presStyleCnt="1"/>
      <dgm:spPr/>
      <dgm:t>
        <a:bodyPr/>
        <a:lstStyle/>
        <a:p>
          <a:endParaRPr lang="en-US"/>
        </a:p>
      </dgm:t>
    </dgm:pt>
    <dgm:pt modelId="{AEDE4605-6F75-4680-AF94-0DA3F24F13B8}" type="pres">
      <dgm:prSet presAssocID="{0B6E75BB-9B46-4A58-A3B6-601E655ADDEA}" presName="connectorText" presStyleLbl="sibTrans2D1" presStyleIdx="0" presStyleCnt="1"/>
      <dgm:spPr/>
      <dgm:t>
        <a:bodyPr/>
        <a:lstStyle/>
        <a:p>
          <a:endParaRPr lang="en-US"/>
        </a:p>
      </dgm:t>
    </dgm:pt>
    <dgm:pt modelId="{2B9B7C1F-E8FA-40A5-B0AF-767A21F161FE}" type="pres">
      <dgm:prSet presAssocID="{A3275663-6D63-4D67-AC1E-77BFEA9C09AC}" presName="node" presStyleLbl="node1" presStyleIdx="1" presStyleCnt="2">
        <dgm:presLayoutVars>
          <dgm:bulletEnabled val="1"/>
        </dgm:presLayoutVars>
      </dgm:prSet>
      <dgm:spPr/>
      <dgm:t>
        <a:bodyPr/>
        <a:lstStyle/>
        <a:p>
          <a:endParaRPr lang="en-US"/>
        </a:p>
      </dgm:t>
    </dgm:pt>
  </dgm:ptLst>
  <dgm:cxnLst>
    <dgm:cxn modelId="{66361EA7-AE8B-4498-AB95-793FCA5DE55D}" srcId="{DE4A2801-E692-41A6-936F-3D1549D1022B}" destId="{E19E8B9D-D7E2-4CF2-B2FA-76CF71DD3053}" srcOrd="0" destOrd="0" parTransId="{1720BBD2-A36D-4672-84FC-A9A4A49388BA}" sibTransId="{0B6E75BB-9B46-4A58-A3B6-601E655ADDEA}"/>
    <dgm:cxn modelId="{44B9114C-66BD-4F1C-B170-553CF8E1751D}" srcId="{DE4A2801-E692-41A6-936F-3D1549D1022B}" destId="{A3275663-6D63-4D67-AC1E-77BFEA9C09AC}" srcOrd="1" destOrd="0" parTransId="{7C319DC7-7A62-4ECE-937E-BDC6C8D77721}" sibTransId="{CEDF81CE-1AC2-482A-AAFD-E10D3C53BF10}"/>
    <dgm:cxn modelId="{EFAF708C-8C9D-490F-ACFB-4D8443BE6875}" type="presOf" srcId="{0B6E75BB-9B46-4A58-A3B6-601E655ADDEA}" destId="{0B870BCA-23AF-4B46-A31A-E41DB1BFAE76}" srcOrd="0" destOrd="0" presId="urn:microsoft.com/office/officeart/2005/8/layout/process1"/>
    <dgm:cxn modelId="{75A624F2-169C-4442-B8E3-DD579BAA59CE}" type="presOf" srcId="{0B6E75BB-9B46-4A58-A3B6-601E655ADDEA}" destId="{AEDE4605-6F75-4680-AF94-0DA3F24F13B8}" srcOrd="1" destOrd="0" presId="urn:microsoft.com/office/officeart/2005/8/layout/process1"/>
    <dgm:cxn modelId="{71ED8933-6CF9-4023-91BD-82E06776235E}" type="presOf" srcId="{E19E8B9D-D7E2-4CF2-B2FA-76CF71DD3053}" destId="{ADB78435-AA70-4539-9D7A-89601F7B90A2}" srcOrd="0" destOrd="0" presId="urn:microsoft.com/office/officeart/2005/8/layout/process1"/>
    <dgm:cxn modelId="{9385F557-6709-4B0C-BD29-213F555D7C38}" type="presOf" srcId="{DE4A2801-E692-41A6-936F-3D1549D1022B}" destId="{1C3BE58A-4B3D-4A5F-A11B-DFF221715219}" srcOrd="0" destOrd="0" presId="urn:microsoft.com/office/officeart/2005/8/layout/process1"/>
    <dgm:cxn modelId="{EB0BC6FA-6732-42BB-9945-B53B52C9A05A}" type="presOf" srcId="{A3275663-6D63-4D67-AC1E-77BFEA9C09AC}" destId="{2B9B7C1F-E8FA-40A5-B0AF-767A21F161FE}" srcOrd="0" destOrd="0" presId="urn:microsoft.com/office/officeart/2005/8/layout/process1"/>
    <dgm:cxn modelId="{F29CB5CD-770D-4B98-A91E-DA4F56ACB63D}" type="presParOf" srcId="{1C3BE58A-4B3D-4A5F-A11B-DFF221715219}" destId="{ADB78435-AA70-4539-9D7A-89601F7B90A2}" srcOrd="0" destOrd="0" presId="urn:microsoft.com/office/officeart/2005/8/layout/process1"/>
    <dgm:cxn modelId="{D12C8471-2210-4221-B926-C5C9CE721716}" type="presParOf" srcId="{1C3BE58A-4B3D-4A5F-A11B-DFF221715219}" destId="{0B870BCA-23AF-4B46-A31A-E41DB1BFAE76}" srcOrd="1" destOrd="0" presId="urn:microsoft.com/office/officeart/2005/8/layout/process1"/>
    <dgm:cxn modelId="{3640EB6D-0DE8-4E58-9599-F0D5BD80E184}" type="presParOf" srcId="{0B870BCA-23AF-4B46-A31A-E41DB1BFAE76}" destId="{AEDE4605-6F75-4680-AF94-0DA3F24F13B8}" srcOrd="0" destOrd="0" presId="urn:microsoft.com/office/officeart/2005/8/layout/process1"/>
    <dgm:cxn modelId="{859DA49D-3AD8-4700-8883-7B348FD6A282}" type="presParOf" srcId="{1C3BE58A-4B3D-4A5F-A11B-DFF221715219}" destId="{2B9B7C1F-E8FA-40A5-B0AF-767A21F161FE}" srcOrd="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8740EB0-47F6-425C-8646-5EB909B17179}" type="doc">
      <dgm:prSet loTypeId="urn:microsoft.com/office/officeart/2005/8/layout/lProcess3" loCatId="process" qsTypeId="urn:microsoft.com/office/officeart/2005/8/quickstyle/3d1" qsCatId="3D" csTypeId="urn:microsoft.com/office/officeart/2005/8/colors/accent1_2" csCatId="accent1"/>
      <dgm:spPr/>
      <dgm:t>
        <a:bodyPr/>
        <a:lstStyle/>
        <a:p>
          <a:endParaRPr lang="en-US"/>
        </a:p>
      </dgm:t>
    </dgm:pt>
    <dgm:pt modelId="{67B5FE6D-1C4D-4A45-829A-707F1DD850BE}">
      <dgm:prSet/>
      <dgm:spPr/>
      <dgm:t>
        <a:bodyPr/>
        <a:lstStyle/>
        <a:p>
          <a:pPr rtl="0"/>
          <a:r>
            <a:rPr lang="en-IN" dirty="0" smtClean="0"/>
            <a:t>Complete</a:t>
          </a:r>
          <a:br>
            <a:rPr lang="en-IN" dirty="0" smtClean="0"/>
          </a:br>
          <a:endParaRPr lang="en-IN" dirty="0"/>
        </a:p>
      </dgm:t>
    </dgm:pt>
    <dgm:pt modelId="{54AD5D86-3590-4B58-92AD-F2EE9B926119}" cxnId="{7EEB6488-C1AC-47E5-B5CF-024B30091ECC}" type="parTrans">
      <dgm:prSet/>
      <dgm:spPr/>
      <dgm:t>
        <a:bodyPr/>
        <a:lstStyle/>
        <a:p>
          <a:endParaRPr lang="en-US"/>
        </a:p>
      </dgm:t>
    </dgm:pt>
    <dgm:pt modelId="{92F15341-895C-42AE-8F85-433D7DD3DB5B}" cxnId="{7EEB6488-C1AC-47E5-B5CF-024B30091ECC}" type="sibTrans">
      <dgm:prSet/>
      <dgm:spPr/>
      <dgm:t>
        <a:bodyPr/>
        <a:lstStyle/>
        <a:p>
          <a:endParaRPr lang="en-US"/>
        </a:p>
      </dgm:t>
    </dgm:pt>
    <dgm:pt modelId="{614566AF-B556-4C93-BB95-210D8057CFCE}">
      <dgm:prSet/>
      <dgm:spPr/>
      <dgm:t>
        <a:bodyPr/>
        <a:lstStyle/>
        <a:p>
          <a:pPr rtl="0"/>
          <a:r>
            <a:rPr lang="en-IN" smtClean="0"/>
            <a:t>Incomplete</a:t>
          </a:r>
          <a:endParaRPr lang="en-IN"/>
        </a:p>
      </dgm:t>
    </dgm:pt>
    <dgm:pt modelId="{97FBD9B6-97E3-47FA-B161-24C6C0FA04CA}" cxnId="{2B9B9E49-1A96-464F-A450-DDFFB614CC47}" type="parTrans">
      <dgm:prSet/>
      <dgm:spPr/>
      <dgm:t>
        <a:bodyPr/>
        <a:lstStyle/>
        <a:p>
          <a:endParaRPr lang="en-US"/>
        </a:p>
      </dgm:t>
    </dgm:pt>
    <dgm:pt modelId="{DF246BFD-6F24-4581-A6F2-C912297BAD07}" cxnId="{2B9B9E49-1A96-464F-A450-DDFFB614CC47}" type="sibTrans">
      <dgm:prSet/>
      <dgm:spPr/>
      <dgm:t>
        <a:bodyPr/>
        <a:lstStyle/>
        <a:p>
          <a:endParaRPr lang="en-US"/>
        </a:p>
      </dgm:t>
    </dgm:pt>
    <dgm:pt modelId="{60A95EEF-1E5A-41F4-A18E-BBEE595EA597}">
      <dgm:prSet/>
      <dgm:spPr/>
      <dgm:t>
        <a:bodyPr/>
        <a:lstStyle/>
        <a:p>
          <a:pPr rtl="0"/>
          <a:r>
            <a:rPr lang="en-IN" smtClean="0"/>
            <a:t>Busy</a:t>
          </a:r>
          <a:endParaRPr lang="en-IN"/>
        </a:p>
      </dgm:t>
    </dgm:pt>
    <dgm:pt modelId="{4439D4F1-C77A-4234-B4E0-50FBF4D6B81A}" cxnId="{D07081D9-0274-4234-8B22-E586C5299201}" type="parTrans">
      <dgm:prSet/>
      <dgm:spPr/>
      <dgm:t>
        <a:bodyPr/>
        <a:lstStyle/>
        <a:p>
          <a:endParaRPr lang="en-US"/>
        </a:p>
      </dgm:t>
    </dgm:pt>
    <dgm:pt modelId="{368611AF-601E-41AB-8B02-6B2763ED9AD2}" cxnId="{D07081D9-0274-4234-8B22-E586C5299201}" type="sibTrans">
      <dgm:prSet/>
      <dgm:spPr/>
      <dgm:t>
        <a:bodyPr/>
        <a:lstStyle/>
        <a:p>
          <a:endParaRPr lang="en-US"/>
        </a:p>
      </dgm:t>
    </dgm:pt>
    <dgm:pt modelId="{41E4A061-6FCD-4768-BEEA-49F6C6CD4675}">
      <dgm:prSet/>
      <dgm:spPr/>
      <dgm:t>
        <a:bodyPr/>
        <a:lstStyle/>
        <a:p>
          <a:pPr rtl="0"/>
          <a:r>
            <a:rPr lang="en-IN" smtClean="0"/>
            <a:t>No-answer</a:t>
          </a:r>
          <a:br>
            <a:rPr lang="en-IN" smtClean="0"/>
          </a:br>
          <a:endParaRPr lang="en-IN"/>
        </a:p>
      </dgm:t>
    </dgm:pt>
    <dgm:pt modelId="{FD7A72AF-8FF5-40B6-9EC9-5C3064D17DFB}" cxnId="{4A9BECC3-CB10-4443-8D29-045616D02B1B}" type="parTrans">
      <dgm:prSet/>
      <dgm:spPr/>
      <dgm:t>
        <a:bodyPr/>
        <a:lstStyle/>
        <a:p>
          <a:endParaRPr lang="en-US"/>
        </a:p>
      </dgm:t>
    </dgm:pt>
    <dgm:pt modelId="{EECD31CE-A1A1-4DB2-80B9-46D2E80EEDB3}" cxnId="{4A9BECC3-CB10-4443-8D29-045616D02B1B}" type="sibTrans">
      <dgm:prSet/>
      <dgm:spPr/>
      <dgm:t>
        <a:bodyPr/>
        <a:lstStyle/>
        <a:p>
          <a:endParaRPr lang="en-US"/>
        </a:p>
      </dgm:t>
    </dgm:pt>
    <dgm:pt modelId="{C1CBE352-A126-47D0-BC02-9AC42BCC7DB9}">
      <dgm:prSet/>
      <dgm:spPr/>
      <dgm:t>
        <a:bodyPr/>
        <a:lstStyle/>
        <a:p>
          <a:pPr rtl="0"/>
          <a:r>
            <a:rPr lang="en-IN" smtClean="0"/>
            <a:t>Failed</a:t>
          </a:r>
          <a:endParaRPr lang="en-IN"/>
        </a:p>
      </dgm:t>
    </dgm:pt>
    <dgm:pt modelId="{F57E0596-5368-41FC-A3D0-2EB6C95A9D9D}" cxnId="{ED23F21B-BE79-40D4-A4ED-10A6540AA9E1}" type="parTrans">
      <dgm:prSet/>
      <dgm:spPr/>
      <dgm:t>
        <a:bodyPr/>
        <a:lstStyle/>
        <a:p>
          <a:endParaRPr lang="en-US"/>
        </a:p>
      </dgm:t>
    </dgm:pt>
    <dgm:pt modelId="{3AE23395-C59B-4295-9046-AD73B7801557}" cxnId="{ED23F21B-BE79-40D4-A4ED-10A6540AA9E1}" type="sibTrans">
      <dgm:prSet/>
      <dgm:spPr/>
      <dgm:t>
        <a:bodyPr/>
        <a:lstStyle/>
        <a:p>
          <a:endParaRPr lang="en-US"/>
        </a:p>
      </dgm:t>
    </dgm:pt>
    <dgm:pt modelId="{338A132A-1345-471B-9551-64968B7BD91D}" type="pres">
      <dgm:prSet presAssocID="{B8740EB0-47F6-425C-8646-5EB909B17179}" presName="Name0" presStyleCnt="0">
        <dgm:presLayoutVars>
          <dgm:chPref val="3"/>
          <dgm:dir/>
          <dgm:animLvl val="lvl"/>
          <dgm:resizeHandles/>
        </dgm:presLayoutVars>
      </dgm:prSet>
      <dgm:spPr/>
      <dgm:t>
        <a:bodyPr/>
        <a:lstStyle/>
        <a:p>
          <a:endParaRPr lang="en-US"/>
        </a:p>
      </dgm:t>
    </dgm:pt>
    <dgm:pt modelId="{8176B346-0C66-48C6-927B-D6E97896043D}" type="pres">
      <dgm:prSet presAssocID="{67B5FE6D-1C4D-4A45-829A-707F1DD850BE}" presName="horFlow" presStyleCnt="0"/>
      <dgm:spPr/>
    </dgm:pt>
    <dgm:pt modelId="{8D41C068-9659-47EF-B06E-5FF14955BF19}" type="pres">
      <dgm:prSet presAssocID="{67B5FE6D-1C4D-4A45-829A-707F1DD850BE}" presName="bigChev" presStyleLbl="node1" presStyleIdx="0" presStyleCnt="5"/>
      <dgm:spPr/>
      <dgm:t>
        <a:bodyPr/>
        <a:lstStyle/>
        <a:p>
          <a:endParaRPr lang="en-US"/>
        </a:p>
      </dgm:t>
    </dgm:pt>
    <dgm:pt modelId="{2AED4EC9-BDF9-434E-B233-8D61597200ED}" type="pres">
      <dgm:prSet presAssocID="{67B5FE6D-1C4D-4A45-829A-707F1DD850BE}" presName="vSp" presStyleCnt="0"/>
      <dgm:spPr/>
    </dgm:pt>
    <dgm:pt modelId="{612A3B68-3CE3-411E-B9B4-EE3181594A0F}" type="pres">
      <dgm:prSet presAssocID="{614566AF-B556-4C93-BB95-210D8057CFCE}" presName="horFlow" presStyleCnt="0"/>
      <dgm:spPr/>
    </dgm:pt>
    <dgm:pt modelId="{CAA7126D-B782-40C2-A171-D87B6D178442}" type="pres">
      <dgm:prSet presAssocID="{614566AF-B556-4C93-BB95-210D8057CFCE}" presName="bigChev" presStyleLbl="node1" presStyleIdx="1" presStyleCnt="5"/>
      <dgm:spPr/>
      <dgm:t>
        <a:bodyPr/>
        <a:lstStyle/>
        <a:p>
          <a:endParaRPr lang="en-US"/>
        </a:p>
      </dgm:t>
    </dgm:pt>
    <dgm:pt modelId="{8E43F8D2-047E-4F4A-A8C2-332D81B0C5A0}" type="pres">
      <dgm:prSet presAssocID="{614566AF-B556-4C93-BB95-210D8057CFCE}" presName="vSp" presStyleCnt="0"/>
      <dgm:spPr/>
    </dgm:pt>
    <dgm:pt modelId="{62CF8089-D105-4A96-96EC-5253335C0F1D}" type="pres">
      <dgm:prSet presAssocID="{60A95EEF-1E5A-41F4-A18E-BBEE595EA597}" presName="horFlow" presStyleCnt="0"/>
      <dgm:spPr/>
    </dgm:pt>
    <dgm:pt modelId="{89F42E42-1337-443C-B686-231461E3A15E}" type="pres">
      <dgm:prSet presAssocID="{60A95EEF-1E5A-41F4-A18E-BBEE595EA597}" presName="bigChev" presStyleLbl="node1" presStyleIdx="2" presStyleCnt="5"/>
      <dgm:spPr/>
      <dgm:t>
        <a:bodyPr/>
        <a:lstStyle/>
        <a:p>
          <a:endParaRPr lang="en-US"/>
        </a:p>
      </dgm:t>
    </dgm:pt>
    <dgm:pt modelId="{E699ABF9-C6FD-4A56-B80E-38C9530F3C6B}" type="pres">
      <dgm:prSet presAssocID="{60A95EEF-1E5A-41F4-A18E-BBEE595EA597}" presName="vSp" presStyleCnt="0"/>
      <dgm:spPr/>
    </dgm:pt>
    <dgm:pt modelId="{626C8DA6-9F21-45BC-9FFF-0A447454E8BE}" type="pres">
      <dgm:prSet presAssocID="{41E4A061-6FCD-4768-BEEA-49F6C6CD4675}" presName="horFlow" presStyleCnt="0"/>
      <dgm:spPr/>
    </dgm:pt>
    <dgm:pt modelId="{A554E7AE-E1D9-4B30-95AC-EA9A5E28A12A}" type="pres">
      <dgm:prSet presAssocID="{41E4A061-6FCD-4768-BEEA-49F6C6CD4675}" presName="bigChev" presStyleLbl="node1" presStyleIdx="3" presStyleCnt="5"/>
      <dgm:spPr/>
      <dgm:t>
        <a:bodyPr/>
        <a:lstStyle/>
        <a:p>
          <a:endParaRPr lang="en-US"/>
        </a:p>
      </dgm:t>
    </dgm:pt>
    <dgm:pt modelId="{1136D9F4-2D73-4D43-8A7E-2BB17A210484}" type="pres">
      <dgm:prSet presAssocID="{41E4A061-6FCD-4768-BEEA-49F6C6CD4675}" presName="vSp" presStyleCnt="0"/>
      <dgm:spPr/>
    </dgm:pt>
    <dgm:pt modelId="{E7ED2F0A-B137-4295-A711-3F808999D5E1}" type="pres">
      <dgm:prSet presAssocID="{C1CBE352-A126-47D0-BC02-9AC42BCC7DB9}" presName="horFlow" presStyleCnt="0"/>
      <dgm:spPr/>
    </dgm:pt>
    <dgm:pt modelId="{A9D489D9-A3AC-4AF4-B6B7-29743D3977EF}" type="pres">
      <dgm:prSet presAssocID="{C1CBE352-A126-47D0-BC02-9AC42BCC7DB9}" presName="bigChev" presStyleLbl="node1" presStyleIdx="4" presStyleCnt="5"/>
      <dgm:spPr/>
      <dgm:t>
        <a:bodyPr/>
        <a:lstStyle/>
        <a:p>
          <a:endParaRPr lang="en-US"/>
        </a:p>
      </dgm:t>
    </dgm:pt>
  </dgm:ptLst>
  <dgm:cxnLst>
    <dgm:cxn modelId="{ED3EA1A4-9F37-43C7-80E9-FE478E6E1F68}" type="presOf" srcId="{60A95EEF-1E5A-41F4-A18E-BBEE595EA597}" destId="{89F42E42-1337-443C-B686-231461E3A15E}" srcOrd="0" destOrd="0" presId="urn:microsoft.com/office/officeart/2005/8/layout/lProcess3"/>
    <dgm:cxn modelId="{4A9BECC3-CB10-4443-8D29-045616D02B1B}" srcId="{B8740EB0-47F6-425C-8646-5EB909B17179}" destId="{41E4A061-6FCD-4768-BEEA-49F6C6CD4675}" srcOrd="3" destOrd="0" parTransId="{FD7A72AF-8FF5-40B6-9EC9-5C3064D17DFB}" sibTransId="{EECD31CE-A1A1-4DB2-80B9-46D2E80EEDB3}"/>
    <dgm:cxn modelId="{7042AA25-FF54-47B2-B0F0-E812611AAB11}" type="presOf" srcId="{C1CBE352-A126-47D0-BC02-9AC42BCC7DB9}" destId="{A9D489D9-A3AC-4AF4-B6B7-29743D3977EF}" srcOrd="0" destOrd="0" presId="urn:microsoft.com/office/officeart/2005/8/layout/lProcess3"/>
    <dgm:cxn modelId="{942C1D0C-E5C1-4B3D-997D-757EE79FE97B}" type="presOf" srcId="{41E4A061-6FCD-4768-BEEA-49F6C6CD4675}" destId="{A554E7AE-E1D9-4B30-95AC-EA9A5E28A12A}" srcOrd="0" destOrd="0" presId="urn:microsoft.com/office/officeart/2005/8/layout/lProcess3"/>
    <dgm:cxn modelId="{ED23F21B-BE79-40D4-A4ED-10A6540AA9E1}" srcId="{B8740EB0-47F6-425C-8646-5EB909B17179}" destId="{C1CBE352-A126-47D0-BC02-9AC42BCC7DB9}" srcOrd="4" destOrd="0" parTransId="{F57E0596-5368-41FC-A3D0-2EB6C95A9D9D}" sibTransId="{3AE23395-C59B-4295-9046-AD73B7801557}"/>
    <dgm:cxn modelId="{03D5797E-ADA9-4F82-AA69-249C73D4291D}" type="presOf" srcId="{B8740EB0-47F6-425C-8646-5EB909B17179}" destId="{338A132A-1345-471B-9551-64968B7BD91D}" srcOrd="0" destOrd="0" presId="urn:microsoft.com/office/officeart/2005/8/layout/lProcess3"/>
    <dgm:cxn modelId="{692A0A72-F865-4BF5-9AFA-9E422BB72D3A}" type="presOf" srcId="{614566AF-B556-4C93-BB95-210D8057CFCE}" destId="{CAA7126D-B782-40C2-A171-D87B6D178442}" srcOrd="0" destOrd="0" presId="urn:microsoft.com/office/officeart/2005/8/layout/lProcess3"/>
    <dgm:cxn modelId="{B9D3706F-469F-4F40-B36B-6F8E5E737013}" type="presOf" srcId="{67B5FE6D-1C4D-4A45-829A-707F1DD850BE}" destId="{8D41C068-9659-47EF-B06E-5FF14955BF19}" srcOrd="0" destOrd="0" presId="urn:microsoft.com/office/officeart/2005/8/layout/lProcess3"/>
    <dgm:cxn modelId="{D07081D9-0274-4234-8B22-E586C5299201}" srcId="{B8740EB0-47F6-425C-8646-5EB909B17179}" destId="{60A95EEF-1E5A-41F4-A18E-BBEE595EA597}" srcOrd="2" destOrd="0" parTransId="{4439D4F1-C77A-4234-B4E0-50FBF4D6B81A}" sibTransId="{368611AF-601E-41AB-8B02-6B2763ED9AD2}"/>
    <dgm:cxn modelId="{2B9B9E49-1A96-464F-A450-DDFFB614CC47}" srcId="{B8740EB0-47F6-425C-8646-5EB909B17179}" destId="{614566AF-B556-4C93-BB95-210D8057CFCE}" srcOrd="1" destOrd="0" parTransId="{97FBD9B6-97E3-47FA-B161-24C6C0FA04CA}" sibTransId="{DF246BFD-6F24-4581-A6F2-C912297BAD07}"/>
    <dgm:cxn modelId="{7EEB6488-C1AC-47E5-B5CF-024B30091ECC}" srcId="{B8740EB0-47F6-425C-8646-5EB909B17179}" destId="{67B5FE6D-1C4D-4A45-829A-707F1DD850BE}" srcOrd="0" destOrd="0" parTransId="{54AD5D86-3590-4B58-92AD-F2EE9B926119}" sibTransId="{92F15341-895C-42AE-8F85-433D7DD3DB5B}"/>
    <dgm:cxn modelId="{7FF6D567-71D9-44A2-9E15-25EFA60F9C1D}" type="presParOf" srcId="{338A132A-1345-471B-9551-64968B7BD91D}" destId="{8176B346-0C66-48C6-927B-D6E97896043D}" srcOrd="0" destOrd="0" presId="urn:microsoft.com/office/officeart/2005/8/layout/lProcess3"/>
    <dgm:cxn modelId="{50A18B38-D824-4FBD-8E7F-A06840612D13}" type="presParOf" srcId="{8176B346-0C66-48C6-927B-D6E97896043D}" destId="{8D41C068-9659-47EF-B06E-5FF14955BF19}" srcOrd="0" destOrd="0" presId="urn:microsoft.com/office/officeart/2005/8/layout/lProcess3"/>
    <dgm:cxn modelId="{72E5F4AB-D282-4BDB-8F6C-01833FFE2C6B}" type="presParOf" srcId="{338A132A-1345-471B-9551-64968B7BD91D}" destId="{2AED4EC9-BDF9-434E-B233-8D61597200ED}" srcOrd="1" destOrd="0" presId="urn:microsoft.com/office/officeart/2005/8/layout/lProcess3"/>
    <dgm:cxn modelId="{49C7EB93-90D7-40BE-B9AF-1753473185B5}" type="presParOf" srcId="{338A132A-1345-471B-9551-64968B7BD91D}" destId="{612A3B68-3CE3-411E-B9B4-EE3181594A0F}" srcOrd="2" destOrd="0" presId="urn:microsoft.com/office/officeart/2005/8/layout/lProcess3"/>
    <dgm:cxn modelId="{BD9A5D51-7C55-46DA-AD6C-9D946692F225}" type="presParOf" srcId="{612A3B68-3CE3-411E-B9B4-EE3181594A0F}" destId="{CAA7126D-B782-40C2-A171-D87B6D178442}" srcOrd="0" destOrd="0" presId="urn:microsoft.com/office/officeart/2005/8/layout/lProcess3"/>
    <dgm:cxn modelId="{63F4C396-9239-4077-9BC1-129A0704A7DB}" type="presParOf" srcId="{338A132A-1345-471B-9551-64968B7BD91D}" destId="{8E43F8D2-047E-4F4A-A8C2-332D81B0C5A0}" srcOrd="3" destOrd="0" presId="urn:microsoft.com/office/officeart/2005/8/layout/lProcess3"/>
    <dgm:cxn modelId="{5D9B73B5-A56F-4CD1-BC2E-9A5DEDFF593B}" type="presParOf" srcId="{338A132A-1345-471B-9551-64968B7BD91D}" destId="{62CF8089-D105-4A96-96EC-5253335C0F1D}" srcOrd="4" destOrd="0" presId="urn:microsoft.com/office/officeart/2005/8/layout/lProcess3"/>
    <dgm:cxn modelId="{5FE92427-8648-4707-861F-FEA5AF3216EB}" type="presParOf" srcId="{62CF8089-D105-4A96-96EC-5253335C0F1D}" destId="{89F42E42-1337-443C-B686-231461E3A15E}" srcOrd="0" destOrd="0" presId="urn:microsoft.com/office/officeart/2005/8/layout/lProcess3"/>
    <dgm:cxn modelId="{A75CAA2B-DFF0-40AF-ABBF-F7E41EDE7624}" type="presParOf" srcId="{338A132A-1345-471B-9551-64968B7BD91D}" destId="{E699ABF9-C6FD-4A56-B80E-38C9530F3C6B}" srcOrd="5" destOrd="0" presId="urn:microsoft.com/office/officeart/2005/8/layout/lProcess3"/>
    <dgm:cxn modelId="{2B808415-5951-49E9-AF0E-EE48380EE045}" type="presParOf" srcId="{338A132A-1345-471B-9551-64968B7BD91D}" destId="{626C8DA6-9F21-45BC-9FFF-0A447454E8BE}" srcOrd="6" destOrd="0" presId="urn:microsoft.com/office/officeart/2005/8/layout/lProcess3"/>
    <dgm:cxn modelId="{72921518-053F-41C6-BAC1-B61553FBF216}" type="presParOf" srcId="{626C8DA6-9F21-45BC-9FFF-0A447454E8BE}" destId="{A554E7AE-E1D9-4B30-95AC-EA9A5E28A12A}" srcOrd="0" destOrd="0" presId="urn:microsoft.com/office/officeart/2005/8/layout/lProcess3"/>
    <dgm:cxn modelId="{C2400315-F936-4150-9B4F-BA390CE43BE5}" type="presParOf" srcId="{338A132A-1345-471B-9551-64968B7BD91D}" destId="{1136D9F4-2D73-4D43-8A7E-2BB17A210484}" srcOrd="7" destOrd="0" presId="urn:microsoft.com/office/officeart/2005/8/layout/lProcess3"/>
    <dgm:cxn modelId="{DFEC8E80-BDB7-46F1-AAFB-C224B79FADDA}" type="presParOf" srcId="{338A132A-1345-471B-9551-64968B7BD91D}" destId="{E7ED2F0A-B137-4295-A711-3F808999D5E1}" srcOrd="8" destOrd="0" presId="urn:microsoft.com/office/officeart/2005/8/layout/lProcess3"/>
    <dgm:cxn modelId="{4B3B533A-85B8-48AF-B4F7-403C53BE3CDE}" type="presParOf" srcId="{E7ED2F0A-B137-4295-A711-3F808999D5E1}" destId="{A9D489D9-A3AC-4AF4-B6B7-29743D3977EF}" srcOrd="0" destOrd="0" presId="urn:microsoft.com/office/officeart/2005/8/layout/lProcess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8740EB0-47F6-425C-8646-5EB909B17179}" type="doc">
      <dgm:prSet loTypeId="urn:microsoft.com/office/officeart/2005/8/layout/lProcess3" loCatId="process" qsTypeId="urn:microsoft.com/office/officeart/2005/8/quickstyle/3d1" qsCatId="3D" csTypeId="urn:microsoft.com/office/officeart/2005/8/colors/accent1_2" csCatId="accent1" phldr="1"/>
      <dgm:spPr/>
      <dgm:t>
        <a:bodyPr/>
        <a:lstStyle/>
        <a:p>
          <a:endParaRPr lang="en-US"/>
        </a:p>
      </dgm:t>
    </dgm:pt>
    <dgm:pt modelId="{67B5FE6D-1C4D-4A45-829A-707F1DD850BE}">
      <dgm:prSet/>
      <dgm:spPr/>
      <dgm:t>
        <a:bodyPr/>
        <a:lstStyle/>
        <a:p>
          <a:pPr rtl="0"/>
          <a:r>
            <a:rPr lang="en-IN" dirty="0" smtClean="0"/>
            <a:t>Complete</a:t>
          </a:r>
          <a:br>
            <a:rPr lang="en-IN" dirty="0" smtClean="0"/>
          </a:br>
          <a:endParaRPr lang="en-IN" dirty="0"/>
        </a:p>
      </dgm:t>
    </dgm:pt>
    <dgm:pt modelId="{54AD5D86-3590-4B58-92AD-F2EE9B926119}" cxnId="{7EEB6488-C1AC-47E5-B5CF-024B30091ECC}" type="parTrans">
      <dgm:prSet/>
      <dgm:spPr/>
      <dgm:t>
        <a:bodyPr/>
        <a:lstStyle/>
        <a:p>
          <a:endParaRPr lang="en-US"/>
        </a:p>
      </dgm:t>
    </dgm:pt>
    <dgm:pt modelId="{92F15341-895C-42AE-8F85-433D7DD3DB5B}" cxnId="{7EEB6488-C1AC-47E5-B5CF-024B30091ECC}" type="sibTrans">
      <dgm:prSet/>
      <dgm:spPr/>
      <dgm:t>
        <a:bodyPr/>
        <a:lstStyle/>
        <a:p>
          <a:endParaRPr lang="en-US"/>
        </a:p>
      </dgm:t>
    </dgm:pt>
    <dgm:pt modelId="{614566AF-B556-4C93-BB95-210D8057CFCE}">
      <dgm:prSet/>
      <dgm:spPr/>
      <dgm:t>
        <a:bodyPr/>
        <a:lstStyle/>
        <a:p>
          <a:pPr rtl="0"/>
          <a:r>
            <a:rPr lang="en-IN" smtClean="0"/>
            <a:t>Incomplete</a:t>
          </a:r>
          <a:endParaRPr lang="en-IN"/>
        </a:p>
      </dgm:t>
    </dgm:pt>
    <dgm:pt modelId="{97FBD9B6-97E3-47FA-B161-24C6C0FA04CA}" cxnId="{2B9B9E49-1A96-464F-A450-DDFFB614CC47}" type="parTrans">
      <dgm:prSet/>
      <dgm:spPr/>
      <dgm:t>
        <a:bodyPr/>
        <a:lstStyle/>
        <a:p>
          <a:endParaRPr lang="en-US"/>
        </a:p>
      </dgm:t>
    </dgm:pt>
    <dgm:pt modelId="{DF246BFD-6F24-4581-A6F2-C912297BAD07}" cxnId="{2B9B9E49-1A96-464F-A450-DDFFB614CC47}" type="sibTrans">
      <dgm:prSet/>
      <dgm:spPr/>
      <dgm:t>
        <a:bodyPr/>
        <a:lstStyle/>
        <a:p>
          <a:endParaRPr lang="en-US"/>
        </a:p>
      </dgm:t>
    </dgm:pt>
    <dgm:pt modelId="{60A95EEF-1E5A-41F4-A18E-BBEE595EA597}">
      <dgm:prSet/>
      <dgm:spPr/>
      <dgm:t>
        <a:bodyPr/>
        <a:lstStyle/>
        <a:p>
          <a:pPr rtl="0"/>
          <a:r>
            <a:rPr lang="en-IN" dirty="0" smtClean="0"/>
            <a:t>Failed</a:t>
          </a:r>
          <a:endParaRPr lang="en-IN" dirty="0"/>
        </a:p>
      </dgm:t>
    </dgm:pt>
    <dgm:pt modelId="{4439D4F1-C77A-4234-B4E0-50FBF4D6B81A}" cxnId="{D07081D9-0274-4234-8B22-E586C5299201}" type="parTrans">
      <dgm:prSet/>
      <dgm:spPr/>
      <dgm:t>
        <a:bodyPr/>
        <a:lstStyle/>
        <a:p>
          <a:endParaRPr lang="en-US"/>
        </a:p>
      </dgm:t>
    </dgm:pt>
    <dgm:pt modelId="{368611AF-601E-41AB-8B02-6B2763ED9AD2}" cxnId="{D07081D9-0274-4234-8B22-E586C5299201}" type="sibTrans">
      <dgm:prSet/>
      <dgm:spPr/>
      <dgm:t>
        <a:bodyPr/>
        <a:lstStyle/>
        <a:p>
          <a:endParaRPr lang="en-US"/>
        </a:p>
      </dgm:t>
    </dgm:pt>
    <dgm:pt modelId="{41E4A061-6FCD-4768-BEEA-49F6C6CD4675}">
      <dgm:prSet/>
      <dgm:spPr/>
      <dgm:t>
        <a:bodyPr/>
        <a:lstStyle/>
        <a:p>
          <a:pPr rtl="0"/>
          <a:r>
            <a:rPr lang="en-IN" dirty="0" smtClean="0"/>
            <a:t>Pending</a:t>
          </a:r>
          <a:endParaRPr lang="en-IN" dirty="0"/>
        </a:p>
      </dgm:t>
    </dgm:pt>
    <dgm:pt modelId="{FD7A72AF-8FF5-40B6-9EC9-5C3064D17DFB}" cxnId="{4A9BECC3-CB10-4443-8D29-045616D02B1B}" type="parTrans">
      <dgm:prSet/>
      <dgm:spPr/>
      <dgm:t>
        <a:bodyPr/>
        <a:lstStyle/>
        <a:p>
          <a:endParaRPr lang="en-US"/>
        </a:p>
      </dgm:t>
    </dgm:pt>
    <dgm:pt modelId="{EECD31CE-A1A1-4DB2-80B9-46D2E80EEDB3}" cxnId="{4A9BECC3-CB10-4443-8D29-045616D02B1B}" type="sibTrans">
      <dgm:prSet/>
      <dgm:spPr/>
      <dgm:t>
        <a:bodyPr/>
        <a:lstStyle/>
        <a:p>
          <a:endParaRPr lang="en-US"/>
        </a:p>
      </dgm:t>
    </dgm:pt>
    <dgm:pt modelId="{C1CBE352-A126-47D0-BC02-9AC42BCC7DB9}">
      <dgm:prSet/>
      <dgm:spPr/>
      <dgm:t>
        <a:bodyPr/>
        <a:lstStyle/>
        <a:p>
          <a:pPr rtl="0"/>
          <a:r>
            <a:rPr lang="en-IN" dirty="0" smtClean="0"/>
            <a:t>Started</a:t>
          </a:r>
          <a:endParaRPr lang="en-IN" dirty="0"/>
        </a:p>
      </dgm:t>
    </dgm:pt>
    <dgm:pt modelId="{F57E0596-5368-41FC-A3D0-2EB6C95A9D9D}" cxnId="{ED23F21B-BE79-40D4-A4ED-10A6540AA9E1}" type="parTrans">
      <dgm:prSet/>
      <dgm:spPr/>
      <dgm:t>
        <a:bodyPr/>
        <a:lstStyle/>
        <a:p>
          <a:endParaRPr lang="en-US"/>
        </a:p>
      </dgm:t>
    </dgm:pt>
    <dgm:pt modelId="{3AE23395-C59B-4295-9046-AD73B7801557}" cxnId="{ED23F21B-BE79-40D4-A4ED-10A6540AA9E1}" type="sibTrans">
      <dgm:prSet/>
      <dgm:spPr/>
      <dgm:t>
        <a:bodyPr/>
        <a:lstStyle/>
        <a:p>
          <a:endParaRPr lang="en-US"/>
        </a:p>
      </dgm:t>
    </dgm:pt>
    <dgm:pt modelId="{338A132A-1345-471B-9551-64968B7BD91D}" type="pres">
      <dgm:prSet presAssocID="{B8740EB0-47F6-425C-8646-5EB909B17179}" presName="Name0" presStyleCnt="0">
        <dgm:presLayoutVars>
          <dgm:chPref val="3"/>
          <dgm:dir/>
          <dgm:animLvl val="lvl"/>
          <dgm:resizeHandles/>
        </dgm:presLayoutVars>
      </dgm:prSet>
      <dgm:spPr/>
      <dgm:t>
        <a:bodyPr/>
        <a:lstStyle/>
        <a:p>
          <a:endParaRPr lang="en-US"/>
        </a:p>
      </dgm:t>
    </dgm:pt>
    <dgm:pt modelId="{8176B346-0C66-48C6-927B-D6E97896043D}" type="pres">
      <dgm:prSet presAssocID="{67B5FE6D-1C4D-4A45-829A-707F1DD850BE}" presName="horFlow" presStyleCnt="0"/>
      <dgm:spPr/>
    </dgm:pt>
    <dgm:pt modelId="{8D41C068-9659-47EF-B06E-5FF14955BF19}" type="pres">
      <dgm:prSet presAssocID="{67B5FE6D-1C4D-4A45-829A-707F1DD850BE}" presName="bigChev" presStyleLbl="node1" presStyleIdx="0" presStyleCnt="5"/>
      <dgm:spPr/>
      <dgm:t>
        <a:bodyPr/>
        <a:lstStyle/>
        <a:p>
          <a:endParaRPr lang="en-US"/>
        </a:p>
      </dgm:t>
    </dgm:pt>
    <dgm:pt modelId="{2AED4EC9-BDF9-434E-B233-8D61597200ED}" type="pres">
      <dgm:prSet presAssocID="{67B5FE6D-1C4D-4A45-829A-707F1DD850BE}" presName="vSp" presStyleCnt="0"/>
      <dgm:spPr/>
    </dgm:pt>
    <dgm:pt modelId="{612A3B68-3CE3-411E-B9B4-EE3181594A0F}" type="pres">
      <dgm:prSet presAssocID="{614566AF-B556-4C93-BB95-210D8057CFCE}" presName="horFlow" presStyleCnt="0"/>
      <dgm:spPr/>
    </dgm:pt>
    <dgm:pt modelId="{CAA7126D-B782-40C2-A171-D87B6D178442}" type="pres">
      <dgm:prSet presAssocID="{614566AF-B556-4C93-BB95-210D8057CFCE}" presName="bigChev" presStyleLbl="node1" presStyleIdx="1" presStyleCnt="5"/>
      <dgm:spPr/>
      <dgm:t>
        <a:bodyPr/>
        <a:lstStyle/>
        <a:p>
          <a:endParaRPr lang="en-US"/>
        </a:p>
      </dgm:t>
    </dgm:pt>
    <dgm:pt modelId="{8E43F8D2-047E-4F4A-A8C2-332D81B0C5A0}" type="pres">
      <dgm:prSet presAssocID="{614566AF-B556-4C93-BB95-210D8057CFCE}" presName="vSp" presStyleCnt="0"/>
      <dgm:spPr/>
    </dgm:pt>
    <dgm:pt modelId="{62CF8089-D105-4A96-96EC-5253335C0F1D}" type="pres">
      <dgm:prSet presAssocID="{60A95EEF-1E5A-41F4-A18E-BBEE595EA597}" presName="horFlow" presStyleCnt="0"/>
      <dgm:spPr/>
    </dgm:pt>
    <dgm:pt modelId="{89F42E42-1337-443C-B686-231461E3A15E}" type="pres">
      <dgm:prSet presAssocID="{60A95EEF-1E5A-41F4-A18E-BBEE595EA597}" presName="bigChev" presStyleLbl="node1" presStyleIdx="2" presStyleCnt="5"/>
      <dgm:spPr/>
      <dgm:t>
        <a:bodyPr/>
        <a:lstStyle/>
        <a:p>
          <a:endParaRPr lang="en-US"/>
        </a:p>
      </dgm:t>
    </dgm:pt>
    <dgm:pt modelId="{E699ABF9-C6FD-4A56-B80E-38C9530F3C6B}" type="pres">
      <dgm:prSet presAssocID="{60A95EEF-1E5A-41F4-A18E-BBEE595EA597}" presName="vSp" presStyleCnt="0"/>
      <dgm:spPr/>
    </dgm:pt>
    <dgm:pt modelId="{626C8DA6-9F21-45BC-9FFF-0A447454E8BE}" type="pres">
      <dgm:prSet presAssocID="{41E4A061-6FCD-4768-BEEA-49F6C6CD4675}" presName="horFlow" presStyleCnt="0"/>
      <dgm:spPr/>
    </dgm:pt>
    <dgm:pt modelId="{A554E7AE-E1D9-4B30-95AC-EA9A5E28A12A}" type="pres">
      <dgm:prSet presAssocID="{41E4A061-6FCD-4768-BEEA-49F6C6CD4675}" presName="bigChev" presStyleLbl="node1" presStyleIdx="3" presStyleCnt="5"/>
      <dgm:spPr/>
      <dgm:t>
        <a:bodyPr/>
        <a:lstStyle/>
        <a:p>
          <a:endParaRPr lang="en-US"/>
        </a:p>
      </dgm:t>
    </dgm:pt>
    <dgm:pt modelId="{1136D9F4-2D73-4D43-8A7E-2BB17A210484}" type="pres">
      <dgm:prSet presAssocID="{41E4A061-6FCD-4768-BEEA-49F6C6CD4675}" presName="vSp" presStyleCnt="0"/>
      <dgm:spPr/>
    </dgm:pt>
    <dgm:pt modelId="{E7ED2F0A-B137-4295-A711-3F808999D5E1}" type="pres">
      <dgm:prSet presAssocID="{C1CBE352-A126-47D0-BC02-9AC42BCC7DB9}" presName="horFlow" presStyleCnt="0"/>
      <dgm:spPr/>
    </dgm:pt>
    <dgm:pt modelId="{A9D489D9-A3AC-4AF4-B6B7-29743D3977EF}" type="pres">
      <dgm:prSet presAssocID="{C1CBE352-A126-47D0-BC02-9AC42BCC7DB9}" presName="bigChev" presStyleLbl="node1" presStyleIdx="4" presStyleCnt="5"/>
      <dgm:spPr/>
      <dgm:t>
        <a:bodyPr/>
        <a:lstStyle/>
        <a:p>
          <a:endParaRPr lang="en-US"/>
        </a:p>
      </dgm:t>
    </dgm:pt>
  </dgm:ptLst>
  <dgm:cxnLst>
    <dgm:cxn modelId="{ED3EA1A4-9F37-43C7-80E9-FE478E6E1F68}" type="presOf" srcId="{60A95EEF-1E5A-41F4-A18E-BBEE595EA597}" destId="{89F42E42-1337-443C-B686-231461E3A15E}" srcOrd="0" destOrd="0" presId="urn:microsoft.com/office/officeart/2005/8/layout/lProcess3"/>
    <dgm:cxn modelId="{4A9BECC3-CB10-4443-8D29-045616D02B1B}" srcId="{B8740EB0-47F6-425C-8646-5EB909B17179}" destId="{41E4A061-6FCD-4768-BEEA-49F6C6CD4675}" srcOrd="3" destOrd="0" parTransId="{FD7A72AF-8FF5-40B6-9EC9-5C3064D17DFB}" sibTransId="{EECD31CE-A1A1-4DB2-80B9-46D2E80EEDB3}"/>
    <dgm:cxn modelId="{7042AA25-FF54-47B2-B0F0-E812611AAB11}" type="presOf" srcId="{C1CBE352-A126-47D0-BC02-9AC42BCC7DB9}" destId="{A9D489D9-A3AC-4AF4-B6B7-29743D3977EF}" srcOrd="0" destOrd="0" presId="urn:microsoft.com/office/officeart/2005/8/layout/lProcess3"/>
    <dgm:cxn modelId="{942C1D0C-E5C1-4B3D-997D-757EE79FE97B}" type="presOf" srcId="{41E4A061-6FCD-4768-BEEA-49F6C6CD4675}" destId="{A554E7AE-E1D9-4B30-95AC-EA9A5E28A12A}" srcOrd="0" destOrd="0" presId="urn:microsoft.com/office/officeart/2005/8/layout/lProcess3"/>
    <dgm:cxn modelId="{ED23F21B-BE79-40D4-A4ED-10A6540AA9E1}" srcId="{B8740EB0-47F6-425C-8646-5EB909B17179}" destId="{C1CBE352-A126-47D0-BC02-9AC42BCC7DB9}" srcOrd="4" destOrd="0" parTransId="{F57E0596-5368-41FC-A3D0-2EB6C95A9D9D}" sibTransId="{3AE23395-C59B-4295-9046-AD73B7801557}"/>
    <dgm:cxn modelId="{03D5797E-ADA9-4F82-AA69-249C73D4291D}" type="presOf" srcId="{B8740EB0-47F6-425C-8646-5EB909B17179}" destId="{338A132A-1345-471B-9551-64968B7BD91D}" srcOrd="0" destOrd="0" presId="urn:microsoft.com/office/officeart/2005/8/layout/lProcess3"/>
    <dgm:cxn modelId="{692A0A72-F865-4BF5-9AFA-9E422BB72D3A}" type="presOf" srcId="{614566AF-B556-4C93-BB95-210D8057CFCE}" destId="{CAA7126D-B782-40C2-A171-D87B6D178442}" srcOrd="0" destOrd="0" presId="urn:microsoft.com/office/officeart/2005/8/layout/lProcess3"/>
    <dgm:cxn modelId="{B9D3706F-469F-4F40-B36B-6F8E5E737013}" type="presOf" srcId="{67B5FE6D-1C4D-4A45-829A-707F1DD850BE}" destId="{8D41C068-9659-47EF-B06E-5FF14955BF19}" srcOrd="0" destOrd="0" presId="urn:microsoft.com/office/officeart/2005/8/layout/lProcess3"/>
    <dgm:cxn modelId="{D07081D9-0274-4234-8B22-E586C5299201}" srcId="{B8740EB0-47F6-425C-8646-5EB909B17179}" destId="{60A95EEF-1E5A-41F4-A18E-BBEE595EA597}" srcOrd="2" destOrd="0" parTransId="{4439D4F1-C77A-4234-B4E0-50FBF4D6B81A}" sibTransId="{368611AF-601E-41AB-8B02-6B2763ED9AD2}"/>
    <dgm:cxn modelId="{2B9B9E49-1A96-464F-A450-DDFFB614CC47}" srcId="{B8740EB0-47F6-425C-8646-5EB909B17179}" destId="{614566AF-B556-4C93-BB95-210D8057CFCE}" srcOrd="1" destOrd="0" parTransId="{97FBD9B6-97E3-47FA-B161-24C6C0FA04CA}" sibTransId="{DF246BFD-6F24-4581-A6F2-C912297BAD07}"/>
    <dgm:cxn modelId="{7EEB6488-C1AC-47E5-B5CF-024B30091ECC}" srcId="{B8740EB0-47F6-425C-8646-5EB909B17179}" destId="{67B5FE6D-1C4D-4A45-829A-707F1DD850BE}" srcOrd="0" destOrd="0" parTransId="{54AD5D86-3590-4B58-92AD-F2EE9B926119}" sibTransId="{92F15341-895C-42AE-8F85-433D7DD3DB5B}"/>
    <dgm:cxn modelId="{7FF6D567-71D9-44A2-9E15-25EFA60F9C1D}" type="presParOf" srcId="{338A132A-1345-471B-9551-64968B7BD91D}" destId="{8176B346-0C66-48C6-927B-D6E97896043D}" srcOrd="0" destOrd="0" presId="urn:microsoft.com/office/officeart/2005/8/layout/lProcess3"/>
    <dgm:cxn modelId="{50A18B38-D824-4FBD-8E7F-A06840612D13}" type="presParOf" srcId="{8176B346-0C66-48C6-927B-D6E97896043D}" destId="{8D41C068-9659-47EF-B06E-5FF14955BF19}" srcOrd="0" destOrd="0" presId="urn:microsoft.com/office/officeart/2005/8/layout/lProcess3"/>
    <dgm:cxn modelId="{72E5F4AB-D282-4BDB-8F6C-01833FFE2C6B}" type="presParOf" srcId="{338A132A-1345-471B-9551-64968B7BD91D}" destId="{2AED4EC9-BDF9-434E-B233-8D61597200ED}" srcOrd="1" destOrd="0" presId="urn:microsoft.com/office/officeart/2005/8/layout/lProcess3"/>
    <dgm:cxn modelId="{49C7EB93-90D7-40BE-B9AF-1753473185B5}" type="presParOf" srcId="{338A132A-1345-471B-9551-64968B7BD91D}" destId="{612A3B68-3CE3-411E-B9B4-EE3181594A0F}" srcOrd="2" destOrd="0" presId="urn:microsoft.com/office/officeart/2005/8/layout/lProcess3"/>
    <dgm:cxn modelId="{BD9A5D51-7C55-46DA-AD6C-9D946692F225}" type="presParOf" srcId="{612A3B68-3CE3-411E-B9B4-EE3181594A0F}" destId="{CAA7126D-B782-40C2-A171-D87B6D178442}" srcOrd="0" destOrd="0" presId="urn:microsoft.com/office/officeart/2005/8/layout/lProcess3"/>
    <dgm:cxn modelId="{63F4C396-9239-4077-9BC1-129A0704A7DB}" type="presParOf" srcId="{338A132A-1345-471B-9551-64968B7BD91D}" destId="{8E43F8D2-047E-4F4A-A8C2-332D81B0C5A0}" srcOrd="3" destOrd="0" presId="urn:microsoft.com/office/officeart/2005/8/layout/lProcess3"/>
    <dgm:cxn modelId="{5D9B73B5-A56F-4CD1-BC2E-9A5DEDFF593B}" type="presParOf" srcId="{338A132A-1345-471B-9551-64968B7BD91D}" destId="{62CF8089-D105-4A96-96EC-5253335C0F1D}" srcOrd="4" destOrd="0" presId="urn:microsoft.com/office/officeart/2005/8/layout/lProcess3"/>
    <dgm:cxn modelId="{5FE92427-8648-4707-861F-FEA5AF3216EB}" type="presParOf" srcId="{62CF8089-D105-4A96-96EC-5253335C0F1D}" destId="{89F42E42-1337-443C-B686-231461E3A15E}" srcOrd="0" destOrd="0" presId="urn:microsoft.com/office/officeart/2005/8/layout/lProcess3"/>
    <dgm:cxn modelId="{A75CAA2B-DFF0-40AF-ABBF-F7E41EDE7624}" type="presParOf" srcId="{338A132A-1345-471B-9551-64968B7BD91D}" destId="{E699ABF9-C6FD-4A56-B80E-38C9530F3C6B}" srcOrd="5" destOrd="0" presId="urn:microsoft.com/office/officeart/2005/8/layout/lProcess3"/>
    <dgm:cxn modelId="{2B808415-5951-49E9-AF0E-EE48380EE045}" type="presParOf" srcId="{338A132A-1345-471B-9551-64968B7BD91D}" destId="{626C8DA6-9F21-45BC-9FFF-0A447454E8BE}" srcOrd="6" destOrd="0" presId="urn:microsoft.com/office/officeart/2005/8/layout/lProcess3"/>
    <dgm:cxn modelId="{72921518-053F-41C6-BAC1-B61553FBF216}" type="presParOf" srcId="{626C8DA6-9F21-45BC-9FFF-0A447454E8BE}" destId="{A554E7AE-E1D9-4B30-95AC-EA9A5E28A12A}" srcOrd="0" destOrd="0" presId="urn:microsoft.com/office/officeart/2005/8/layout/lProcess3"/>
    <dgm:cxn modelId="{C2400315-F936-4150-9B4F-BA390CE43BE5}" type="presParOf" srcId="{338A132A-1345-471B-9551-64968B7BD91D}" destId="{1136D9F4-2D73-4D43-8A7E-2BB17A210484}" srcOrd="7" destOrd="0" presId="urn:microsoft.com/office/officeart/2005/8/layout/lProcess3"/>
    <dgm:cxn modelId="{DFEC8E80-BDB7-46F1-AAFB-C224B79FADDA}" type="presParOf" srcId="{338A132A-1345-471B-9551-64968B7BD91D}" destId="{E7ED2F0A-B137-4295-A711-3F808999D5E1}" srcOrd="8" destOrd="0" presId="urn:microsoft.com/office/officeart/2005/8/layout/lProcess3"/>
    <dgm:cxn modelId="{4B3B533A-85B8-48AF-B4F7-403C53BE3CDE}" type="presParOf" srcId="{E7ED2F0A-B137-4295-A711-3F808999D5E1}" destId="{A9D489D9-A3AC-4AF4-B6B7-29743D3977EF}" srcOrd="0" destOrd="0" presId="urn:microsoft.com/office/officeart/2005/8/layout/l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3957851" cy="3114695"/>
        <a:chOff x="0" y="0"/>
        <a:chExt cx="3957851" cy="3114695"/>
      </a:xfrm>
    </dsp:grpSpPr>
    <dsp:sp modelId="{ADB78435-AA70-4539-9D7A-89601F7B90A2}">
      <dsp:nvSpPr>
        <dsp:cNvPr id="3" name="Rounded Rectangle 2"/>
        <dsp:cNvSpPr/>
      </dsp:nvSpPr>
      <dsp:spPr bwMode="white">
        <a:xfrm>
          <a:off x="0" y="742960"/>
          <a:ext cx="1649105" cy="1628775"/>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68580" tIns="68580" rIns="68580" bIns="6858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rtl="0">
            <a:lnSpc>
              <a:spcPct val="100000"/>
            </a:lnSpc>
            <a:spcBef>
              <a:spcPct val="0"/>
            </a:spcBef>
            <a:spcAft>
              <a:spcPct val="35000"/>
            </a:spcAft>
          </a:pPr>
          <a:r>
            <a:rPr lang="en-IN" dirty="0" smtClean="0">
              <a:latin typeface="Arial Black" panose="020B0A04020102020204" pitchFamily="34" charset="0"/>
            </a:rPr>
            <a:t>User Traffic </a:t>
          </a:r>
          <a:br>
            <a:rPr lang="en-IN" dirty="0" smtClean="0">
              <a:latin typeface="Arial Black" panose="020B0A04020102020204" pitchFamily="34" charset="0"/>
            </a:rPr>
          </a:br>
          <a:r>
            <a:rPr lang="en-IN" dirty="0" smtClean="0">
              <a:latin typeface="Arial Black" panose="020B0A04020102020204" pitchFamily="34" charset="0"/>
            </a:rPr>
            <a:t>( Platform ) </a:t>
          </a:r>
          <a:endParaRPr lang="en-IN" dirty="0">
            <a:latin typeface="Arial Black" panose="020B0A04020102020204" pitchFamily="34" charset="0"/>
          </a:endParaRPr>
        </a:p>
      </dsp:txBody>
      <dsp:txXfrm>
        <a:off x="0" y="742960"/>
        <a:ext cx="1649105" cy="1628775"/>
      </dsp:txXfrm>
    </dsp:sp>
    <dsp:sp modelId="{0B870BCA-23AF-4B46-A31A-E41DB1BFAE76}">
      <dsp:nvSpPr>
        <dsp:cNvPr id="4" name="Right Arrow 3"/>
        <dsp:cNvSpPr/>
      </dsp:nvSpPr>
      <dsp:spPr bwMode="white">
        <a:xfrm>
          <a:off x="1804120" y="1352859"/>
          <a:ext cx="349610" cy="408978"/>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en-US"/>
        </a:p>
      </dsp:txBody>
      <dsp:txXfrm>
        <a:off x="1804120" y="1352859"/>
        <a:ext cx="349610" cy="408978"/>
      </dsp:txXfrm>
    </dsp:sp>
    <dsp:sp modelId="{2B9B7C1F-E8FA-40A5-B0AF-767A21F161FE}">
      <dsp:nvSpPr>
        <dsp:cNvPr id="5" name="Rounded Rectangle 4"/>
        <dsp:cNvSpPr/>
      </dsp:nvSpPr>
      <dsp:spPr bwMode="white">
        <a:xfrm>
          <a:off x="2308746" y="742960"/>
          <a:ext cx="1649105" cy="1628775"/>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68580" tIns="68580" rIns="68580" bIns="6858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rtl="0">
            <a:lnSpc>
              <a:spcPct val="100000"/>
            </a:lnSpc>
            <a:spcBef>
              <a:spcPct val="0"/>
            </a:spcBef>
            <a:spcAft>
              <a:spcPct val="35000"/>
            </a:spcAft>
          </a:pPr>
          <a:r>
            <a:rPr lang="en-IN" dirty="0" smtClean="0">
              <a:latin typeface="Arial Black" panose="020B0A04020102020204" pitchFamily="34" charset="0"/>
            </a:rPr>
            <a:t>Gurucool</a:t>
          </a:r>
          <a:br>
            <a:rPr lang="en-IN" dirty="0" smtClean="0">
              <a:latin typeface="Arial Black" panose="020B0A04020102020204" pitchFamily="34" charset="0"/>
            </a:rPr>
          </a:br>
          <a:br>
            <a:rPr lang="en-IN" dirty="0" smtClean="0">
              <a:latin typeface="Arial Black" panose="020B0A04020102020204" pitchFamily="34" charset="0"/>
            </a:rPr>
          </a:br>
          <a:r>
            <a:rPr lang="en-IN" dirty="0" smtClean="0">
              <a:latin typeface="Arial Black" panose="020B0A04020102020204" pitchFamily="34" charset="0"/>
            </a:rPr>
            <a:t>App</a:t>
          </a:r>
          <a:br>
            <a:rPr lang="en-IN" dirty="0" smtClean="0">
              <a:latin typeface="Arial Black" panose="020B0A04020102020204" pitchFamily="34" charset="0"/>
            </a:rPr>
          </a:br>
          <a:br>
            <a:rPr lang="en-IN" dirty="0" smtClean="0">
              <a:latin typeface="Arial Black" panose="020B0A04020102020204" pitchFamily="34" charset="0"/>
            </a:rPr>
          </a:br>
          <a:r>
            <a:rPr lang="en-IN" dirty="0" smtClean="0">
              <a:latin typeface="Arial Black" panose="020B0A04020102020204" pitchFamily="34" charset="0"/>
            </a:rPr>
            <a:t>Dashboard</a:t>
          </a:r>
          <a:endParaRPr lang="en-IN" dirty="0">
            <a:latin typeface="Arial Black" panose="020B0A04020102020204" pitchFamily="34" charset="0"/>
          </a:endParaRPr>
        </a:p>
      </dsp:txBody>
      <dsp:txXfrm>
        <a:off x="2308746" y="742960"/>
        <a:ext cx="1649105" cy="1628775"/>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3138984" cy="4278094"/>
        <a:chOff x="0" y="0"/>
        <a:chExt cx="3138984" cy="4278094"/>
      </a:xfrm>
    </dsp:grpSpPr>
    <dsp:sp modelId="{8D41C068-9659-47EF-B06E-5FF14955BF19}">
      <dsp:nvSpPr>
        <dsp:cNvPr id="3" name="Chevron 2"/>
        <dsp:cNvSpPr/>
      </dsp:nvSpPr>
      <dsp:spPr bwMode="white">
        <a:xfrm>
          <a:off x="607690" y="0"/>
          <a:ext cx="1923603" cy="769441"/>
        </a:xfrm>
        <a:prstGeom prst="chevron">
          <a:avLst/>
        </a:prstGeom>
        <a:sp3d prstMaterial="plastic">
          <a:bevelT w="120900" h="88900"/>
          <a:bevelB w="88900" h="31750" prst="angle"/>
        </a:sp3d>
      </dsp:spPr>
      <dsp:style>
        <a:lnRef idx="0">
          <a:schemeClr val="lt1"/>
        </a:lnRef>
        <a:fillRef idx="3">
          <a:schemeClr val="accent1"/>
        </a:fillRef>
        <a:effectRef idx="2">
          <a:scrgbClr r="0" g="0" b="0"/>
        </a:effectRef>
        <a:fontRef idx="minor">
          <a:schemeClr val="lt1"/>
        </a:fontRef>
      </dsp:style>
      <dsp:txBody>
        <a:bodyPr lIns="21590" tIns="10795" rIns="0"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rtl="0">
            <a:lnSpc>
              <a:spcPct val="100000"/>
            </a:lnSpc>
            <a:spcBef>
              <a:spcPct val="0"/>
            </a:spcBef>
            <a:spcAft>
              <a:spcPct val="35000"/>
            </a:spcAft>
          </a:pPr>
          <a:r>
            <a:rPr lang="en-IN" dirty="0" smtClean="0"/>
            <a:t>Complete</a:t>
          </a:r>
          <a:br>
            <a:rPr lang="en-IN" dirty="0" smtClean="0"/>
          </a:br>
          <a:endParaRPr lang="en-IN" dirty="0"/>
        </a:p>
      </dsp:txBody>
      <dsp:txXfrm>
        <a:off x="607690" y="0"/>
        <a:ext cx="1923603" cy="769441"/>
      </dsp:txXfrm>
    </dsp:sp>
    <dsp:sp modelId="{CAA7126D-B782-40C2-A171-D87B6D178442}">
      <dsp:nvSpPr>
        <dsp:cNvPr id="4" name="Chevron 3"/>
        <dsp:cNvSpPr/>
      </dsp:nvSpPr>
      <dsp:spPr bwMode="white">
        <a:xfrm>
          <a:off x="607690" y="877163"/>
          <a:ext cx="1923603" cy="769441"/>
        </a:xfrm>
        <a:prstGeom prst="chevron">
          <a:avLst/>
        </a:prstGeom>
        <a:sp3d prstMaterial="plastic">
          <a:bevelT w="120900" h="88900"/>
          <a:bevelB w="88900" h="31750" prst="angle"/>
        </a:sp3d>
      </dsp:spPr>
      <dsp:style>
        <a:lnRef idx="0">
          <a:schemeClr val="lt1"/>
        </a:lnRef>
        <a:fillRef idx="3">
          <a:schemeClr val="accent1"/>
        </a:fillRef>
        <a:effectRef idx="2">
          <a:scrgbClr r="0" g="0" b="0"/>
        </a:effectRef>
        <a:fontRef idx="minor">
          <a:schemeClr val="lt1"/>
        </a:fontRef>
      </dsp:style>
      <dsp:txBody>
        <a:bodyPr lIns="21590" tIns="10795" rIns="0"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rtl="0">
            <a:lnSpc>
              <a:spcPct val="100000"/>
            </a:lnSpc>
            <a:spcBef>
              <a:spcPct val="0"/>
            </a:spcBef>
            <a:spcAft>
              <a:spcPct val="35000"/>
            </a:spcAft>
          </a:pPr>
          <a:r>
            <a:rPr lang="en-IN" smtClean="0"/>
            <a:t>Incomplete</a:t>
          </a:r>
          <a:endParaRPr lang="en-IN"/>
        </a:p>
      </dsp:txBody>
      <dsp:txXfrm>
        <a:off x="607690" y="877163"/>
        <a:ext cx="1923603" cy="769441"/>
      </dsp:txXfrm>
    </dsp:sp>
    <dsp:sp modelId="{89F42E42-1337-443C-B686-231461E3A15E}">
      <dsp:nvSpPr>
        <dsp:cNvPr id="5" name="Chevron 4"/>
        <dsp:cNvSpPr/>
      </dsp:nvSpPr>
      <dsp:spPr bwMode="white">
        <a:xfrm>
          <a:off x="607690" y="1754326"/>
          <a:ext cx="1923603" cy="769441"/>
        </a:xfrm>
        <a:prstGeom prst="chevron">
          <a:avLst/>
        </a:prstGeom>
        <a:sp3d prstMaterial="plastic">
          <a:bevelT w="120900" h="88900"/>
          <a:bevelB w="88900" h="31750" prst="angle"/>
        </a:sp3d>
      </dsp:spPr>
      <dsp:style>
        <a:lnRef idx="0">
          <a:schemeClr val="lt1"/>
        </a:lnRef>
        <a:fillRef idx="3">
          <a:schemeClr val="accent1"/>
        </a:fillRef>
        <a:effectRef idx="2">
          <a:scrgbClr r="0" g="0" b="0"/>
        </a:effectRef>
        <a:fontRef idx="minor">
          <a:schemeClr val="lt1"/>
        </a:fontRef>
      </dsp:style>
      <dsp:txBody>
        <a:bodyPr lIns="21590" tIns="10795" rIns="0"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rtl="0">
            <a:lnSpc>
              <a:spcPct val="100000"/>
            </a:lnSpc>
            <a:spcBef>
              <a:spcPct val="0"/>
            </a:spcBef>
            <a:spcAft>
              <a:spcPct val="35000"/>
            </a:spcAft>
          </a:pPr>
          <a:r>
            <a:rPr lang="en-IN" smtClean="0"/>
            <a:t>Busy</a:t>
          </a:r>
          <a:endParaRPr lang="en-IN"/>
        </a:p>
      </dsp:txBody>
      <dsp:txXfrm>
        <a:off x="607690" y="1754326"/>
        <a:ext cx="1923603" cy="769441"/>
      </dsp:txXfrm>
    </dsp:sp>
    <dsp:sp modelId="{A554E7AE-E1D9-4B30-95AC-EA9A5E28A12A}">
      <dsp:nvSpPr>
        <dsp:cNvPr id="6" name="Chevron 5"/>
        <dsp:cNvSpPr/>
      </dsp:nvSpPr>
      <dsp:spPr bwMode="white">
        <a:xfrm>
          <a:off x="607690" y="2631489"/>
          <a:ext cx="1923603" cy="769441"/>
        </a:xfrm>
        <a:prstGeom prst="chevron">
          <a:avLst/>
        </a:prstGeom>
        <a:sp3d prstMaterial="plastic">
          <a:bevelT w="120900" h="88900"/>
          <a:bevelB w="88900" h="31750" prst="angle"/>
        </a:sp3d>
      </dsp:spPr>
      <dsp:style>
        <a:lnRef idx="0">
          <a:schemeClr val="lt1"/>
        </a:lnRef>
        <a:fillRef idx="3">
          <a:schemeClr val="accent1"/>
        </a:fillRef>
        <a:effectRef idx="2">
          <a:scrgbClr r="0" g="0" b="0"/>
        </a:effectRef>
        <a:fontRef idx="minor">
          <a:schemeClr val="lt1"/>
        </a:fontRef>
      </dsp:style>
      <dsp:txBody>
        <a:bodyPr lIns="21590" tIns="10795" rIns="0"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rtl="0">
            <a:lnSpc>
              <a:spcPct val="100000"/>
            </a:lnSpc>
            <a:spcBef>
              <a:spcPct val="0"/>
            </a:spcBef>
            <a:spcAft>
              <a:spcPct val="35000"/>
            </a:spcAft>
          </a:pPr>
          <a:r>
            <a:rPr lang="en-IN" smtClean="0"/>
            <a:t>No-answer</a:t>
          </a:r>
          <a:br>
            <a:rPr lang="en-IN" smtClean="0"/>
          </a:br>
          <a:endParaRPr lang="en-IN"/>
        </a:p>
      </dsp:txBody>
      <dsp:txXfrm>
        <a:off x="607690" y="2631489"/>
        <a:ext cx="1923603" cy="769441"/>
      </dsp:txXfrm>
    </dsp:sp>
    <dsp:sp modelId="{A9D489D9-A3AC-4AF4-B6B7-29743D3977EF}">
      <dsp:nvSpPr>
        <dsp:cNvPr id="7" name="Chevron 6"/>
        <dsp:cNvSpPr/>
      </dsp:nvSpPr>
      <dsp:spPr bwMode="white">
        <a:xfrm>
          <a:off x="607690" y="3508653"/>
          <a:ext cx="1923603" cy="769441"/>
        </a:xfrm>
        <a:prstGeom prst="chevron">
          <a:avLst/>
        </a:prstGeom>
        <a:sp3d prstMaterial="plastic">
          <a:bevelT w="120900" h="88900"/>
          <a:bevelB w="88900" h="31750" prst="angle"/>
        </a:sp3d>
      </dsp:spPr>
      <dsp:style>
        <a:lnRef idx="0">
          <a:schemeClr val="lt1"/>
        </a:lnRef>
        <a:fillRef idx="3">
          <a:schemeClr val="accent1"/>
        </a:fillRef>
        <a:effectRef idx="2">
          <a:scrgbClr r="0" g="0" b="0"/>
        </a:effectRef>
        <a:fontRef idx="minor">
          <a:schemeClr val="lt1"/>
        </a:fontRef>
      </dsp:style>
      <dsp:txBody>
        <a:bodyPr lIns="21590" tIns="10795" rIns="0"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rtl="0">
            <a:lnSpc>
              <a:spcPct val="100000"/>
            </a:lnSpc>
            <a:spcBef>
              <a:spcPct val="0"/>
            </a:spcBef>
            <a:spcAft>
              <a:spcPct val="35000"/>
            </a:spcAft>
          </a:pPr>
          <a:r>
            <a:rPr lang="en-IN" smtClean="0"/>
            <a:t>Failed</a:t>
          </a:r>
          <a:endParaRPr lang="en-IN"/>
        </a:p>
      </dsp:txBody>
      <dsp:txXfrm>
        <a:off x="607690" y="3508653"/>
        <a:ext cx="1923603" cy="769441"/>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3138984" cy="4278094"/>
        <a:chOff x="0" y="0"/>
        <a:chExt cx="3138984" cy="4278094"/>
      </a:xfrm>
    </dsp:grpSpPr>
    <dsp:sp modelId="{8D41C068-9659-47EF-B06E-5FF14955BF19}">
      <dsp:nvSpPr>
        <dsp:cNvPr id="3" name="Chevron 2"/>
        <dsp:cNvSpPr/>
      </dsp:nvSpPr>
      <dsp:spPr bwMode="white">
        <a:xfrm>
          <a:off x="607690" y="0"/>
          <a:ext cx="1923603" cy="769441"/>
        </a:xfrm>
        <a:prstGeom prst="chevron">
          <a:avLst/>
        </a:prstGeom>
        <a:sp3d prstMaterial="plastic">
          <a:bevelT w="120900" h="88900"/>
          <a:bevelB w="88900" h="31750" prst="angle"/>
        </a:sp3d>
      </dsp:spPr>
      <dsp:style>
        <a:lnRef idx="0">
          <a:schemeClr val="lt1"/>
        </a:lnRef>
        <a:fillRef idx="3">
          <a:schemeClr val="accent1"/>
        </a:fillRef>
        <a:effectRef idx="2">
          <a:scrgbClr r="0" g="0" b="0"/>
        </a:effectRef>
        <a:fontRef idx="minor">
          <a:schemeClr val="lt1"/>
        </a:fontRef>
      </dsp:style>
      <dsp:txBody>
        <a:bodyPr lIns="21590" tIns="10795" rIns="0"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rtl="0">
            <a:lnSpc>
              <a:spcPct val="100000"/>
            </a:lnSpc>
            <a:spcBef>
              <a:spcPct val="0"/>
            </a:spcBef>
            <a:spcAft>
              <a:spcPct val="35000"/>
            </a:spcAft>
          </a:pPr>
          <a:r>
            <a:rPr lang="en-IN" dirty="0" smtClean="0"/>
            <a:t>Complete</a:t>
          </a:r>
          <a:br>
            <a:rPr lang="en-IN" dirty="0" smtClean="0"/>
          </a:br>
          <a:endParaRPr lang="en-IN" dirty="0"/>
        </a:p>
      </dsp:txBody>
      <dsp:txXfrm>
        <a:off x="607690" y="0"/>
        <a:ext cx="1923603" cy="769441"/>
      </dsp:txXfrm>
    </dsp:sp>
    <dsp:sp modelId="{CAA7126D-B782-40C2-A171-D87B6D178442}">
      <dsp:nvSpPr>
        <dsp:cNvPr id="4" name="Chevron 3"/>
        <dsp:cNvSpPr/>
      </dsp:nvSpPr>
      <dsp:spPr bwMode="white">
        <a:xfrm>
          <a:off x="607690" y="877163"/>
          <a:ext cx="1923603" cy="769441"/>
        </a:xfrm>
        <a:prstGeom prst="chevron">
          <a:avLst/>
        </a:prstGeom>
        <a:sp3d prstMaterial="plastic">
          <a:bevelT w="120900" h="88900"/>
          <a:bevelB w="88900" h="31750" prst="angle"/>
        </a:sp3d>
      </dsp:spPr>
      <dsp:style>
        <a:lnRef idx="0">
          <a:schemeClr val="lt1"/>
        </a:lnRef>
        <a:fillRef idx="3">
          <a:schemeClr val="accent1"/>
        </a:fillRef>
        <a:effectRef idx="2">
          <a:scrgbClr r="0" g="0" b="0"/>
        </a:effectRef>
        <a:fontRef idx="minor">
          <a:schemeClr val="lt1"/>
        </a:fontRef>
      </dsp:style>
      <dsp:txBody>
        <a:bodyPr lIns="21590" tIns="10795" rIns="0"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rtl="0">
            <a:lnSpc>
              <a:spcPct val="100000"/>
            </a:lnSpc>
            <a:spcBef>
              <a:spcPct val="0"/>
            </a:spcBef>
            <a:spcAft>
              <a:spcPct val="35000"/>
            </a:spcAft>
          </a:pPr>
          <a:r>
            <a:rPr lang="en-IN" smtClean="0"/>
            <a:t>Incomplete</a:t>
          </a:r>
          <a:endParaRPr lang="en-IN"/>
        </a:p>
      </dsp:txBody>
      <dsp:txXfrm>
        <a:off x="607690" y="877163"/>
        <a:ext cx="1923603" cy="769441"/>
      </dsp:txXfrm>
    </dsp:sp>
    <dsp:sp modelId="{89F42E42-1337-443C-B686-231461E3A15E}">
      <dsp:nvSpPr>
        <dsp:cNvPr id="5" name="Chevron 4"/>
        <dsp:cNvSpPr/>
      </dsp:nvSpPr>
      <dsp:spPr bwMode="white">
        <a:xfrm>
          <a:off x="607690" y="1754326"/>
          <a:ext cx="1923603" cy="769441"/>
        </a:xfrm>
        <a:prstGeom prst="chevron">
          <a:avLst/>
        </a:prstGeom>
        <a:sp3d prstMaterial="plastic">
          <a:bevelT w="120900" h="88900"/>
          <a:bevelB w="88900" h="31750" prst="angle"/>
        </a:sp3d>
      </dsp:spPr>
      <dsp:style>
        <a:lnRef idx="0">
          <a:schemeClr val="lt1"/>
        </a:lnRef>
        <a:fillRef idx="3">
          <a:schemeClr val="accent1"/>
        </a:fillRef>
        <a:effectRef idx="2">
          <a:scrgbClr r="0" g="0" b="0"/>
        </a:effectRef>
        <a:fontRef idx="minor">
          <a:schemeClr val="lt1"/>
        </a:fontRef>
      </dsp:style>
      <dsp:txBody>
        <a:bodyPr lIns="21590" tIns="10795" rIns="0"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rtl="0">
            <a:lnSpc>
              <a:spcPct val="100000"/>
            </a:lnSpc>
            <a:spcBef>
              <a:spcPct val="0"/>
            </a:spcBef>
            <a:spcAft>
              <a:spcPct val="35000"/>
            </a:spcAft>
          </a:pPr>
          <a:r>
            <a:rPr lang="en-IN" dirty="0" smtClean="0"/>
            <a:t>Failed</a:t>
          </a:r>
          <a:endParaRPr lang="en-IN" dirty="0"/>
        </a:p>
      </dsp:txBody>
      <dsp:txXfrm>
        <a:off x="607690" y="1754326"/>
        <a:ext cx="1923603" cy="769441"/>
      </dsp:txXfrm>
    </dsp:sp>
    <dsp:sp modelId="{A554E7AE-E1D9-4B30-95AC-EA9A5E28A12A}">
      <dsp:nvSpPr>
        <dsp:cNvPr id="6" name="Chevron 5"/>
        <dsp:cNvSpPr/>
      </dsp:nvSpPr>
      <dsp:spPr bwMode="white">
        <a:xfrm>
          <a:off x="607690" y="2631489"/>
          <a:ext cx="1923603" cy="769441"/>
        </a:xfrm>
        <a:prstGeom prst="chevron">
          <a:avLst/>
        </a:prstGeom>
        <a:sp3d prstMaterial="plastic">
          <a:bevelT w="120900" h="88900"/>
          <a:bevelB w="88900" h="31750" prst="angle"/>
        </a:sp3d>
      </dsp:spPr>
      <dsp:style>
        <a:lnRef idx="0">
          <a:schemeClr val="lt1"/>
        </a:lnRef>
        <a:fillRef idx="3">
          <a:schemeClr val="accent1"/>
        </a:fillRef>
        <a:effectRef idx="2">
          <a:scrgbClr r="0" g="0" b="0"/>
        </a:effectRef>
        <a:fontRef idx="minor">
          <a:schemeClr val="lt1"/>
        </a:fontRef>
      </dsp:style>
      <dsp:txBody>
        <a:bodyPr lIns="21590" tIns="10795" rIns="0"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rtl="0">
            <a:lnSpc>
              <a:spcPct val="100000"/>
            </a:lnSpc>
            <a:spcBef>
              <a:spcPct val="0"/>
            </a:spcBef>
            <a:spcAft>
              <a:spcPct val="35000"/>
            </a:spcAft>
          </a:pPr>
          <a:r>
            <a:rPr lang="en-IN" dirty="0" smtClean="0"/>
            <a:t>Pending</a:t>
          </a:r>
          <a:endParaRPr lang="en-IN" dirty="0"/>
        </a:p>
      </dsp:txBody>
      <dsp:txXfrm>
        <a:off x="607690" y="2631489"/>
        <a:ext cx="1923603" cy="769441"/>
      </dsp:txXfrm>
    </dsp:sp>
    <dsp:sp modelId="{A9D489D9-A3AC-4AF4-B6B7-29743D3977EF}">
      <dsp:nvSpPr>
        <dsp:cNvPr id="7" name="Chevron 6"/>
        <dsp:cNvSpPr/>
      </dsp:nvSpPr>
      <dsp:spPr bwMode="white">
        <a:xfrm>
          <a:off x="607690" y="3508653"/>
          <a:ext cx="1923603" cy="769441"/>
        </a:xfrm>
        <a:prstGeom prst="chevron">
          <a:avLst/>
        </a:prstGeom>
        <a:sp3d prstMaterial="plastic">
          <a:bevelT w="120900" h="88900"/>
          <a:bevelB w="88900" h="31750" prst="angle"/>
        </a:sp3d>
      </dsp:spPr>
      <dsp:style>
        <a:lnRef idx="0">
          <a:schemeClr val="lt1"/>
        </a:lnRef>
        <a:fillRef idx="3">
          <a:schemeClr val="accent1"/>
        </a:fillRef>
        <a:effectRef idx="2">
          <a:scrgbClr r="0" g="0" b="0"/>
        </a:effectRef>
        <a:fontRef idx="minor">
          <a:schemeClr val="lt1"/>
        </a:fontRef>
      </dsp:style>
      <dsp:txBody>
        <a:bodyPr lIns="21590" tIns="10795" rIns="0"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rtl="0">
            <a:lnSpc>
              <a:spcPct val="100000"/>
            </a:lnSpc>
            <a:spcBef>
              <a:spcPct val="0"/>
            </a:spcBef>
            <a:spcAft>
              <a:spcPct val="35000"/>
            </a:spcAft>
          </a:pPr>
          <a:r>
            <a:rPr lang="en-IN" dirty="0" smtClean="0"/>
            <a:t>Started</a:t>
          </a:r>
          <a:endParaRPr lang="en-IN" dirty="0"/>
        </a:p>
      </dsp:txBody>
      <dsp:txXfrm>
        <a:off x="607690" y="3508653"/>
        <a:ext cx="1923603" cy="769441"/>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nodeVertAlign" val="t"/>
          <dgm:param type="vertAlign" val="mid"/>
          <dgm:param type="nodeHorzAlign" val="l"/>
          <dgm:param type="fallback" val="2D"/>
        </dgm:alg>
      </dgm:if>
      <dgm:else name="Name3">
        <dgm:alg type="lin">
          <dgm:param type="linDir" val="fromT"/>
          <dgm:param type="nodeVertAlign" val="t"/>
          <dgm:param type="vertAlign" val="mid"/>
          <dgm:param type="nodeHorzAlign" val="r"/>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VertAlign" val="mid"/>
              <dgm:param type="nodeHorzAlign" val="l"/>
              <dgm:param type="fallback" val="2D"/>
            </dgm:alg>
          </dgm:if>
          <dgm:else name="Name7">
            <dgm:alg type="lin">
              <dgm:param type="linDir" val="fromR"/>
              <dgm:param type="nodeVertAlign" val="mid"/>
              <dgm:param type="nodeHorzAlign" val="r"/>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type="chevron" r:blip="" rot="180">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type="chevron" r:blip="" rot="180">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nodeVertAlign" val="t"/>
          <dgm:param type="vertAlign" val="mid"/>
          <dgm:param type="nodeHorzAlign" val="l"/>
          <dgm:param type="fallback" val="2D"/>
        </dgm:alg>
      </dgm:if>
      <dgm:else name="Name3">
        <dgm:alg type="lin">
          <dgm:param type="linDir" val="fromT"/>
          <dgm:param type="nodeVertAlign" val="t"/>
          <dgm:param type="vertAlign" val="mid"/>
          <dgm:param type="nodeHorzAlign" val="r"/>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VertAlign" val="mid"/>
              <dgm:param type="nodeHorzAlign" val="l"/>
              <dgm:param type="fallback" val="2D"/>
            </dgm:alg>
          </dgm:if>
          <dgm:else name="Name7">
            <dgm:alg type="lin">
              <dgm:param type="linDir" val="fromR"/>
              <dgm:param type="nodeVertAlign" val="mid"/>
              <dgm:param type="nodeHorzAlign" val="r"/>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type="chevron" r:blip="" rot="180">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type="chevron" r:blip="" rot="180">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4"/>
        <p:cNvGrpSpPr/>
        <p:nvPr/>
      </p:nvGrpSpPr>
      <p:grpSpPr>
        <a:xfrm>
          <a:off x="0" y="0"/>
          <a:ext cx="0" cy="0"/>
          <a:chOff x="0" y="0"/>
          <a:chExt cx="0" cy="0"/>
        </a:xfrm>
      </p:grpSpPr>
      <p:sp>
        <p:nvSpPr>
          <p:cNvPr id="105" name="Google Shape;10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6" name="Google Shape;10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1"/>
        <p:cNvGrpSpPr/>
        <p:nvPr/>
      </p:nvGrpSpPr>
      <p:grpSpPr>
        <a:xfrm>
          <a:off x="0" y="0"/>
          <a:ext cx="0" cy="0"/>
          <a:chOff x="0" y="0"/>
          <a:chExt cx="0" cy="0"/>
        </a:xfrm>
      </p:grpSpPr>
      <p:sp>
        <p:nvSpPr>
          <p:cNvPr id="112" name="Google Shape;11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3" name="Google Shape;11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4"/>
        <p:cNvGrpSpPr/>
        <p:nvPr/>
      </p:nvGrpSpPr>
      <p:grpSpPr>
        <a:xfrm>
          <a:off x="0" y="0"/>
          <a:ext cx="0" cy="0"/>
          <a:chOff x="0" y="0"/>
          <a:chExt cx="0" cy="0"/>
        </a:xfrm>
      </p:grpSpPr>
      <p:sp>
        <p:nvSpPr>
          <p:cNvPr id="195" name="Google Shape;195;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6" name="Google Shape;19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7" name="Date Placeholder 4"/>
          <p:cNvSpPr>
            <a:spLocks noGrp="1"/>
          </p:cNvSpPr>
          <p:nvPr>
            <p:ph type="dt" sz="half" idx="10"/>
          </p:nvPr>
        </p:nvSpPr>
        <p:spPr/>
        <p:txBody>
          <a:bodyPr/>
          <a:lstStyle/>
          <a:p>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endParaRPr lang="en-US" smtClean="0"/>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dirty="0"/>
              <a:t>“</a:t>
            </a:r>
            <a:endParaRPr lang="en-US" dirty="0"/>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dirty="0"/>
              <a:t>”</a:t>
            </a:r>
            <a:endParaRPr lang="en-US" dirty="0"/>
          </a:p>
        </p:txBody>
      </p:sp>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Tree>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Tree>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Tree>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Tree>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image" Target="../media/image4.png"/><Relationship Id="rId20" Type="http://schemas.openxmlformats.org/officeDocument/2006/relationships/image" Target="../media/image3.png"/><Relationship Id="rId2" Type="http://schemas.openxmlformats.org/officeDocument/2006/relationships/slideLayout" Target="../slideLayouts/slideLayout2.xml"/><Relationship Id="rId19" Type="http://schemas.openxmlformats.org/officeDocument/2006/relationships/image" Target="../media/image2.png"/><Relationship Id="rId18" Type="http://schemas.openxmlformats.org/officeDocument/2006/relationships/image" Target="../media/image1.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8">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7" name="Picture 6"/>
          <p:cNvPicPr>
            <a:picLocks noChangeAspect="1"/>
          </p:cNvPicPr>
          <p:nvPr/>
        </p:nvPicPr>
        <p:blipFill rotWithShape="1">
          <a:blip r:embed="rId19">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0">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10" name="Picture 9"/>
          <p:cNvPicPr>
            <a:picLocks noChangeAspect="1"/>
          </p:cNvPicPr>
          <p:nvPr/>
        </p:nvPicPr>
        <p:blipFill rotWithShape="1">
          <a:blip r:embed="rId21">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571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image" Target="../media/image8.jpeg"/></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9.jpeg"/><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image" Target="../media/image10.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Shape 100"/>
        <p:cNvGrpSpPr/>
        <p:nvPr/>
      </p:nvGrpSpPr>
      <p:grpSpPr>
        <a:xfrm>
          <a:off x="0" y="0"/>
          <a:ext cx="0" cy="0"/>
          <a:chOff x="0" y="0"/>
          <a:chExt cx="0" cy="0"/>
        </a:xfrm>
      </p:grpSpPr>
      <p:sp>
        <p:nvSpPr>
          <p:cNvPr id="101" name="Google Shape;101;p13"/>
          <p:cNvSpPr txBox="1">
            <a:spLocks noGrp="1"/>
          </p:cNvSpPr>
          <p:nvPr>
            <p:ph type="ctrTitle"/>
          </p:nvPr>
        </p:nvSpPr>
        <p:spPr>
          <a:xfrm rot="21343996">
            <a:off x="2153831" y="730668"/>
            <a:ext cx="6725704" cy="1938439"/>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262626"/>
              </a:buClr>
              <a:buSzPts val="8000"/>
              <a:buFont typeface="Algerian"/>
              <a:buNone/>
            </a:pPr>
            <a:r>
              <a:rPr lang="en-US" sz="2400" b="1" dirty="0" err="1">
                <a:solidFill>
                  <a:srgbClr val="0F172A"/>
                </a:solidFill>
                <a:latin typeface="Calibri" panose="020F0502020204030204" pitchFamily="82" charset="0"/>
                <a:ea typeface="Algerian"/>
                <a:cs typeface="Algerian"/>
                <a:sym typeface="Algerian"/>
              </a:rPr>
              <a:t>AstroSage</a:t>
            </a:r>
            <a:r>
              <a:rPr lang="en-US" sz="2400" b="1" dirty="0">
                <a:solidFill>
                  <a:srgbClr val="0F172A"/>
                </a:solidFill>
                <a:latin typeface="Calibri" panose="020F0502020204030204" pitchFamily="82" charset="0"/>
                <a:ea typeface="Algerian"/>
                <a:cs typeface="Algerian"/>
                <a:sym typeface="Algerian"/>
              </a:rPr>
              <a:t> Analysis</a:t>
            </a:r>
            <a:endParaRPr sz="8800" dirty="0">
              <a:latin typeface="Chiller" panose="04020404031007020602" pitchFamily="82" charset="0"/>
            </a:endParaRPr>
          </a:p>
        </p:txBody>
      </p:sp>
      <p:sp>
        <p:nvSpPr>
          <p:cNvPr id="102" name="Google Shape;102;p13"/>
          <p:cNvSpPr txBox="1">
            <a:spLocks noGrp="1"/>
          </p:cNvSpPr>
          <p:nvPr>
            <p:ph type="subTitle" idx="1"/>
          </p:nvPr>
        </p:nvSpPr>
        <p:spPr>
          <a:xfrm rot="21019531">
            <a:off x="3066197" y="2870579"/>
            <a:ext cx="3923071" cy="1061884"/>
          </a:xfrm>
          <a:prstGeom prst="rect">
            <a:avLst/>
          </a:prstGeom>
          <a:noFill/>
          <a:ln>
            <a:noFill/>
          </a:ln>
        </p:spPr>
        <p:txBody>
          <a:bodyPr spcFirstLastPara="1" wrap="square" lIns="91425" tIns="45700" rIns="91425" bIns="45700" anchor="t" anchorCtr="0">
            <a:normAutofit/>
          </a:bodyPr>
          <a:lstStyle/>
          <a:p>
            <a:r>
              <a:rPr>
                <a:highlight>
                  <a:srgbClr val="000000"/>
                </a:highlight>
              </a:rPr>
              <a:t>SAURAV KUMAR </a:t>
            </a:r>
            <a:endParaRPr>
              <a:highlight>
                <a:srgbClr val="000000"/>
              </a:highlight>
            </a:endParaRPr>
          </a:p>
          <a:p>
            <a:r>
              <a:rPr lang="en-IN">
                <a:highlight>
                  <a:srgbClr val="000000"/>
                </a:highlight>
              </a:rPr>
              <a:t>20</a:t>
            </a:r>
            <a:r>
              <a:rPr>
                <a:highlight>
                  <a:srgbClr val="000000"/>
                </a:highlight>
              </a:rPr>
              <a:t>/</a:t>
            </a:r>
            <a:r>
              <a:rPr lang="en-IN">
                <a:highlight>
                  <a:srgbClr val="000000"/>
                </a:highlight>
              </a:rPr>
              <a:t>05</a:t>
            </a:r>
            <a:r>
              <a:rPr>
                <a:highlight>
                  <a:srgbClr val="000000"/>
                </a:highlight>
              </a:rPr>
              <a:t>/202</a:t>
            </a:r>
            <a:r>
              <a:rPr lang="en-IN">
                <a:highlight>
                  <a:srgbClr val="000000"/>
                </a:highlight>
              </a:rPr>
              <a:t>6</a:t>
            </a:r>
            <a:endParaRPr lang="en-IN">
              <a:highlight>
                <a:srgbClr val="000000"/>
              </a:highlight>
            </a:endParaRPr>
          </a:p>
        </p:txBody>
      </p:sp>
      <p:pic>
        <p:nvPicPr>
          <p:cNvPr id="103" name="Google Shape;103;p13" descr="AstroSage Kundli: AI Astrology – Apps on Google Play"/>
          <p:cNvPicPr preferRelativeResize="0"/>
          <p:nvPr/>
        </p:nvPicPr>
        <p:blipFill rotWithShape="1">
          <a:blip r:embed="rId1"/>
          <a:srcRect/>
          <a:stretch>
            <a:fillRect/>
          </a:stretch>
        </p:blipFill>
        <p:spPr>
          <a:xfrm rot="21350976">
            <a:off x="8014380" y="2584026"/>
            <a:ext cx="4041124" cy="3936132"/>
          </a:xfrm>
          <a:prstGeom prst="rect">
            <a:avLst/>
          </a:prstGeom>
          <a:noFill/>
          <a:ln>
            <a:noFill/>
          </a:ln>
        </p:spPr>
      </p:pic>
      <p:sp>
        <p:nvSpPr>
          <p:cNvPr id="104" name="Rectangle 103"/>
          <p:cNvSpPr/>
          <p:nvPr/>
        </p:nvSpPr>
        <p:spPr>
          <a:xfrm>
            <a:off x="0" y="0"/>
            <a:ext cx="12192000" cy="3200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0" y="320040"/>
            <a:ext cx="164592"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Shape 107"/>
        <p:cNvGrpSpPr/>
        <p:nvPr/>
      </p:nvGrpSpPr>
      <p:grpSpPr>
        <a:xfrm>
          <a:off x="0" y="0"/>
          <a:ext cx="0" cy="0"/>
          <a:chOff x="0" y="0"/>
          <a:chExt cx="0" cy="0"/>
        </a:xfrm>
      </p:grpSpPr>
      <p:sp>
        <p:nvSpPr>
          <p:cNvPr id="108" name="Google Shape;108;p14"/>
          <p:cNvSpPr txBox="1">
            <a:spLocks noGrp="1"/>
          </p:cNvSpPr>
          <p:nvPr>
            <p:ph idx="1"/>
          </p:nvPr>
        </p:nvSpPr>
        <p:spPr>
          <a:xfrm>
            <a:off x="914399" y="2111538"/>
            <a:ext cx="5513695" cy="2662227"/>
          </a:xfrm>
          <a:prstGeom prst="rect">
            <a:avLst/>
          </a:prstGeom>
          <a:noFill/>
          <a:ln>
            <a:noFill/>
          </a:ln>
        </p:spPr>
        <p:txBody>
          <a:bodyPr spcFirstLastPara="1" wrap="square" lIns="91425" tIns="45700" rIns="91425" bIns="45700" anchor="ctr" anchorCtr="0">
            <a:spAutoFit/>
          </a:bodyPr>
          <a:lstStyle/>
          <a:p>
            <a:pPr marL="0" lvl="0" indent="0" algn="ctr">
              <a:lnSpc>
                <a:spcPct val="100000"/>
              </a:lnSpc>
              <a:spcBef>
                <a:spcPts val="0"/>
              </a:spcBef>
              <a:buClr>
                <a:schemeClr val="dk1"/>
              </a:buClr>
              <a:buSzPts val="2000"/>
              <a:buNone/>
            </a:pPr>
            <a:r>
              <a:rPr lang="en-IN" sz="2400" b="1" dirty="0" err="1" smtClean="0">
                <a:solidFill>
                  <a:srgbClr val="1E40AF"/>
                </a:solidFill>
                <a:latin typeface="Calibri" panose="020F0502020204030204" pitchFamily="82" charset="0"/>
                <a:cs typeface="Arial" panose="020B0604020202020204" pitchFamily="34" charset="0"/>
              </a:rPr>
              <a:t>AstroSage</a:t>
            </a:r>
            <a:r>
              <a:rPr lang="en-IN" sz="2400" b="1" dirty="0" smtClean="0">
                <a:solidFill>
                  <a:srgbClr val="1E40AF"/>
                </a:solidFill>
                <a:latin typeface="Calibri" panose="020F0502020204030204" pitchFamily="82" charset="0"/>
                <a:cs typeface="Arial" panose="020B0604020202020204" pitchFamily="34" charset="0"/>
              </a:rPr>
              <a:t> </a:t>
            </a:r>
            <a:r>
              <a:rPr lang="en-IN" sz="2400" b="1" dirty="0">
                <a:solidFill>
                  <a:srgbClr val="1E40AF"/>
                </a:solidFill>
                <a:latin typeface="Calibri" panose="020F0502020204030204" pitchFamily="82" charset="0"/>
                <a:cs typeface="Arial" panose="020B0604020202020204" pitchFamily="34" charset="0"/>
              </a:rPr>
              <a:t>is one of the most authentic astrology destinations for not only those who are seeking astrological assistance, but also for high-level astrological research and development on wide scale. It is a prolific astrological source for people to help them out from mundane questions to specialized queries. Our aim is to ameliorate those who are facing problems and betterment of humanity using divine science of astrology.</a:t>
            </a:r>
            <a:endParaRPr sz="4800" b="0" i="0" u="none" strike="noStrike" cap="none" dirty="0">
              <a:solidFill>
                <a:schemeClr val="dk1"/>
              </a:solidFill>
              <a:latin typeface="Arial" panose="020B0604020202020204" pitchFamily="34" charset="0"/>
              <a:ea typeface="Arial" panose="020B0604020202020204"/>
              <a:cs typeface="Arial" panose="020B0604020202020204" pitchFamily="34" charset="0"/>
              <a:sym typeface="Arial" panose="020B0604020202020204"/>
            </a:endParaRPr>
          </a:p>
        </p:txBody>
      </p:sp>
      <p:pic>
        <p:nvPicPr>
          <p:cNvPr id="109" name="Google Shape;109;p14" descr="AstroSage Kundli"/>
          <p:cNvPicPr preferRelativeResize="0"/>
          <p:nvPr/>
        </p:nvPicPr>
        <p:blipFill rotWithShape="1">
          <a:blip r:embed="rId1"/>
          <a:srcRect/>
          <a:stretch>
            <a:fillRect/>
          </a:stretch>
        </p:blipFill>
        <p:spPr>
          <a:xfrm>
            <a:off x="6626942" y="1117763"/>
            <a:ext cx="4876800" cy="4876800"/>
          </a:xfrm>
          <a:prstGeom prst="rect">
            <a:avLst/>
          </a:prstGeom>
          <a:noFill/>
          <a:ln>
            <a:noFill/>
          </a:ln>
        </p:spPr>
      </p:pic>
      <p:sp>
        <p:nvSpPr>
          <p:cNvPr id="110" name="Google Shape;110;p14"/>
          <p:cNvSpPr txBox="1"/>
          <p:nvPr/>
        </p:nvSpPr>
        <p:spPr>
          <a:xfrm>
            <a:off x="1681316" y="676177"/>
            <a:ext cx="4109883"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dirty="0">
                <a:solidFill>
                  <a:srgbClr val="1E40AF"/>
                </a:solidFill>
                <a:latin typeface="Calibri" panose="020F0502020204030204" pitchFamily="82" charset="0"/>
                <a:ea typeface="Aparajita"/>
                <a:cs typeface="Arial" panose="020B0604020202020204" pitchFamily="34" charset="0"/>
                <a:sym typeface="Aparajita"/>
              </a:rPr>
              <a:t>WHAT </a:t>
            </a:r>
            <a:r>
              <a:rPr lang="en-US" sz="2400" b="1" i="0" u="none" strike="noStrike" cap="none" dirty="0" smtClean="0">
                <a:solidFill>
                  <a:srgbClr val="1E40AF"/>
                </a:solidFill>
                <a:latin typeface="Calibri" panose="020F0502020204030204" pitchFamily="82" charset="0"/>
                <a:ea typeface="Aparajita"/>
                <a:cs typeface="Arial" panose="020B0604020202020204" pitchFamily="34" charset="0"/>
                <a:sym typeface="Aparajita"/>
              </a:rPr>
              <a:t>DO IS </a:t>
            </a:r>
            <a:r>
              <a:rPr lang="en-US" sz="2400" b="1" i="0" u="none" strike="noStrike" cap="none" dirty="0">
                <a:solidFill>
                  <a:srgbClr val="1E40AF"/>
                </a:solidFill>
                <a:latin typeface="Calibri" panose="020F0502020204030204" pitchFamily="82" charset="0"/>
                <a:ea typeface="Aparajita"/>
                <a:cs typeface="Arial" panose="020B0604020202020204" pitchFamily="34" charset="0"/>
                <a:sym typeface="Aparajita"/>
              </a:rPr>
              <a:t>ASTROSAGE?</a:t>
            </a:r>
            <a:endParaRPr dirty="0">
              <a:latin typeface="Arial" panose="020B0604020202020204" pitchFamily="34" charset="0"/>
              <a:cs typeface="Arial" panose="020B0604020202020204" pitchFamily="34" charset="0"/>
            </a:endParaRPr>
          </a:p>
        </p:txBody>
      </p:sp>
      <p:sp>
        <p:nvSpPr>
          <p:cNvPr id="111" name="Rectangle 110"/>
          <p:cNvSpPr/>
          <p:nvPr/>
        </p:nvSpPr>
        <p:spPr>
          <a:xfrm>
            <a:off x="0" y="0"/>
            <a:ext cx="12192000" cy="320040"/>
          </a:xfrm>
          <a:prstGeom prst="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0" y="320040"/>
            <a:ext cx="164592" cy="6858000"/>
          </a:xfrm>
          <a:prstGeom prst="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97054" y="0"/>
            <a:ext cx="10396882" cy="1151965"/>
          </a:xfrm>
        </p:spPr>
        <p:txBody>
          <a:bodyPr>
            <a:normAutofit/>
          </a:bodyPr>
          <a:lstStyle/>
          <a:p>
            <a:pPr algn="ctr"/>
            <a:r>
              <a:rPr lang="en-IN" sz="1600" dirty="0" smtClean="0">
                <a:solidFill>
                  <a:srgbClr val="212529"/>
                </a:solidFill>
                <a:latin typeface="Calibri" panose="020F0502020204030204" pitchFamily="82" charset="0"/>
                <a:cs typeface="Arial" panose="020B0604020202020204" pitchFamily="34" charset="0"/>
              </a:rPr>
              <a:t>Problem statement</a:t>
            </a:r>
            <a:endParaRPr lang="en-IN" sz="3600" dirty="0">
              <a:latin typeface="Arial" panose="020B0604020202020204" pitchFamily="34" charset="0"/>
              <a:cs typeface="Arial" panose="020B0604020202020204" pitchFamily="34" charset="0"/>
            </a:endParaRPr>
          </a:p>
        </p:txBody>
      </p:sp>
      <p:sp>
        <p:nvSpPr>
          <p:cNvPr id="4" name="Rectangle 3"/>
          <p:cNvSpPr/>
          <p:nvPr/>
        </p:nvSpPr>
        <p:spPr>
          <a:xfrm>
            <a:off x="2053390" y="1472807"/>
            <a:ext cx="7234990" cy="3139321"/>
          </a:xfrm>
          <a:prstGeom prst="rect">
            <a:avLst/>
          </a:prstGeom>
        </p:spPr>
        <p:txBody>
          <a:bodyPr wrap="square">
            <a:spAutoFit/>
          </a:bodyPr>
          <a:lstStyle/>
          <a:p>
            <a:pPr marL="285750" indent="-285750">
              <a:buFont typeface="Wingdings" panose="05000000000000000000" pitchFamily="2" charset="2"/>
              <a:buChar char="§"/>
            </a:pPr>
            <a:r>
              <a:rPr lang="en-IN" sz="2400" b="1" dirty="0">
                <a:solidFill>
                  <a:srgbClr val="4F46E5"/>
                </a:solidFill>
                <a:latin typeface="Calibri" panose="020F0502020204030204" pitchFamily="82" charset="0"/>
                <a:cs typeface="Arial" panose="020B0604020202020204" pitchFamily="34" charset="0"/>
              </a:rPr>
              <a:t>To optimize call </a:t>
            </a:r>
            <a:r>
              <a:rPr lang="en-IN" sz="2400" b="1" dirty="0" err="1">
                <a:solidFill>
                  <a:srgbClr val="4F46E5"/>
                </a:solidFill>
                <a:latin typeface="Calibri" panose="020F0502020204030204" pitchFamily="82" charset="0"/>
                <a:cs typeface="Arial" panose="020B0604020202020204" pitchFamily="34" charset="0"/>
              </a:rPr>
              <a:t>center</a:t>
            </a:r>
            <a:r>
              <a:rPr lang="en-IN" sz="2400" b="1" dirty="0">
                <a:solidFill>
                  <a:srgbClr val="4F46E5"/>
                </a:solidFill>
                <a:latin typeface="Calibri" panose="020F0502020204030204" pitchFamily="82" charset="0"/>
                <a:cs typeface="Arial" panose="020B0604020202020204" pitchFamily="34" charset="0"/>
              </a:rPr>
              <a:t> operations for </a:t>
            </a:r>
            <a:r>
              <a:rPr lang="en-IN" sz="2400" b="1" dirty="0" err="1">
                <a:solidFill>
                  <a:srgbClr val="4F46E5"/>
                </a:solidFill>
                <a:latin typeface="Calibri" panose="020F0502020204030204" pitchFamily="82" charset="0"/>
                <a:cs typeface="Arial" panose="020B0604020202020204" pitchFamily="34" charset="0"/>
              </a:rPr>
              <a:t>AstroSage</a:t>
            </a:r>
            <a:r>
              <a:rPr lang="en-IN" sz="2400" b="1" dirty="0">
                <a:solidFill>
                  <a:srgbClr val="4F46E5"/>
                </a:solidFill>
                <a:latin typeface="Calibri" panose="020F0502020204030204" pitchFamily="82" charset="0"/>
                <a:cs typeface="Arial" panose="020B0604020202020204" pitchFamily="34" charset="0"/>
              </a:rPr>
              <a:t> with a 1 crore </a:t>
            </a:r>
            <a:r>
              <a:rPr lang="en-IN" sz="2400" b="1" dirty="0" smtClean="0">
                <a:solidFill>
                  <a:srgbClr val="4F46E5"/>
                </a:solidFill>
                <a:latin typeface="Calibri" panose="020F0502020204030204" pitchFamily="82" charset="0"/>
                <a:cs typeface="Arial" panose="020B0604020202020204" pitchFamily="34" charset="0"/>
              </a:rPr>
              <a:t>investment.</a:t>
            </a:r>
            <a:endParaRPr lang="en-IN" sz="2400" b="1" dirty="0" smtClean="0">
              <a:solidFill>
                <a:srgbClr val="4F46E5"/>
              </a:solidFill>
              <a:latin typeface="Calibri" panose="020F0502020204030204" pitchFamily="82" charset="0"/>
              <a:cs typeface="Arial" panose="020B0604020202020204" pitchFamily="34" charset="0"/>
            </a:endParaRPr>
          </a:p>
          <a:p>
            <a:pPr marL="285750" indent="-285750">
              <a:buFont typeface="Wingdings" panose="05000000000000000000" pitchFamily="2" charset="2"/>
              <a:buChar char="§"/>
            </a:pPr>
            <a:endParaRPr lang="en-IN" b="1"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IN" sz="1600" b="1" dirty="0">
                <a:solidFill>
                  <a:srgbClr val="212529"/>
                </a:solidFill>
                <a:latin typeface="Calibri" panose="020F0502020204030204" pitchFamily="82" charset="0"/>
                <a:cs typeface="Arial" panose="020B0604020202020204" pitchFamily="34" charset="0"/>
              </a:rPr>
              <a:t>The goal is to determine how to allocate this investment to maximize operational efficiency, customer satisfaction, and profitability</a:t>
            </a:r>
            <a:r>
              <a:rPr lang="en-IN" sz="1600" b="1" dirty="0" smtClean="0">
                <a:solidFill>
                  <a:srgbClr val="212529"/>
                </a:solidFill>
                <a:latin typeface="Calibri" panose="020F0502020204030204" pitchFamily="82" charset="0"/>
                <a:cs typeface="Arial" panose="020B0604020202020204" pitchFamily="34" charset="0"/>
              </a:rPr>
              <a:t>.</a:t>
            </a:r>
            <a:endParaRPr lang="en-IN" sz="1600" b="1" dirty="0" smtClean="0">
              <a:solidFill>
                <a:srgbClr val="212529"/>
              </a:solidFill>
              <a:latin typeface="Calibri" panose="020F0502020204030204" pitchFamily="82" charset="0"/>
              <a:cs typeface="Arial" panose="020B0604020202020204" pitchFamily="34" charset="0"/>
            </a:endParaRPr>
          </a:p>
          <a:p>
            <a:pPr marL="285750" indent="-285750">
              <a:buFont typeface="Wingdings" panose="05000000000000000000" pitchFamily="2" charset="2"/>
              <a:buChar char="§"/>
            </a:pPr>
            <a:endParaRPr lang="en-IN" b="1"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IN" sz="1600" b="1" dirty="0">
                <a:solidFill>
                  <a:srgbClr val="212529"/>
                </a:solidFill>
                <a:latin typeface="Calibri" panose="020F0502020204030204" pitchFamily="82" charset="0"/>
                <a:cs typeface="Arial" panose="020B0604020202020204" pitchFamily="34" charset="0"/>
              </a:rPr>
              <a:t>This project will involve </a:t>
            </a:r>
            <a:r>
              <a:rPr lang="en-IN" sz="1600" b="1" dirty="0" err="1">
                <a:solidFill>
                  <a:srgbClr val="212529"/>
                </a:solidFill>
                <a:latin typeface="Calibri" panose="020F0502020204030204" pitchFamily="82" charset="0"/>
                <a:cs typeface="Arial" panose="020B0604020202020204" pitchFamily="34" charset="0"/>
              </a:rPr>
              <a:t>analyzing</a:t>
            </a:r>
            <a:r>
              <a:rPr lang="en-IN" sz="1600" b="1" dirty="0">
                <a:solidFill>
                  <a:srgbClr val="212529"/>
                </a:solidFill>
                <a:latin typeface="Calibri" panose="020F0502020204030204" pitchFamily="82" charset="0"/>
                <a:cs typeface="Arial" panose="020B0604020202020204" pitchFamily="34" charset="0"/>
              </a:rPr>
              <a:t> historical call data, performance metrics, and market trends to make informed decisions</a:t>
            </a:r>
            <a:r>
              <a:rPr lang="en-IN" sz="1600" b="1" dirty="0" smtClean="0">
                <a:solidFill>
                  <a:srgbClr val="212529"/>
                </a:solidFill>
                <a:latin typeface="Calibri" panose="020F0502020204030204" pitchFamily="82" charset="0"/>
                <a:cs typeface="Arial" panose="020B0604020202020204" pitchFamily="34" charset="0"/>
              </a:rPr>
              <a:t>.</a:t>
            </a:r>
            <a:endParaRPr lang="en-IN" sz="1600" b="1" dirty="0" smtClean="0">
              <a:solidFill>
                <a:srgbClr val="212529"/>
              </a:solidFill>
              <a:latin typeface="Calibri" panose="020F0502020204030204" pitchFamily="82" charset="0"/>
              <a:cs typeface="Arial" panose="020B0604020202020204" pitchFamily="34" charset="0"/>
            </a:endParaRPr>
          </a:p>
          <a:p>
            <a:pPr marL="285750" indent="-285750">
              <a:buFont typeface="Wingdings" panose="05000000000000000000" pitchFamily="2" charset="2"/>
              <a:buChar char="§"/>
            </a:pPr>
            <a:endParaRPr lang="en-IN" b="1" dirty="0">
              <a:latin typeface="Arial" panose="020B0604020202020204" pitchFamily="34" charset="0"/>
              <a:cs typeface="Arial" panose="020B0604020202020204" pitchFamily="34" charset="0"/>
            </a:endParaRPr>
          </a:p>
        </p:txBody>
      </p:sp>
      <p:sp>
        <p:nvSpPr>
          <p:cNvPr id="5" name="Rectangle 4"/>
          <p:cNvSpPr/>
          <p:nvPr/>
        </p:nvSpPr>
        <p:spPr>
          <a:xfrm>
            <a:off x="0" y="0"/>
            <a:ext cx="12192000" cy="32004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320040"/>
            <a:ext cx="164592" cy="685800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309880" cy="245110"/>
          </a:xfrm>
          <a:prstGeom prst="rect">
            <a:avLst/>
          </a:prstGeom>
          <a:noFill/>
        </p:spPr>
        <p:txBody>
          <a:bodyPr wrap="none">
            <a:spAutoFit/>
          </a:bodyPr>
          <a:lstStyle/>
          <a:p>
            <a:pPr algn="l">
              <a:defRPr sz="1000" b="1">
                <a:solidFill>
                  <a:srgbClr val="5A5A5A"/>
                </a:solidFill>
              </a:defRPr>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8393374" y="1151965"/>
          <a:ext cx="2795658" cy="1082282"/>
        </p:xfrm>
        <a:graphic>
          <a:graphicData uri="http://schemas.openxmlformats.org/drawingml/2006/table">
            <a:tbl>
              <a:tblPr>
                <a:tableStyleId>{F3CB1A70-E04F-4854-94BE-A2638B70E8BC}</a:tableStyleId>
              </a:tblPr>
              <a:tblGrid>
                <a:gridCol w="1119875"/>
                <a:gridCol w="1675783"/>
              </a:tblGrid>
              <a:tr h="455252">
                <a:tc>
                  <a:txBody>
                    <a:bodyPr/>
                    <a:lstStyle/>
                    <a:p>
                      <a:pPr algn="ctr" fontAlgn="b"/>
                      <a:r>
                        <a:rPr lang="en-IN" sz="1400" b="1" u="none" strike="noStrike">
                          <a:solidFill>
                            <a:schemeClr val="tx1"/>
                          </a:solidFill>
                          <a:effectLst/>
                          <a:latin typeface="Arial" panose="020B0604020202020204" pitchFamily="34" charset="0"/>
                          <a:cs typeface="Arial" panose="020B0604020202020204" pitchFamily="34" charset="0"/>
                        </a:rPr>
                        <a:t>Total Consultation</a:t>
                      </a:r>
                      <a:endParaRPr lang="en-IN" sz="1400" b="1"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latin typeface="Arial" panose="020B0604020202020204" pitchFamily="34" charset="0"/>
                          <a:cs typeface="Arial" panose="020B0604020202020204" pitchFamily="34" charset="0"/>
                        </a:rPr>
                        <a:t>28027</a:t>
                      </a:r>
                      <a:endParaRPr lang="en-IN" sz="1400" b="1"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b">
                    <a:solidFill>
                      <a:schemeClr val="bg2"/>
                    </a:solidFill>
                  </a:tcPr>
                </a:tc>
              </a:tr>
              <a:tr h="313515">
                <a:tc>
                  <a:txBody>
                    <a:bodyPr/>
                    <a:lstStyle/>
                    <a:p>
                      <a:pPr algn="ctr" fontAlgn="b"/>
                      <a:r>
                        <a:rPr lang="en-IN" sz="1400" b="1" u="none" strike="noStrike" dirty="0">
                          <a:solidFill>
                            <a:schemeClr val="tx1"/>
                          </a:solidFill>
                          <a:effectLst/>
                          <a:latin typeface="Arial" panose="020B0604020202020204" pitchFamily="34" charset="0"/>
                          <a:cs typeface="Arial" panose="020B0604020202020204" pitchFamily="34" charset="0"/>
                        </a:rPr>
                        <a:t> </a:t>
                      </a:r>
                      <a:endParaRPr lang="en-IN" sz="14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b">
                    <a:solidFill>
                      <a:schemeClr val="bg2"/>
                    </a:solidFill>
                  </a:tcPr>
                </a:tc>
                <a:tc>
                  <a:txBody>
                    <a:bodyPr/>
                    <a:lstStyle/>
                    <a:p>
                      <a:pPr algn="ctr" fontAlgn="b"/>
                      <a:r>
                        <a:rPr lang="en-IN" sz="1400" b="1" u="none" strike="noStrike" dirty="0">
                          <a:solidFill>
                            <a:schemeClr val="tx1"/>
                          </a:solidFill>
                          <a:effectLst/>
                          <a:latin typeface="Arial" panose="020B0604020202020204" pitchFamily="34" charset="0"/>
                          <a:cs typeface="Arial" panose="020B0604020202020204" pitchFamily="34" charset="0"/>
                        </a:rPr>
                        <a:t> </a:t>
                      </a:r>
                      <a:endParaRPr lang="en-IN" sz="14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b">
                    <a:solidFill>
                      <a:schemeClr val="bg2"/>
                    </a:solidFill>
                  </a:tcPr>
                </a:tc>
              </a:tr>
              <a:tr h="313515">
                <a:tc>
                  <a:txBody>
                    <a:bodyPr/>
                    <a:lstStyle/>
                    <a:p>
                      <a:pPr algn="ctr" fontAlgn="b"/>
                      <a:r>
                        <a:rPr lang="en-IN" sz="1400" b="1" u="none" strike="noStrike">
                          <a:solidFill>
                            <a:schemeClr val="tx1"/>
                          </a:solidFill>
                          <a:effectLst/>
                          <a:latin typeface="Arial" panose="020B0604020202020204" pitchFamily="34" charset="0"/>
                          <a:cs typeface="Arial" panose="020B0604020202020204" pitchFamily="34" charset="0"/>
                        </a:rPr>
                        <a:t>Net Amount</a:t>
                      </a:r>
                      <a:endParaRPr lang="en-IN" sz="1400" b="1"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b">
                    <a:solidFill>
                      <a:schemeClr val="bg2"/>
                    </a:solidFill>
                  </a:tcPr>
                </a:tc>
                <a:tc>
                  <a:txBody>
                    <a:bodyPr/>
                    <a:lstStyle/>
                    <a:p>
                      <a:pPr algn="ctr" fontAlgn="b"/>
                      <a:r>
                        <a:rPr lang="en-IN" sz="1400" b="1" u="none" strike="noStrike" dirty="0">
                          <a:solidFill>
                            <a:schemeClr val="tx1"/>
                          </a:solidFill>
                          <a:effectLst/>
                          <a:latin typeface="Arial" panose="020B0604020202020204" pitchFamily="34" charset="0"/>
                          <a:cs typeface="Arial" panose="020B0604020202020204" pitchFamily="34" charset="0"/>
                        </a:rPr>
                        <a:t>213987.3153</a:t>
                      </a:r>
                      <a:endParaRPr lang="en-IN" sz="14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b">
                    <a:solidFill>
                      <a:schemeClr val="bg2"/>
                    </a:solidFill>
                  </a:tcPr>
                </a:tc>
              </a:tr>
            </a:tbl>
          </a:graphicData>
        </a:graphic>
      </p:graphicFrame>
      <p:sp>
        <p:nvSpPr>
          <p:cNvPr id="5" name="Title 1"/>
          <p:cNvSpPr>
            <a:spLocks noGrp="1"/>
          </p:cNvSpPr>
          <p:nvPr>
            <p:ph type="title"/>
          </p:nvPr>
        </p:nvSpPr>
        <p:spPr>
          <a:xfrm>
            <a:off x="713097" y="19050"/>
            <a:ext cx="10396882" cy="1151965"/>
          </a:xfrm>
        </p:spPr>
        <p:txBody>
          <a:bodyPr/>
          <a:lstStyle/>
          <a:p>
            <a:pPr algn="ctr"/>
            <a:r>
              <a:rPr lang="en-IN" sz="1600" dirty="0">
                <a:solidFill>
                  <a:srgbClr val="212529"/>
                </a:solidFill>
                <a:latin typeface="Calibri" panose="020F0502020204030204" pitchFamily="82" charset="0"/>
                <a:cs typeface="Arial" panose="020B0604020202020204" pitchFamily="34" charset="0"/>
              </a:rPr>
              <a:t>Data Overview</a:t>
            </a:r>
            <a:endParaRPr lang="en-IN" sz="1600" dirty="0">
              <a:solidFill>
                <a:srgbClr val="212529"/>
              </a:solidFill>
              <a:latin typeface="Calibri" panose="020F0502020204030204" pitchFamily="82" charset="0"/>
              <a:cs typeface="Arial" panose="020B0604020202020204" pitchFamily="34" charset="0"/>
            </a:endParaRPr>
          </a:p>
        </p:txBody>
      </p:sp>
      <p:graphicFrame>
        <p:nvGraphicFramePr>
          <p:cNvPr id="6" name="Table 5"/>
          <p:cNvGraphicFramePr>
            <a:graphicFrameLocks noGrp="1"/>
          </p:cNvGraphicFramePr>
          <p:nvPr/>
        </p:nvGraphicFramePr>
        <p:xfrm>
          <a:off x="8393374" y="4412210"/>
          <a:ext cx="2795657" cy="1156077"/>
        </p:xfrm>
        <a:graphic>
          <a:graphicData uri="http://schemas.openxmlformats.org/drawingml/2006/table">
            <a:tbl>
              <a:tblPr>
                <a:tableStyleId>{F3CB1A70-E04F-4854-94BE-A2638B70E8BC}</a:tableStyleId>
              </a:tblPr>
              <a:tblGrid>
                <a:gridCol w="1119875"/>
                <a:gridCol w="1675782"/>
              </a:tblGrid>
              <a:tr h="298251">
                <a:tc>
                  <a:txBody>
                    <a:bodyPr/>
                    <a:lstStyle/>
                    <a:p>
                      <a:pPr algn="ctr" fontAlgn="b"/>
                      <a:r>
                        <a:rPr lang="en-IN" sz="1400" b="1" u="none" strike="noStrike" dirty="0">
                          <a:solidFill>
                            <a:schemeClr val="tx1"/>
                          </a:solidFill>
                          <a:effectLst/>
                          <a:latin typeface="Arial" panose="020B0604020202020204" pitchFamily="34" charset="0"/>
                          <a:cs typeface="Arial" panose="020B0604020202020204" pitchFamily="34" charset="0"/>
                        </a:rPr>
                        <a:t>Total Chat</a:t>
                      </a:r>
                      <a:endParaRPr lang="en-IN" sz="14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latin typeface="Arial" panose="020B0604020202020204" pitchFamily="34" charset="0"/>
                          <a:cs typeface="Arial" panose="020B0604020202020204" pitchFamily="34" charset="0"/>
                        </a:rPr>
                        <a:t>19514</a:t>
                      </a:r>
                      <a:endParaRPr lang="en-IN" sz="1400" b="1"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b">
                    <a:solidFill>
                      <a:schemeClr val="bg2"/>
                    </a:solidFill>
                  </a:tcPr>
                </a:tc>
              </a:tr>
              <a:tr h="298251">
                <a:tc>
                  <a:txBody>
                    <a:bodyPr/>
                    <a:lstStyle/>
                    <a:p>
                      <a:pPr algn="ctr" fontAlgn="b"/>
                      <a:r>
                        <a:rPr lang="en-IN" sz="1400" b="1" u="none" strike="noStrike" dirty="0">
                          <a:solidFill>
                            <a:schemeClr val="tx1"/>
                          </a:solidFill>
                          <a:effectLst/>
                          <a:latin typeface="Arial" panose="020B0604020202020204" pitchFamily="34" charset="0"/>
                          <a:cs typeface="Arial" panose="020B0604020202020204" pitchFamily="34" charset="0"/>
                        </a:rPr>
                        <a:t> </a:t>
                      </a:r>
                      <a:endParaRPr lang="en-IN" sz="14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latin typeface="Arial" panose="020B0604020202020204" pitchFamily="34" charset="0"/>
                          <a:cs typeface="Arial" panose="020B0604020202020204" pitchFamily="34" charset="0"/>
                        </a:rPr>
                        <a:t> </a:t>
                      </a:r>
                      <a:endParaRPr lang="en-IN" sz="1400" b="1"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b">
                    <a:solidFill>
                      <a:schemeClr val="bg2"/>
                    </a:solidFill>
                  </a:tcPr>
                </a:tc>
              </a:tr>
              <a:tr h="559575">
                <a:tc>
                  <a:txBody>
                    <a:bodyPr/>
                    <a:lstStyle/>
                    <a:p>
                      <a:pPr algn="ctr" fontAlgn="b"/>
                      <a:r>
                        <a:rPr lang="en-IN" sz="1400" b="1" u="none" strike="noStrike">
                          <a:solidFill>
                            <a:schemeClr val="tx1"/>
                          </a:solidFill>
                          <a:effectLst/>
                          <a:latin typeface="Arial" panose="020B0604020202020204" pitchFamily="34" charset="0"/>
                          <a:cs typeface="Arial" panose="020B0604020202020204" pitchFamily="34" charset="0"/>
                        </a:rPr>
                        <a:t>Net Amount (Chat)</a:t>
                      </a:r>
                      <a:endParaRPr lang="en-IN" sz="1400" b="1"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b">
                    <a:solidFill>
                      <a:schemeClr val="bg2"/>
                    </a:solidFill>
                  </a:tcPr>
                </a:tc>
                <a:tc>
                  <a:txBody>
                    <a:bodyPr/>
                    <a:lstStyle/>
                    <a:p>
                      <a:pPr algn="ctr" fontAlgn="b"/>
                      <a:r>
                        <a:rPr lang="en-IN" sz="1400" b="1" u="none" strike="noStrike" dirty="0">
                          <a:solidFill>
                            <a:schemeClr val="tx1"/>
                          </a:solidFill>
                          <a:effectLst/>
                          <a:latin typeface="Arial" panose="020B0604020202020204" pitchFamily="34" charset="0"/>
                          <a:cs typeface="Arial" panose="020B0604020202020204" pitchFamily="34" charset="0"/>
                        </a:rPr>
                        <a:t>45494.68333</a:t>
                      </a:r>
                      <a:endParaRPr lang="en-IN" sz="14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b">
                    <a:solidFill>
                      <a:schemeClr val="bg2"/>
                    </a:solidFill>
                  </a:tcPr>
                </a:tc>
              </a:tr>
            </a:tbl>
          </a:graphicData>
        </a:graphic>
      </p:graphicFrame>
      <p:graphicFrame>
        <p:nvGraphicFramePr>
          <p:cNvPr id="7" name="Table 6"/>
          <p:cNvGraphicFramePr>
            <a:graphicFrameLocks noGrp="1"/>
          </p:cNvGraphicFramePr>
          <p:nvPr/>
        </p:nvGraphicFramePr>
        <p:xfrm>
          <a:off x="8393374" y="2770495"/>
          <a:ext cx="2795657" cy="1316153"/>
        </p:xfrm>
        <a:graphic>
          <a:graphicData uri="http://schemas.openxmlformats.org/drawingml/2006/table">
            <a:tbl>
              <a:tblPr>
                <a:tableStyleId>{F3CB1A70-E04F-4854-94BE-A2638B70E8BC}</a:tableStyleId>
              </a:tblPr>
              <a:tblGrid>
                <a:gridCol w="870442"/>
                <a:gridCol w="1925215"/>
              </a:tblGrid>
              <a:tr h="225560">
                <a:tc>
                  <a:txBody>
                    <a:bodyPr/>
                    <a:lstStyle/>
                    <a:p>
                      <a:pPr algn="ctr" fontAlgn="b"/>
                      <a:r>
                        <a:rPr lang="en-IN" sz="1400" b="1" u="none" strike="noStrike">
                          <a:solidFill>
                            <a:schemeClr val="tx1"/>
                          </a:solidFill>
                          <a:effectLst/>
                          <a:latin typeface="Arial" panose="020B0604020202020204" pitchFamily="34" charset="0"/>
                          <a:cs typeface="Arial" panose="020B0604020202020204" pitchFamily="34" charset="0"/>
                        </a:rPr>
                        <a:t>Total Calls</a:t>
                      </a:r>
                      <a:endParaRPr lang="en-IN" sz="1400" b="1"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latin typeface="Arial" panose="020B0604020202020204" pitchFamily="34" charset="0"/>
                          <a:cs typeface="Arial" panose="020B0604020202020204" pitchFamily="34" charset="0"/>
                        </a:rPr>
                        <a:t>8508</a:t>
                      </a:r>
                      <a:endParaRPr lang="en-IN" sz="1400" b="1"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b">
                    <a:solidFill>
                      <a:schemeClr val="bg2"/>
                    </a:solidFill>
                  </a:tcPr>
                </a:tc>
              </a:tr>
              <a:tr h="225560">
                <a:tc>
                  <a:txBody>
                    <a:bodyPr/>
                    <a:lstStyle/>
                    <a:p>
                      <a:pPr algn="ctr" fontAlgn="b"/>
                      <a:r>
                        <a:rPr lang="en-IN" sz="1400" b="1" u="none" strike="noStrike" dirty="0">
                          <a:solidFill>
                            <a:schemeClr val="tx1"/>
                          </a:solidFill>
                          <a:effectLst/>
                          <a:latin typeface="Arial" panose="020B0604020202020204" pitchFamily="34" charset="0"/>
                          <a:cs typeface="Arial" panose="020B0604020202020204" pitchFamily="34" charset="0"/>
                        </a:rPr>
                        <a:t> </a:t>
                      </a:r>
                      <a:endParaRPr lang="en-IN" sz="14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b">
                    <a:solidFill>
                      <a:schemeClr val="bg2"/>
                    </a:solidFill>
                  </a:tcPr>
                </a:tc>
                <a:tc>
                  <a:txBody>
                    <a:bodyPr/>
                    <a:lstStyle/>
                    <a:p>
                      <a:pPr algn="ctr" fontAlgn="b"/>
                      <a:r>
                        <a:rPr lang="en-IN" sz="1400" b="1" u="none" strike="noStrike" dirty="0">
                          <a:solidFill>
                            <a:schemeClr val="tx1"/>
                          </a:solidFill>
                          <a:effectLst/>
                          <a:latin typeface="Arial" panose="020B0604020202020204" pitchFamily="34" charset="0"/>
                          <a:cs typeface="Arial" panose="020B0604020202020204" pitchFamily="34" charset="0"/>
                        </a:rPr>
                        <a:t> </a:t>
                      </a:r>
                      <a:endParaRPr lang="en-IN" sz="14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b">
                    <a:solidFill>
                      <a:schemeClr val="bg2"/>
                    </a:solidFill>
                  </a:tcPr>
                </a:tc>
              </a:tr>
              <a:tr h="654348">
                <a:tc>
                  <a:txBody>
                    <a:bodyPr/>
                    <a:lstStyle/>
                    <a:p>
                      <a:pPr algn="ctr" fontAlgn="b"/>
                      <a:r>
                        <a:rPr lang="en-IN" sz="1400" b="1" u="none" strike="noStrike" dirty="0">
                          <a:solidFill>
                            <a:schemeClr val="tx1"/>
                          </a:solidFill>
                          <a:effectLst/>
                          <a:latin typeface="Arial" panose="020B0604020202020204" pitchFamily="34" charset="0"/>
                          <a:cs typeface="Arial" panose="020B0604020202020204" pitchFamily="34" charset="0"/>
                        </a:rPr>
                        <a:t>Net Amount (Call)</a:t>
                      </a:r>
                      <a:endParaRPr lang="en-IN" sz="14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b">
                    <a:solidFill>
                      <a:schemeClr val="bg2"/>
                    </a:solidFill>
                  </a:tcPr>
                </a:tc>
                <a:tc>
                  <a:txBody>
                    <a:bodyPr/>
                    <a:lstStyle/>
                    <a:p>
                      <a:pPr algn="ctr" fontAlgn="b"/>
                      <a:r>
                        <a:rPr lang="en-IN" sz="1400" b="1" u="none" strike="noStrike" dirty="0">
                          <a:solidFill>
                            <a:schemeClr val="tx1"/>
                          </a:solidFill>
                          <a:effectLst/>
                          <a:latin typeface="Arial" panose="020B0604020202020204" pitchFamily="34" charset="0"/>
                          <a:cs typeface="Arial" panose="020B0604020202020204" pitchFamily="34" charset="0"/>
                        </a:rPr>
                        <a:t>168442.035</a:t>
                      </a:r>
                      <a:endParaRPr lang="en-IN" sz="14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b">
                    <a:solidFill>
                      <a:schemeClr val="bg2"/>
                    </a:solidFill>
                  </a:tcPr>
                </a:tc>
              </a:tr>
            </a:tbl>
          </a:graphicData>
        </a:graphic>
      </p:graphicFrame>
      <p:sp>
        <p:nvSpPr>
          <p:cNvPr id="8" name="TextBox 7"/>
          <p:cNvSpPr txBox="1"/>
          <p:nvPr/>
        </p:nvSpPr>
        <p:spPr>
          <a:xfrm>
            <a:off x="1018814" y="844188"/>
            <a:ext cx="6432863" cy="307777"/>
          </a:xfrm>
          <a:prstGeom prst="rect">
            <a:avLst/>
          </a:prstGeom>
          <a:noFill/>
        </p:spPr>
        <p:txBody>
          <a:bodyPr wrap="square" rtlCol="0">
            <a:spAutoFit/>
          </a:bodyPr>
          <a:lstStyle/>
          <a:p>
            <a:r>
              <a:rPr lang="en-IN" sz="1600" dirty="0" smtClean="0">
                <a:solidFill>
                  <a:srgbClr val="212529"/>
                </a:solidFill>
                <a:latin typeface="Calibri" panose="020F0502020204030204"/>
              </a:rPr>
              <a:t>Top 10 Guru on Call , Chat Duration (minute) , Earning and Rating</a:t>
            </a:r>
            <a:endParaRPr lang="en-IN" sz="1400" dirty="0"/>
          </a:p>
        </p:txBody>
      </p:sp>
      <p:graphicFrame>
        <p:nvGraphicFramePr>
          <p:cNvPr id="9" name="Table 8"/>
          <p:cNvGraphicFramePr>
            <a:graphicFrameLocks noGrp="1"/>
          </p:cNvGraphicFramePr>
          <p:nvPr/>
        </p:nvGraphicFramePr>
        <p:xfrm>
          <a:off x="1108414" y="1121977"/>
          <a:ext cx="6746762" cy="5012055"/>
        </p:xfrm>
        <a:graphic>
          <a:graphicData uri="http://schemas.openxmlformats.org/drawingml/2006/table">
            <a:tbl>
              <a:tblPr>
                <a:tableStyleId>{F3CB1A70-E04F-4854-94BE-A2638B70E8BC}</a:tableStyleId>
              </a:tblPr>
              <a:tblGrid>
                <a:gridCol w="1298292"/>
                <a:gridCol w="1942768"/>
                <a:gridCol w="1432170"/>
                <a:gridCol w="775240"/>
                <a:gridCol w="1298292"/>
              </a:tblGrid>
              <a:tr h="818039">
                <a:tc>
                  <a:txBody>
                    <a:bodyPr/>
                    <a:lstStyle/>
                    <a:p>
                      <a:pPr algn="ctr" fontAlgn="b"/>
                      <a:r>
                        <a:rPr lang="en-IN" sz="1400" b="1" u="none" strike="noStrike">
                          <a:solidFill>
                            <a:schemeClr val="tx1"/>
                          </a:solidFill>
                          <a:effectLst/>
                        </a:rPr>
                        <a:t>Guru Name</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dirty="0">
                          <a:solidFill>
                            <a:schemeClr val="tx1"/>
                          </a:solidFill>
                          <a:effectLst/>
                        </a:rPr>
                        <a:t>Sum of Call time Duration ( Minute )</a:t>
                      </a:r>
                      <a:endParaRPr lang="en-IN" sz="1400" b="1" i="0" u="none" strike="noStrike" dirty="0">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Sum of Chat Duartion ( Minute )</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dirty="0">
                          <a:solidFill>
                            <a:schemeClr val="tx1"/>
                          </a:solidFill>
                          <a:effectLst/>
                        </a:rPr>
                        <a:t>Sum of Astrologers Earnings</a:t>
                      </a:r>
                      <a:endParaRPr lang="en-IN" sz="1400" b="1" i="0" u="none" strike="noStrike" dirty="0">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Average of rating</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r>
              <a:tr h="413534">
                <a:tc>
                  <a:txBody>
                    <a:bodyPr/>
                    <a:lstStyle/>
                    <a:p>
                      <a:pPr algn="ctr" fontAlgn="b"/>
                      <a:r>
                        <a:rPr lang="en-IN" sz="1400" b="1" u="none" strike="noStrike" dirty="0">
                          <a:solidFill>
                            <a:schemeClr val="tx1"/>
                          </a:solidFill>
                          <a:effectLst/>
                        </a:rPr>
                        <a:t>Astro </a:t>
                      </a:r>
                      <a:r>
                        <a:rPr lang="en-IN" sz="1400" b="1" u="none" strike="noStrike" dirty="0" err="1">
                          <a:solidFill>
                            <a:schemeClr val="tx1"/>
                          </a:solidFill>
                          <a:effectLst/>
                        </a:rPr>
                        <a:t>Divya</a:t>
                      </a:r>
                      <a:endParaRPr lang="en-IN" sz="1400" b="1" i="0" u="none" strike="noStrike" dirty="0">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dirty="0">
                          <a:solidFill>
                            <a:schemeClr val="tx1"/>
                          </a:solidFill>
                          <a:effectLst/>
                        </a:rPr>
                        <a:t>2358.846</a:t>
                      </a:r>
                      <a:endParaRPr lang="en-IN" sz="1400" b="1" i="0" u="none" strike="noStrike" dirty="0">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4551</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3696.9853</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3.479166667</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r>
              <a:tr h="413534">
                <a:tc>
                  <a:txBody>
                    <a:bodyPr/>
                    <a:lstStyle/>
                    <a:p>
                      <a:pPr algn="ctr" fontAlgn="b"/>
                      <a:r>
                        <a:rPr lang="en-IN" sz="1400" b="1" u="none" strike="noStrike">
                          <a:solidFill>
                            <a:schemeClr val="tx1"/>
                          </a:solidFill>
                          <a:effectLst/>
                        </a:rPr>
                        <a:t>Astro Ruchi</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2252.6342</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2737</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10274.658</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4.442728443</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r>
              <a:tr h="413534">
                <a:tc>
                  <a:txBody>
                    <a:bodyPr/>
                    <a:lstStyle/>
                    <a:p>
                      <a:pPr algn="ctr" fontAlgn="b"/>
                      <a:r>
                        <a:rPr lang="en-IN" sz="1400" b="1" u="none" strike="noStrike">
                          <a:solidFill>
                            <a:schemeClr val="tx1"/>
                          </a:solidFill>
                          <a:effectLst/>
                        </a:rPr>
                        <a:t>Astro Seema</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1531.569</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2552</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2690.8173</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3.398347107</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r>
              <a:tr h="413534">
                <a:tc>
                  <a:txBody>
                    <a:bodyPr/>
                    <a:lstStyle/>
                    <a:p>
                      <a:pPr algn="ctr" fontAlgn="b"/>
                      <a:r>
                        <a:rPr lang="en-IN" sz="1400" b="1" u="none" strike="noStrike">
                          <a:solidFill>
                            <a:schemeClr val="tx1"/>
                          </a:solidFill>
                          <a:effectLst/>
                        </a:rPr>
                        <a:t>Astro Shalini</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2948.3075</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1685</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6807.6067</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3.417108251</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r>
              <a:tr h="413534">
                <a:tc>
                  <a:txBody>
                    <a:bodyPr/>
                    <a:lstStyle/>
                    <a:p>
                      <a:pPr algn="ctr" fontAlgn="b"/>
                      <a:r>
                        <a:rPr lang="en-IN" sz="1400" b="1" u="none" strike="noStrike">
                          <a:solidFill>
                            <a:schemeClr val="tx1"/>
                          </a:solidFill>
                          <a:effectLst/>
                        </a:rPr>
                        <a:t>Astro Sonam S</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1978.9112</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3180</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2907.4947</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3.719414894</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r>
              <a:tr h="413534">
                <a:tc>
                  <a:txBody>
                    <a:bodyPr/>
                    <a:lstStyle/>
                    <a:p>
                      <a:pPr algn="ctr" fontAlgn="b"/>
                      <a:r>
                        <a:rPr lang="en-IN" sz="1400" b="1" u="none" strike="noStrike">
                          <a:solidFill>
                            <a:schemeClr val="tx1"/>
                          </a:solidFill>
                          <a:effectLst/>
                        </a:rPr>
                        <a:t>Dr Balkrisna</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1323.6726</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1898</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15910.208</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2.593886463</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r>
              <a:tr h="413534">
                <a:tc>
                  <a:txBody>
                    <a:bodyPr/>
                    <a:lstStyle/>
                    <a:p>
                      <a:pPr algn="ctr" fontAlgn="b"/>
                      <a:r>
                        <a:rPr lang="en-IN" sz="1400" b="1" u="none" strike="noStrike">
                          <a:solidFill>
                            <a:schemeClr val="tx1"/>
                          </a:solidFill>
                          <a:effectLst/>
                        </a:rPr>
                        <a:t>Tarot Ari</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1085.7309</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1203</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2222.5587</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3.854166667</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r>
              <a:tr h="413534">
                <a:tc>
                  <a:txBody>
                    <a:bodyPr/>
                    <a:lstStyle/>
                    <a:p>
                      <a:pPr algn="ctr" fontAlgn="b"/>
                      <a:r>
                        <a:rPr lang="en-IN" sz="1400" b="1" u="none" strike="noStrike">
                          <a:solidFill>
                            <a:schemeClr val="tx1"/>
                          </a:solidFill>
                          <a:effectLst/>
                        </a:rPr>
                        <a:t>Tarot Bee Riya</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359.5957</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2801</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2178.7125</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2.36204576</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r>
              <a:tr h="211282">
                <a:tc>
                  <a:txBody>
                    <a:bodyPr/>
                    <a:lstStyle/>
                    <a:p>
                      <a:pPr algn="ctr" fontAlgn="b"/>
                      <a:r>
                        <a:rPr lang="en-IN" sz="1400" b="1" u="none" strike="noStrike">
                          <a:solidFill>
                            <a:schemeClr val="tx1"/>
                          </a:solidFill>
                          <a:effectLst/>
                        </a:rPr>
                        <a:t>Tarot Rupika</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936.616</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2031</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2198.75</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2.846560847</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r>
              <a:tr h="413534">
                <a:tc>
                  <a:txBody>
                    <a:bodyPr/>
                    <a:lstStyle/>
                    <a:p>
                      <a:pPr algn="ctr" fontAlgn="b"/>
                      <a:r>
                        <a:rPr lang="en-IN" sz="1400" b="1" u="none" strike="noStrike">
                          <a:solidFill>
                            <a:schemeClr val="tx1"/>
                          </a:solidFill>
                          <a:effectLst/>
                        </a:rPr>
                        <a:t>Usha Siingh</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dirty="0">
                          <a:solidFill>
                            <a:schemeClr val="tx1"/>
                          </a:solidFill>
                          <a:effectLst/>
                        </a:rPr>
                        <a:t>186.8486</a:t>
                      </a:r>
                      <a:endParaRPr lang="en-IN" sz="1400" b="1" i="0" u="none" strike="noStrike" dirty="0">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520</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a:solidFill>
                            <a:schemeClr val="tx1"/>
                          </a:solidFill>
                          <a:effectLst/>
                        </a:rPr>
                        <a:t>2870.2667</a:t>
                      </a:r>
                      <a:endParaRPr lang="en-IN" sz="1400" b="1" i="0" u="none" strike="noStrike">
                        <a:solidFill>
                          <a:schemeClr val="tx1"/>
                        </a:solidFill>
                        <a:effectLst/>
                        <a:latin typeface="Rockwell" panose="02060603020205020403" pitchFamily="18" charset="0"/>
                      </a:endParaRPr>
                    </a:p>
                  </a:txBody>
                  <a:tcPr marL="9525" marR="9525" marT="9525" marB="0" anchor="b">
                    <a:solidFill>
                      <a:schemeClr val="bg2"/>
                    </a:solidFill>
                  </a:tcPr>
                </a:tc>
                <a:tc>
                  <a:txBody>
                    <a:bodyPr/>
                    <a:lstStyle/>
                    <a:p>
                      <a:pPr algn="ctr" fontAlgn="b"/>
                      <a:r>
                        <a:rPr lang="en-IN" sz="1400" b="1" u="none" strike="noStrike" dirty="0">
                          <a:solidFill>
                            <a:schemeClr val="tx1"/>
                          </a:solidFill>
                          <a:effectLst/>
                        </a:rPr>
                        <a:t>2.15</a:t>
                      </a:r>
                      <a:endParaRPr lang="en-IN" sz="1400" b="1" i="0" u="none" strike="noStrike" dirty="0">
                        <a:solidFill>
                          <a:schemeClr val="tx1"/>
                        </a:solidFill>
                        <a:effectLst/>
                        <a:latin typeface="Rockwell" panose="02060603020205020403" pitchFamily="18" charset="0"/>
                      </a:endParaRPr>
                    </a:p>
                  </a:txBody>
                  <a:tcPr marL="9525" marR="9525" marT="9525" marB="0" anchor="b">
                    <a:solidFill>
                      <a:schemeClr val="bg2"/>
                    </a:solidFill>
                  </a:tcPr>
                </a:tc>
              </a:tr>
            </a:tbl>
          </a:graphicData>
        </a:graphic>
      </p:graphicFrame>
      <p:sp>
        <p:nvSpPr>
          <p:cNvPr id="10" name="Rectangle 9"/>
          <p:cNvSpPr/>
          <p:nvPr/>
        </p:nvSpPr>
        <p:spPr>
          <a:xfrm>
            <a:off x="0" y="0"/>
            <a:ext cx="12192000" cy="320040"/>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20040"/>
            <a:ext cx="164592" cy="6858000"/>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492240"/>
            <a:ext cx="309880" cy="245110"/>
          </a:xfrm>
          <a:prstGeom prst="rect">
            <a:avLst/>
          </a:prstGeom>
          <a:noFill/>
        </p:spPr>
        <p:txBody>
          <a:bodyPr wrap="none">
            <a:spAutoFit/>
          </a:bodyPr>
          <a:lstStyle/>
          <a:p>
            <a:pPr algn="l">
              <a:defRPr sz="1000" b="1">
                <a:solidFill>
                  <a:srgbClr val="5A5A5A"/>
                </a:solidFill>
              </a:defRPr>
            </a:p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95066" y="17064"/>
            <a:ext cx="11296934" cy="678976"/>
          </a:xfrm>
        </p:spPr>
        <p:txBody>
          <a:bodyPr>
            <a:noAutofit/>
          </a:bodyPr>
          <a:lstStyle/>
          <a:p>
            <a:r>
              <a:rPr lang="en-IN" sz="1600" b="1" dirty="0" smtClean="0">
                <a:solidFill>
                  <a:srgbClr val="212529"/>
                </a:solidFill>
                <a:latin typeface="Calibri" panose="020F0502020204030204" pitchFamily="82" charset="0"/>
                <a:cs typeface="Arial" panose="020B0604020202020204" pitchFamily="34" charset="0"/>
              </a:rPr>
              <a:t>Data cleaning and analysis or </a:t>
            </a:r>
            <a:r>
              <a:rPr lang="en-IN" sz="1600" b="1" dirty="0" err="1" smtClean="0">
                <a:solidFill>
                  <a:srgbClr val="212529"/>
                </a:solidFill>
                <a:latin typeface="Calibri" panose="020F0502020204030204" pitchFamily="82" charset="0"/>
                <a:cs typeface="Arial" panose="020B0604020202020204" pitchFamily="34" charset="0"/>
              </a:rPr>
              <a:t>methology</a:t>
            </a:r>
            <a:endParaRPr lang="en-IN" sz="3600" b="1" dirty="0">
              <a:latin typeface="Arial" panose="020B0604020202020204" pitchFamily="34" charset="0"/>
              <a:cs typeface="Arial" panose="020B0604020202020204" pitchFamily="34" charset="0"/>
            </a:endParaRPr>
          </a:p>
        </p:txBody>
      </p:sp>
      <p:sp>
        <p:nvSpPr>
          <p:cNvPr id="4" name="Rectangle 3"/>
          <p:cNvSpPr/>
          <p:nvPr/>
        </p:nvSpPr>
        <p:spPr>
          <a:xfrm>
            <a:off x="522028" y="999691"/>
            <a:ext cx="4081567" cy="523220"/>
          </a:xfrm>
          <a:prstGeom prst="rect">
            <a:avLst/>
          </a:prstGeom>
        </p:spPr>
        <p:txBody>
          <a:bodyPr wrap="none">
            <a:spAutoFit/>
          </a:bodyPr>
          <a:lstStyle/>
          <a:p>
            <a:r>
              <a:rPr lang="en-IN" sz="1600" b="1" dirty="0">
                <a:solidFill>
                  <a:srgbClr val="212529"/>
                </a:solidFill>
                <a:latin typeface="Calibri" panose="020F0502020204030204" pitchFamily="82" charset="0"/>
                <a:cs typeface="Arial" panose="020B0604020202020204" pitchFamily="34" charset="0"/>
              </a:rPr>
              <a:t>Data Cleaning Process</a:t>
            </a:r>
            <a:endParaRPr lang="en-IN" sz="1600" b="1" dirty="0">
              <a:solidFill>
                <a:srgbClr val="212529"/>
              </a:solidFill>
              <a:latin typeface="Calibri" panose="020F0502020204030204" pitchFamily="82" charset="0"/>
              <a:cs typeface="Arial" panose="020B0604020202020204" pitchFamily="34" charset="0"/>
            </a:endParaRPr>
          </a:p>
        </p:txBody>
      </p:sp>
      <p:sp>
        <p:nvSpPr>
          <p:cNvPr id="5" name="Rectangle 1"/>
          <p:cNvSpPr>
            <a:spLocks noChangeArrowheads="1"/>
          </p:cNvSpPr>
          <p:nvPr/>
        </p:nvSpPr>
        <p:spPr bwMode="auto">
          <a:xfrm>
            <a:off x="522028" y="1744680"/>
            <a:ext cx="426833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smtClean="0">
                <a:ln>
                  <a:noFill/>
                </a:ln>
                <a:solidFill>
                  <a:srgbClr val="212529"/>
                </a:solidFill>
                <a:effectLst/>
                <a:latin typeface="Calibri" panose="020F0502020204030204" pitchFamily="82" charset="0"/>
              </a:rPr>
              <a:t>Data Inspection</a:t>
            </a:r>
            <a:r>
              <a:rPr kumimoji="0" lang="en-US" altLang="en-US" sz="1600" b="0" i="0" u="none" strike="noStrike" cap="none" normalizeH="0" baseline="0" dirty="0" smtClean="0">
                <a:ln>
                  <a:noFill/>
                </a:ln>
                <a:solidFill>
                  <a:srgbClr val="212529"/>
                </a:solidFill>
                <a:effectLst/>
                <a:latin typeface="Calibri" panose="020F0502020204030204" pitchFamily="82" charset="0"/>
              </a:rPr>
              <a:t>: Review data for completeness and accuracy. </a:t>
            </a:r>
            <a:endParaRPr kumimoji="0" lang="en-US" altLang="en-US" sz="1600" b="0" i="0" u="none" strike="noStrike" cap="none" normalizeH="0" baseline="0" dirty="0" smtClean="0">
              <a:ln>
                <a:noFill/>
              </a:ln>
              <a:solidFill>
                <a:srgbClr val="212529"/>
              </a:solidFill>
              <a:effectLst/>
              <a:latin typeface="Calibri" panose="020F0502020204030204" pitchFamily="82"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smtClean="0">
                <a:ln>
                  <a:noFill/>
                </a:ln>
                <a:solidFill>
                  <a:srgbClr val="212529"/>
                </a:solidFill>
                <a:effectLst/>
                <a:latin typeface="Calibri" panose="020F0502020204030204" pitchFamily="82" charset="0"/>
              </a:rPr>
              <a:t>Handling Missing Values</a:t>
            </a:r>
            <a:r>
              <a:rPr kumimoji="0" lang="en-US" altLang="en-US" sz="1600" b="0" i="0" u="none" strike="noStrike" cap="none" normalizeH="0" baseline="0" dirty="0" smtClean="0">
                <a:ln>
                  <a:noFill/>
                </a:ln>
                <a:solidFill>
                  <a:srgbClr val="212529"/>
                </a:solidFill>
                <a:effectLst/>
                <a:latin typeface="Calibri" panose="020F0502020204030204" pitchFamily="82" charset="0"/>
              </a:rPr>
              <a:t>: </a:t>
            </a:r>
            <a:endParaRPr kumimoji="0" lang="en-US" altLang="en-US" sz="1600" b="0" i="0" u="none" strike="noStrike" cap="none" normalizeH="0" baseline="0" dirty="0" smtClean="0">
              <a:ln>
                <a:noFill/>
              </a:ln>
              <a:solidFill>
                <a:srgbClr val="212529"/>
              </a:solidFill>
              <a:effectLst/>
              <a:latin typeface="Calibri" panose="020F0502020204030204" pitchFamily="82"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smtClean="0">
                <a:ln>
                  <a:noFill/>
                </a:ln>
                <a:solidFill>
                  <a:srgbClr val="212529"/>
                </a:solidFill>
                <a:effectLst/>
                <a:latin typeface="Calibri" panose="020F0502020204030204" pitchFamily="82" charset="0"/>
              </a:rPr>
              <a:t>Imputation (Not</a:t>
            </a:r>
            <a:r>
              <a:rPr kumimoji="0" lang="en-US" altLang="en-US" sz="1600" b="0" i="0" u="none" strike="noStrike" cap="none" normalizeH="0" dirty="0" smtClean="0">
                <a:ln>
                  <a:noFill/>
                </a:ln>
                <a:solidFill>
                  <a:srgbClr val="212529"/>
                </a:solidFill>
                <a:effectLst/>
                <a:latin typeface="Calibri" panose="020F0502020204030204" pitchFamily="82" charset="0"/>
              </a:rPr>
              <a:t> available (N/A), and ‘0’</a:t>
            </a:r>
            <a:r>
              <a:rPr kumimoji="0" lang="en-US" altLang="en-US" sz="1600" b="0" i="0" u="none" strike="noStrike" cap="none" normalizeH="0" baseline="0" dirty="0" smtClean="0">
                <a:ln>
                  <a:noFill/>
                </a:ln>
                <a:solidFill>
                  <a:srgbClr val="212529"/>
                </a:solidFill>
                <a:effectLst/>
                <a:latin typeface="Calibri" panose="020F0502020204030204" pitchFamily="82" charset="0"/>
              </a:rPr>
              <a:t>)</a:t>
            </a:r>
            <a:endParaRPr kumimoji="0" lang="en-US" altLang="en-US" sz="1600" b="0" i="0" u="none" strike="noStrike" cap="none" normalizeH="0" baseline="0" dirty="0" smtClean="0">
              <a:ln>
                <a:noFill/>
              </a:ln>
              <a:solidFill>
                <a:srgbClr val="212529"/>
              </a:solidFill>
              <a:effectLst/>
              <a:latin typeface="Calibri" panose="020F0502020204030204" pitchFamily="82"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smtClean="0">
                <a:ln>
                  <a:noFill/>
                </a:ln>
                <a:solidFill>
                  <a:srgbClr val="212529"/>
                </a:solidFill>
                <a:effectLst/>
                <a:latin typeface="Calibri" panose="020F0502020204030204" pitchFamily="82" charset="0"/>
              </a:rPr>
              <a:t>Removing Duplicates</a:t>
            </a:r>
            <a:r>
              <a:rPr kumimoji="0" lang="en-US" altLang="en-US" sz="1600" b="0" i="0" u="none" strike="noStrike" cap="none" normalizeH="0" baseline="0" dirty="0" smtClean="0">
                <a:ln>
                  <a:noFill/>
                </a:ln>
                <a:solidFill>
                  <a:srgbClr val="212529"/>
                </a:solidFill>
                <a:effectLst/>
                <a:latin typeface="Calibri" panose="020F0502020204030204" pitchFamily="82" charset="0"/>
              </a:rPr>
              <a:t>: Identify and eliminate duplicate entries. </a:t>
            </a:r>
            <a:endParaRPr kumimoji="0" lang="en-US" altLang="en-US" sz="1600" b="0" i="0" u="none" strike="noStrike" cap="none" normalizeH="0" baseline="0" dirty="0" smtClean="0">
              <a:ln>
                <a:noFill/>
              </a:ln>
              <a:solidFill>
                <a:srgbClr val="212529"/>
              </a:solidFill>
              <a:effectLst/>
              <a:latin typeface="Calibri" panose="020F0502020204030204" pitchFamily="82" charset="0"/>
            </a:endParaRPr>
          </a:p>
          <a:p>
            <a:pPr marL="0" marR="0" lvl="0" indent="0" algn="l" defTabSz="914400" rtl="0" eaLnBrk="0" fontAlgn="base" latinLnBrk="0" hangingPunct="0">
              <a:lnSpc>
                <a:spcPct val="100000"/>
              </a:lnSpc>
              <a:spcBef>
                <a:spcPct val="0"/>
              </a:spcBef>
              <a:spcAft>
                <a:spcPct val="0"/>
              </a:spcAft>
              <a:buClrTx/>
              <a:buSzTx/>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smtClean="0">
                <a:ln>
                  <a:noFill/>
                </a:ln>
                <a:solidFill>
                  <a:srgbClr val="212529"/>
                </a:solidFill>
                <a:effectLst/>
                <a:latin typeface="Calibri" panose="020F0502020204030204" pitchFamily="82" charset="0"/>
              </a:rPr>
              <a:t>Standardization</a:t>
            </a:r>
            <a:r>
              <a:rPr kumimoji="0" lang="en-US" altLang="en-US" sz="1600" b="0" i="0" u="none" strike="noStrike" cap="none" normalizeH="0" baseline="0" dirty="0" smtClean="0">
                <a:ln>
                  <a:noFill/>
                </a:ln>
                <a:solidFill>
                  <a:srgbClr val="212529"/>
                </a:solidFill>
                <a:effectLst/>
                <a:latin typeface="Calibri" panose="020F0502020204030204" pitchFamily="82" charset="0"/>
              </a:rPr>
              <a:t>: Ensure consistent formatting (e.g., date formats, categorical variables). </a:t>
            </a:r>
            <a:endParaRPr kumimoji="0" lang="en-US" altLang="en-US" sz="1600" b="0" i="0" u="none" strike="noStrike" cap="none" normalizeH="0" baseline="0" dirty="0" smtClean="0">
              <a:ln>
                <a:noFill/>
              </a:ln>
              <a:solidFill>
                <a:srgbClr val="212529"/>
              </a:solidFill>
              <a:effectLst/>
              <a:latin typeface="Calibri" panose="020F0502020204030204" pitchFamily="82" charset="0"/>
            </a:endParaRPr>
          </a:p>
        </p:txBody>
      </p:sp>
      <p:cxnSp>
        <p:nvCxnSpPr>
          <p:cNvPr id="7" name="Straight Connector 6"/>
          <p:cNvCxnSpPr/>
          <p:nvPr/>
        </p:nvCxnSpPr>
        <p:spPr>
          <a:xfrm>
            <a:off x="4995081" y="1146412"/>
            <a:ext cx="13647" cy="4148919"/>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6171855" y="999691"/>
            <a:ext cx="4497321" cy="523220"/>
          </a:xfrm>
          <a:prstGeom prst="rect">
            <a:avLst/>
          </a:prstGeom>
        </p:spPr>
        <p:txBody>
          <a:bodyPr wrap="none">
            <a:spAutoFit/>
          </a:bodyPr>
          <a:lstStyle/>
          <a:p>
            <a:r>
              <a:rPr lang="en-IN" sz="1600" b="1" dirty="0">
                <a:solidFill>
                  <a:srgbClr val="212529"/>
                </a:solidFill>
                <a:latin typeface="Calibri" panose="020F0502020204030204" pitchFamily="82" charset="0"/>
                <a:cs typeface="Arial" panose="020B0604020202020204" pitchFamily="34" charset="0"/>
              </a:rPr>
              <a:t>Data</a:t>
            </a:r>
            <a:r>
              <a:rPr lang="en-IN" sz="1600" b="1" dirty="0">
                <a:solidFill>
                  <a:srgbClr val="212529"/>
                </a:solidFill>
                <a:latin typeface="Calibri" panose="020F0502020204030204"/>
              </a:rPr>
              <a:t> </a:t>
            </a:r>
            <a:r>
              <a:rPr lang="en-IN" sz="1600" b="1" dirty="0">
                <a:solidFill>
                  <a:srgbClr val="212529"/>
                </a:solidFill>
                <a:latin typeface="Calibri" panose="020F0502020204030204" pitchFamily="82" charset="0"/>
                <a:cs typeface="Arial" panose="020B0604020202020204" pitchFamily="34" charset="0"/>
              </a:rPr>
              <a:t>Analysis</a:t>
            </a:r>
            <a:r>
              <a:rPr lang="en-IN" sz="1600" b="1" dirty="0">
                <a:solidFill>
                  <a:srgbClr val="212529"/>
                </a:solidFill>
                <a:latin typeface="Calibri" panose="020F0502020204030204"/>
              </a:rPr>
              <a:t> </a:t>
            </a:r>
            <a:r>
              <a:rPr lang="en-IN" sz="1600" b="1" dirty="0">
                <a:solidFill>
                  <a:srgbClr val="212529"/>
                </a:solidFill>
                <a:latin typeface="Calibri" panose="020F0502020204030204" pitchFamily="82" charset="0"/>
                <a:cs typeface="Arial" panose="020B0604020202020204" pitchFamily="34" charset="0"/>
              </a:rPr>
              <a:t>Techniques</a:t>
            </a:r>
            <a:endParaRPr lang="en-IN" sz="1600" b="1" dirty="0">
              <a:solidFill>
                <a:srgbClr val="212529"/>
              </a:solidFill>
              <a:latin typeface="Calibri" panose="020F0502020204030204" pitchFamily="82" charset="0"/>
              <a:cs typeface="Arial" panose="020B0604020202020204" pitchFamily="34" charset="0"/>
            </a:endParaRPr>
          </a:p>
        </p:txBody>
      </p:sp>
      <p:sp>
        <p:nvSpPr>
          <p:cNvPr id="9" name="Rectangle 8"/>
          <p:cNvSpPr/>
          <p:nvPr/>
        </p:nvSpPr>
        <p:spPr>
          <a:xfrm>
            <a:off x="5400214" y="1733178"/>
            <a:ext cx="5704514" cy="2308324"/>
          </a:xfrm>
          <a:prstGeom prst="rect">
            <a:avLst/>
          </a:prstGeom>
        </p:spPr>
        <p:txBody>
          <a:bodyPr wrap="square">
            <a:spAutoFit/>
          </a:bodyPr>
          <a:lstStyle/>
          <a:p>
            <a:pPr>
              <a:buFont typeface="Arial" panose="020B0604020202020204" pitchFamily="34" charset="0"/>
              <a:buChar char="•"/>
            </a:pPr>
            <a:r>
              <a:rPr lang="en-IN" sz="1600" b="1" dirty="0">
                <a:solidFill>
                  <a:srgbClr val="212529"/>
                </a:solidFill>
                <a:latin typeface="Calibri" panose="020F0502020204030204" pitchFamily="82" charset="0"/>
                <a:cs typeface="Arial" panose="020B0604020202020204" pitchFamily="34" charset="0"/>
              </a:rPr>
              <a:t>Descriptive Analysis</a:t>
            </a:r>
            <a:r>
              <a:rPr lang="en-IN" sz="1600" dirty="0">
                <a:solidFill>
                  <a:srgbClr val="212529"/>
                </a:solidFill>
                <a:latin typeface="Calibri" panose="020F0502020204030204" pitchFamily="82" charset="0"/>
                <a:cs typeface="Arial" panose="020B0604020202020204" pitchFamily="34" charset="0"/>
              </a:rPr>
              <a:t>: Summarize historical data to understand trends and patterns</a:t>
            </a:r>
            <a:r>
              <a:rPr lang="en-IN" sz="1600" dirty="0" smtClean="0">
                <a:solidFill>
                  <a:srgbClr val="212529"/>
                </a:solidFill>
                <a:latin typeface="Calibri" panose="020F0502020204030204" pitchFamily="82" charset="0"/>
                <a:cs typeface="Arial" panose="020B0604020202020204" pitchFamily="34" charset="0"/>
              </a:rPr>
              <a:t>.</a:t>
            </a:r>
            <a:br>
              <a:rPr lang="en-IN" dirty="0" smtClean="0">
                <a:latin typeface="Arial" panose="020B0604020202020204" pitchFamily="34" charset="0"/>
                <a:cs typeface="Arial" panose="020B0604020202020204" pitchFamily="34" charset="0"/>
              </a:rPr>
            </a:br>
            <a:endParaRPr lang="en-IN" dirty="0">
              <a:latin typeface="Arial" panose="020B0604020202020204" pitchFamily="34" charset="0"/>
              <a:cs typeface="Arial" panose="020B0604020202020204" pitchFamily="34" charset="0"/>
            </a:endParaRPr>
          </a:p>
          <a:p>
            <a:pPr>
              <a:buFont typeface="Arial" panose="020B0604020202020204" pitchFamily="34" charset="0"/>
              <a:buChar char="•"/>
            </a:pPr>
            <a:r>
              <a:rPr lang="en-IN" sz="1600" b="1" dirty="0">
                <a:solidFill>
                  <a:srgbClr val="212529"/>
                </a:solidFill>
                <a:latin typeface="Calibri" panose="020F0502020204030204" pitchFamily="82" charset="0"/>
                <a:cs typeface="Arial" panose="020B0604020202020204" pitchFamily="34" charset="0"/>
              </a:rPr>
              <a:t>Predictive Analysis</a:t>
            </a:r>
            <a:r>
              <a:rPr lang="en-IN" sz="1600" dirty="0">
                <a:solidFill>
                  <a:srgbClr val="212529"/>
                </a:solidFill>
                <a:latin typeface="Calibri" panose="020F0502020204030204" pitchFamily="82" charset="0"/>
                <a:cs typeface="Arial" panose="020B0604020202020204" pitchFamily="34" charset="0"/>
              </a:rPr>
              <a:t>: Use statistical models to forecast future call volumes and customer </a:t>
            </a:r>
            <a:r>
              <a:rPr lang="en-IN" sz="1600" dirty="0" err="1">
                <a:solidFill>
                  <a:srgbClr val="212529"/>
                </a:solidFill>
                <a:latin typeface="Calibri" panose="020F0502020204030204" pitchFamily="82" charset="0"/>
                <a:cs typeface="Arial" panose="020B0604020202020204" pitchFamily="34" charset="0"/>
              </a:rPr>
              <a:t>behavior</a:t>
            </a:r>
            <a:r>
              <a:rPr lang="en-IN" sz="1600" dirty="0" smtClean="0">
                <a:solidFill>
                  <a:srgbClr val="212529"/>
                </a:solidFill>
                <a:latin typeface="Calibri" panose="020F0502020204030204" pitchFamily="82" charset="0"/>
                <a:cs typeface="Arial" panose="020B0604020202020204" pitchFamily="34" charset="0"/>
              </a:rPr>
              <a:t>.</a:t>
            </a:r>
            <a:br>
              <a:rPr lang="en-IN" dirty="0" smtClean="0">
                <a:latin typeface="Arial" panose="020B0604020202020204" pitchFamily="34" charset="0"/>
                <a:cs typeface="Arial" panose="020B0604020202020204" pitchFamily="34" charset="0"/>
              </a:rPr>
            </a:br>
            <a:endParaRPr lang="en-IN" dirty="0">
              <a:latin typeface="Arial" panose="020B0604020202020204" pitchFamily="34" charset="0"/>
              <a:cs typeface="Arial" panose="020B0604020202020204" pitchFamily="34" charset="0"/>
            </a:endParaRPr>
          </a:p>
          <a:p>
            <a:pPr>
              <a:buFont typeface="Arial" panose="020B0604020202020204" pitchFamily="34" charset="0"/>
              <a:buChar char="•"/>
            </a:pPr>
            <a:r>
              <a:rPr lang="en-IN" sz="1600" b="1" dirty="0">
                <a:solidFill>
                  <a:srgbClr val="212529"/>
                </a:solidFill>
                <a:latin typeface="Calibri" panose="020F0502020204030204" pitchFamily="82" charset="0"/>
                <a:cs typeface="Arial" panose="020B0604020202020204" pitchFamily="34" charset="0"/>
              </a:rPr>
              <a:t>Sentiment Analysis</a:t>
            </a:r>
            <a:r>
              <a:rPr lang="en-IN" sz="1600" dirty="0">
                <a:solidFill>
                  <a:srgbClr val="212529"/>
                </a:solidFill>
                <a:latin typeface="Calibri" panose="020F0502020204030204" pitchFamily="82" charset="0"/>
                <a:cs typeface="Arial" panose="020B0604020202020204" pitchFamily="34" charset="0"/>
              </a:rPr>
              <a:t>: </a:t>
            </a:r>
            <a:r>
              <a:rPr lang="en-IN" sz="1600" dirty="0" err="1">
                <a:solidFill>
                  <a:srgbClr val="212529"/>
                </a:solidFill>
                <a:latin typeface="Calibri" panose="020F0502020204030204" pitchFamily="82" charset="0"/>
                <a:cs typeface="Arial" panose="020B0604020202020204" pitchFamily="34" charset="0"/>
              </a:rPr>
              <a:t>Analyze</a:t>
            </a:r>
            <a:r>
              <a:rPr lang="en-IN" sz="1600" dirty="0">
                <a:solidFill>
                  <a:srgbClr val="212529"/>
                </a:solidFill>
                <a:latin typeface="Calibri" panose="020F0502020204030204" pitchFamily="82" charset="0"/>
                <a:cs typeface="Arial" panose="020B0604020202020204" pitchFamily="34" charset="0"/>
              </a:rPr>
              <a:t> customer feedback to gauge satisfaction levels.</a:t>
            </a:r>
            <a:endParaRPr lang="en-IN" sz="1600" dirty="0">
              <a:solidFill>
                <a:srgbClr val="212529"/>
              </a:solidFill>
              <a:latin typeface="Calibri" panose="020F0502020204030204" pitchFamily="82" charset="0"/>
              <a:cs typeface="Arial" panose="020B0604020202020204" pitchFamily="34" charset="0"/>
            </a:endParaRPr>
          </a:p>
        </p:txBody>
      </p:sp>
      <p:sp>
        <p:nvSpPr>
          <p:cNvPr id="10" name="Rectangle 9"/>
          <p:cNvSpPr/>
          <p:nvPr/>
        </p:nvSpPr>
        <p:spPr>
          <a:xfrm>
            <a:off x="0" y="0"/>
            <a:ext cx="12192000" cy="3200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20040"/>
            <a:ext cx="164592"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492240"/>
            <a:ext cx="309880" cy="245110"/>
          </a:xfrm>
          <a:prstGeom prst="rect">
            <a:avLst/>
          </a:prstGeom>
          <a:noFill/>
        </p:spPr>
        <p:txBody>
          <a:bodyPr wrap="none">
            <a:spAutoFit/>
          </a:bodyPr>
          <a:lstStyle/>
          <a:p>
            <a:pPr algn="l">
              <a:defRPr sz="1000" b="1">
                <a:solidFill>
                  <a:srgbClr val="5A5A5A"/>
                </a:solidFill>
              </a:defRPr>
            </a:p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28549" y="55323"/>
            <a:ext cx="7874758" cy="528851"/>
          </a:xfrm>
        </p:spPr>
        <p:txBody>
          <a:bodyPr>
            <a:noAutofit/>
          </a:bodyPr>
          <a:lstStyle/>
          <a:p>
            <a:pPr algn="ctr"/>
            <a:r>
              <a:rPr lang="en-IN" sz="1600" dirty="0">
                <a:solidFill>
                  <a:srgbClr val="212529"/>
                </a:solidFill>
                <a:latin typeface="Calibri" panose="020F0502020204030204" pitchFamily="82" charset="0"/>
                <a:cs typeface="Arial" panose="020B0604020202020204" pitchFamily="34" charset="0"/>
              </a:rPr>
              <a:t>Identifying Performance Gaps</a:t>
            </a:r>
            <a:endParaRPr lang="en-IN" sz="1600" dirty="0">
              <a:solidFill>
                <a:srgbClr val="212529"/>
              </a:solidFill>
              <a:latin typeface="Calibri" panose="020F0502020204030204" pitchFamily="82" charset="0"/>
              <a:cs typeface="Arial" panose="020B0604020202020204" pitchFamily="34" charset="0"/>
            </a:endParaRPr>
          </a:p>
        </p:txBody>
      </p:sp>
      <p:sp>
        <p:nvSpPr>
          <p:cNvPr id="4" name="Rectangle 3"/>
          <p:cNvSpPr/>
          <p:nvPr/>
        </p:nvSpPr>
        <p:spPr>
          <a:xfrm>
            <a:off x="850710" y="1041146"/>
            <a:ext cx="11341290" cy="646331"/>
          </a:xfrm>
          <a:prstGeom prst="rect">
            <a:avLst/>
          </a:prstGeom>
        </p:spPr>
        <p:txBody>
          <a:bodyPr wrap="square">
            <a:spAutoFit/>
          </a:bodyPr>
          <a:lstStyle/>
          <a:p>
            <a:r>
              <a:rPr lang="en-IN" sz="2400" b="1" dirty="0" err="1">
                <a:solidFill>
                  <a:srgbClr val="1E40AF"/>
                </a:solidFill>
                <a:latin typeface="Calibri" panose="020F0502020204030204" pitchFamily="82" charset="0"/>
                <a:cs typeface="Arial" panose="020B0604020202020204" pitchFamily="34" charset="0"/>
              </a:rPr>
              <a:t>AstroSage</a:t>
            </a:r>
            <a:r>
              <a:rPr lang="en-IN" sz="2400" b="1" dirty="0">
                <a:solidFill>
                  <a:srgbClr val="1E40AF"/>
                </a:solidFill>
                <a:latin typeface="Calibri" panose="020F0502020204030204" pitchFamily="82" charset="0"/>
                <a:cs typeface="Arial" panose="020B0604020202020204" pitchFamily="34" charset="0"/>
              </a:rPr>
              <a:t> has been facing challenges in maintaining optimal call </a:t>
            </a:r>
            <a:r>
              <a:rPr lang="en-IN" sz="2400" b="1" dirty="0" smtClean="0">
                <a:solidFill>
                  <a:srgbClr val="1E40AF"/>
                </a:solidFill>
                <a:latin typeface="Calibri" panose="020F0502020204030204" pitchFamily="82" charset="0"/>
                <a:cs typeface="Arial" panose="020B0604020202020204" pitchFamily="34" charset="0"/>
              </a:rPr>
              <a:t> </a:t>
            </a:r>
            <a:r>
              <a:rPr lang="en-IN" sz="2400" b="1" dirty="0" err="1" smtClean="0">
                <a:solidFill>
                  <a:srgbClr val="1E40AF"/>
                </a:solidFill>
                <a:latin typeface="Calibri" panose="020F0502020204030204" pitchFamily="82" charset="0"/>
                <a:cs typeface="Arial" panose="020B0604020202020204" pitchFamily="34" charset="0"/>
              </a:rPr>
              <a:t>center</a:t>
            </a:r>
            <a:r>
              <a:rPr lang="en-IN" sz="2400" b="1" dirty="0" smtClean="0">
                <a:solidFill>
                  <a:srgbClr val="1E40AF"/>
                </a:solidFill>
                <a:latin typeface="Calibri" panose="020F0502020204030204" pitchFamily="82" charset="0"/>
                <a:cs typeface="Arial" panose="020B0604020202020204" pitchFamily="34" charset="0"/>
              </a:rPr>
              <a:t> </a:t>
            </a:r>
            <a:r>
              <a:rPr lang="en-IN" sz="2400" b="1" dirty="0">
                <a:solidFill>
                  <a:srgbClr val="1E40AF"/>
                </a:solidFill>
                <a:latin typeface="Calibri" panose="020F0502020204030204" pitchFamily="82" charset="0"/>
                <a:cs typeface="Arial" panose="020B0604020202020204" pitchFamily="34" charset="0"/>
              </a:rPr>
              <a:t>performance</a:t>
            </a:r>
            <a:r>
              <a:rPr lang="en-IN" sz="2400" b="1" dirty="0" smtClean="0">
                <a:solidFill>
                  <a:srgbClr val="1E40AF"/>
                </a:solidFill>
                <a:latin typeface="Calibri" panose="020F0502020204030204" pitchFamily="82" charset="0"/>
                <a:cs typeface="Arial" panose="020B0604020202020204" pitchFamily="34" charset="0"/>
              </a:rPr>
              <a:t>.</a:t>
            </a:r>
            <a:endParaRPr lang="en-IN" sz="2400" b="1" dirty="0" smtClean="0">
              <a:solidFill>
                <a:srgbClr val="1E40AF"/>
              </a:solidFill>
              <a:latin typeface="Calibri" panose="020F0502020204030204" pitchFamily="82" charset="0"/>
              <a:cs typeface="Arial" panose="020B0604020202020204" pitchFamily="34" charset="0"/>
            </a:endParaRPr>
          </a:p>
          <a:p>
            <a:r>
              <a:rPr lang="en-IN" sz="1600" dirty="0" smtClean="0">
                <a:solidFill>
                  <a:srgbClr val="212529"/>
                </a:solidFill>
                <a:latin typeface="Calibri" panose="020F0502020204030204" pitchFamily="82" charset="0"/>
                <a:cs typeface="Arial" panose="020B0604020202020204" pitchFamily="34" charset="0"/>
              </a:rPr>
              <a:t>As per given Data :</a:t>
            </a:r>
            <a:endParaRPr lang="en-IN" dirty="0">
              <a:latin typeface="Arial" panose="020B0604020202020204" pitchFamily="34" charset="0"/>
              <a:cs typeface="Arial" panose="020B0604020202020204" pitchFamily="34" charset="0"/>
            </a:endParaRPr>
          </a:p>
        </p:txBody>
      </p:sp>
      <p:graphicFrame>
        <p:nvGraphicFramePr>
          <p:cNvPr id="6" name="Table 5"/>
          <p:cNvGraphicFramePr>
            <a:graphicFrameLocks noGrp="1"/>
          </p:cNvGraphicFramePr>
          <p:nvPr/>
        </p:nvGraphicFramePr>
        <p:xfrm>
          <a:off x="1415927" y="1687477"/>
          <a:ext cx="8127999" cy="2505300"/>
        </p:xfrm>
        <a:graphic>
          <a:graphicData uri="http://schemas.openxmlformats.org/drawingml/2006/table">
            <a:tbl>
              <a:tblPr firstRow="1" bandRow="1">
                <a:tableStyleId>{F3CB1A70-E04F-4854-94BE-A2638B70E8BC}</a:tableStyleId>
              </a:tblPr>
              <a:tblGrid>
                <a:gridCol w="2709333"/>
                <a:gridCol w="2709333"/>
                <a:gridCol w="2709333"/>
              </a:tblGrid>
              <a:tr h="767940">
                <a:tc>
                  <a:txBody>
                    <a:bodyPr/>
                    <a:lstStyle/>
                    <a:p>
                      <a:r>
                        <a:rPr lang="en-IN" dirty="0" smtClean="0">
                          <a:solidFill>
                            <a:schemeClr val="tx1"/>
                          </a:solidFill>
                          <a:latin typeface="Arial" panose="020B0604020202020204" pitchFamily="34" charset="0"/>
                          <a:cs typeface="Arial" panose="020B0604020202020204" pitchFamily="34" charset="0"/>
                        </a:rPr>
                        <a:t>Declining customer satisfaction scores</a:t>
                      </a:r>
                      <a:endParaRPr lang="en-IN" dirty="0">
                        <a:solidFill>
                          <a:schemeClr val="tx1"/>
                        </a:solidFill>
                      </a:endParaRP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dirty="0" smtClean="0">
                          <a:solidFill>
                            <a:schemeClr val="tx1"/>
                          </a:solidFill>
                          <a:latin typeface="Arial" panose="020B0604020202020204" pitchFamily="34" charset="0"/>
                          <a:cs typeface="Arial" panose="020B0604020202020204" pitchFamily="34" charset="0"/>
                        </a:rPr>
                        <a:t>Inconsistent call volumes.</a:t>
                      </a:r>
                      <a:endParaRPr lang="en-IN" dirty="0" smtClean="0">
                        <a:solidFill>
                          <a:schemeClr val="tx1"/>
                        </a:solidFill>
                        <a:latin typeface="Arial" panose="020B0604020202020204" pitchFamily="34" charset="0"/>
                        <a:cs typeface="Arial" panose="020B0604020202020204" pitchFamily="34" charset="0"/>
                      </a:endParaRP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dirty="0" smtClean="0">
                          <a:solidFill>
                            <a:schemeClr val="tx1"/>
                          </a:solidFill>
                          <a:latin typeface="Arial" panose="020B0604020202020204" pitchFamily="34" charset="0"/>
                          <a:cs typeface="Arial" panose="020B0604020202020204" pitchFamily="34" charset="0"/>
                        </a:rPr>
                        <a:t>Variability in agent performance.</a:t>
                      </a:r>
                      <a:endParaRPr lang="en-IN" dirty="0" smtClean="0">
                        <a:solidFill>
                          <a:schemeClr val="tx1"/>
                        </a:solidFill>
                        <a:latin typeface="Arial" panose="020B0604020202020204" pitchFamily="34" charset="0"/>
                        <a:cs typeface="Arial" panose="020B0604020202020204" pitchFamily="34" charset="0"/>
                      </a:endParaRPr>
                    </a:p>
                  </a:txBody>
                  <a:tcPr>
                    <a:solidFill>
                      <a:schemeClr val="bg2"/>
                    </a:solidFill>
                  </a:tcPr>
                </a:tc>
              </a:tr>
              <a:tr h="1458226">
                <a:tc>
                  <a:txBody>
                    <a:bodyPr/>
                    <a:lstStyle/>
                    <a:p>
                      <a:r>
                        <a:rPr lang="en-IN" dirty="0" smtClean="0">
                          <a:solidFill>
                            <a:schemeClr val="tx1"/>
                          </a:solidFill>
                        </a:rPr>
                        <a:t>Average</a:t>
                      </a:r>
                      <a:r>
                        <a:rPr lang="en-IN" baseline="0" dirty="0" smtClean="0">
                          <a:solidFill>
                            <a:schemeClr val="tx1"/>
                          </a:solidFill>
                        </a:rPr>
                        <a:t> Customer satisfaction is very low.</a:t>
                      </a:r>
                      <a:endParaRPr lang="en-IN" baseline="0" dirty="0" smtClean="0">
                        <a:solidFill>
                          <a:schemeClr val="tx1"/>
                        </a:solidFill>
                      </a:endParaRPr>
                    </a:p>
                    <a:p>
                      <a:endParaRPr lang="en-IN" baseline="0" dirty="0" smtClean="0">
                        <a:solidFill>
                          <a:schemeClr val="tx1"/>
                        </a:solidFill>
                      </a:endParaRPr>
                    </a:p>
                    <a:p>
                      <a:r>
                        <a:rPr lang="en-IN" baseline="0" dirty="0" smtClean="0">
                          <a:solidFill>
                            <a:schemeClr val="tx1"/>
                          </a:solidFill>
                        </a:rPr>
                        <a:t>Average Rating is 2.93 , which is very low .</a:t>
                      </a:r>
                      <a:endParaRPr lang="en-IN" dirty="0">
                        <a:solidFill>
                          <a:schemeClr val="tx1"/>
                        </a:solidFill>
                      </a:endParaRPr>
                    </a:p>
                  </a:txBody>
                  <a:tcPr>
                    <a:solidFill>
                      <a:schemeClr val="accent4"/>
                    </a:solidFill>
                  </a:tcPr>
                </a:tc>
                <a:tc>
                  <a:txBody>
                    <a:bodyPr/>
                    <a:lstStyle/>
                    <a:p>
                      <a:r>
                        <a:rPr lang="en-IN" dirty="0" smtClean="0">
                          <a:solidFill>
                            <a:schemeClr val="tx1"/>
                          </a:solidFill>
                        </a:rPr>
                        <a:t>Daily</a:t>
                      </a:r>
                      <a:r>
                        <a:rPr lang="en-IN" baseline="0" dirty="0" smtClean="0">
                          <a:solidFill>
                            <a:schemeClr val="tx1"/>
                          </a:solidFill>
                        </a:rPr>
                        <a:t> Call volume is inconsistent. </a:t>
                      </a:r>
                      <a:endParaRPr lang="en-IN" baseline="0" dirty="0" smtClean="0">
                        <a:solidFill>
                          <a:schemeClr val="tx1"/>
                        </a:solidFill>
                      </a:endParaRPr>
                    </a:p>
                    <a:p>
                      <a:endParaRPr lang="en-IN" baseline="0" dirty="0" smtClean="0">
                        <a:solidFill>
                          <a:schemeClr val="tx1"/>
                        </a:solidFill>
                      </a:endParaRPr>
                    </a:p>
                    <a:p>
                      <a:r>
                        <a:rPr lang="en-IN" baseline="0" dirty="0" smtClean="0">
                          <a:solidFill>
                            <a:schemeClr val="tx1"/>
                          </a:solidFill>
                        </a:rPr>
                        <a:t>Total change in Call volume is in negative , and average change is in negative. </a:t>
                      </a:r>
                      <a:endParaRPr lang="en-IN" dirty="0">
                        <a:solidFill>
                          <a:schemeClr val="tx1"/>
                        </a:solidFill>
                      </a:endParaRPr>
                    </a:p>
                  </a:txBody>
                  <a:tcPr>
                    <a:solidFill>
                      <a:schemeClr val="accent4"/>
                    </a:solidFill>
                  </a:tcPr>
                </a:tc>
                <a:tc>
                  <a:txBody>
                    <a:bodyPr/>
                    <a:lstStyle/>
                    <a:p>
                      <a:r>
                        <a:rPr lang="en-IN" dirty="0" smtClean="0">
                          <a:solidFill>
                            <a:schemeClr val="tx1"/>
                          </a:solidFill>
                        </a:rPr>
                        <a:t>Overall Agent performance is poor.</a:t>
                      </a:r>
                      <a:endParaRPr lang="en-IN" dirty="0" smtClean="0">
                        <a:solidFill>
                          <a:schemeClr val="tx1"/>
                        </a:solidFill>
                      </a:endParaRPr>
                    </a:p>
                    <a:p>
                      <a:endParaRPr lang="en-IN" dirty="0" smtClean="0">
                        <a:solidFill>
                          <a:schemeClr val="tx1"/>
                        </a:solidFill>
                      </a:endParaRPr>
                    </a:p>
                    <a:p>
                      <a:r>
                        <a:rPr lang="en-IN" dirty="0" smtClean="0">
                          <a:solidFill>
                            <a:schemeClr val="tx1"/>
                          </a:solidFill>
                        </a:rPr>
                        <a:t>Average performance</a:t>
                      </a:r>
                      <a:r>
                        <a:rPr lang="en-IN" baseline="0" dirty="0" smtClean="0">
                          <a:solidFill>
                            <a:schemeClr val="tx1"/>
                          </a:solidFill>
                        </a:rPr>
                        <a:t> of guru is not fair .</a:t>
                      </a:r>
                      <a:endParaRPr lang="en-IN" dirty="0">
                        <a:solidFill>
                          <a:schemeClr val="tx1"/>
                        </a:solidFill>
                      </a:endParaRPr>
                    </a:p>
                  </a:txBody>
                  <a:tcPr>
                    <a:solidFill>
                      <a:schemeClr val="accent4"/>
                    </a:solidFill>
                  </a:tcPr>
                </a:tc>
              </a:tr>
            </a:tbl>
          </a:graphicData>
        </a:graphic>
      </p:graphicFrame>
      <p:sp>
        <p:nvSpPr>
          <p:cNvPr id="7" name="Rectangle 6"/>
          <p:cNvSpPr/>
          <p:nvPr/>
        </p:nvSpPr>
        <p:spPr>
          <a:xfrm>
            <a:off x="937496" y="4422934"/>
            <a:ext cx="10163033" cy="369332"/>
          </a:xfrm>
          <a:prstGeom prst="rect">
            <a:avLst/>
          </a:prstGeom>
        </p:spPr>
        <p:txBody>
          <a:bodyPr wrap="square">
            <a:spAutoFit/>
          </a:bodyPr>
          <a:lstStyle/>
          <a:p>
            <a:r>
              <a:rPr lang="en-IN" sz="2400" b="1" dirty="0" err="1" smtClean="0">
                <a:solidFill>
                  <a:srgbClr val="1E40AF"/>
                </a:solidFill>
                <a:latin typeface="Calibri" panose="020F0502020204030204" pitchFamily="82" charset="0"/>
                <a:cs typeface="Arial" panose="020B0604020202020204" pitchFamily="34" charset="0"/>
              </a:rPr>
              <a:t>AstroSage's</a:t>
            </a:r>
            <a:r>
              <a:rPr lang="en-IN" sz="2400" b="1" dirty="0" smtClean="0">
                <a:solidFill>
                  <a:srgbClr val="1E40AF"/>
                </a:solidFill>
                <a:latin typeface="Calibri" panose="020F0502020204030204" pitchFamily="82" charset="0"/>
                <a:cs typeface="Arial" panose="020B0604020202020204" pitchFamily="34" charset="0"/>
              </a:rPr>
              <a:t> </a:t>
            </a:r>
            <a:r>
              <a:rPr lang="en-IN" sz="2400" b="1" dirty="0">
                <a:solidFill>
                  <a:srgbClr val="1E40AF"/>
                </a:solidFill>
                <a:latin typeface="Calibri" panose="020F0502020204030204" pitchFamily="82" charset="0"/>
                <a:cs typeface="Arial" panose="020B0604020202020204" pitchFamily="34" charset="0"/>
              </a:rPr>
              <a:t>performance compare to its </a:t>
            </a:r>
            <a:r>
              <a:rPr lang="en-IN" sz="2400" b="1" dirty="0" smtClean="0">
                <a:solidFill>
                  <a:srgbClr val="1E40AF"/>
                </a:solidFill>
                <a:latin typeface="Calibri" panose="020F0502020204030204" pitchFamily="82" charset="0"/>
                <a:cs typeface="Arial" panose="020B0604020202020204" pitchFamily="34" charset="0"/>
              </a:rPr>
              <a:t>competitor</a:t>
            </a:r>
            <a:r>
              <a:rPr lang="en-IN" sz="2400" b="1" dirty="0">
                <a:solidFill>
                  <a:srgbClr val="1E40AF"/>
                </a:solidFill>
                <a:latin typeface="Calibri" panose="020F0502020204030204" pitchFamily="82" charset="0"/>
                <a:cs typeface="Arial" panose="020B0604020202020204" pitchFamily="34" charset="0"/>
              </a:rPr>
              <a:t>, </a:t>
            </a:r>
            <a:r>
              <a:rPr lang="en-IN" sz="2400" b="1" dirty="0" err="1" smtClean="0">
                <a:solidFill>
                  <a:srgbClr val="1E40AF"/>
                </a:solidFill>
                <a:latin typeface="Calibri" panose="020F0502020204030204" pitchFamily="82" charset="0"/>
                <a:cs typeface="Arial" panose="020B0604020202020204" pitchFamily="34" charset="0"/>
              </a:rPr>
              <a:t>AstroGuru</a:t>
            </a:r>
            <a:endParaRPr lang="en-IN" b="1" dirty="0">
              <a:latin typeface="Arial" panose="020B0604020202020204" pitchFamily="34" charset="0"/>
              <a:cs typeface="Arial" panose="020B0604020202020204" pitchFamily="34" charset="0"/>
            </a:endParaRPr>
          </a:p>
        </p:txBody>
      </p:sp>
      <p:sp>
        <p:nvSpPr>
          <p:cNvPr id="8" name="Rectangle 7"/>
          <p:cNvSpPr/>
          <p:nvPr/>
        </p:nvSpPr>
        <p:spPr>
          <a:xfrm>
            <a:off x="937496" y="4976255"/>
            <a:ext cx="9685362" cy="646331"/>
          </a:xfrm>
          <a:prstGeom prst="rect">
            <a:avLst/>
          </a:prstGeom>
        </p:spPr>
        <p:txBody>
          <a:bodyPr wrap="square">
            <a:spAutoFit/>
          </a:bodyPr>
          <a:lstStyle/>
          <a:p>
            <a:r>
              <a:rPr lang="en-IN" sz="2400" b="1" dirty="0">
                <a:solidFill>
                  <a:srgbClr val="1E40AF"/>
                </a:solidFill>
                <a:latin typeface="Calibri" panose="020F0502020204030204" pitchFamily="82" charset="0"/>
                <a:cs typeface="Arial" panose="020B0604020202020204" pitchFamily="34" charset="0"/>
              </a:rPr>
              <a:t>To compare </a:t>
            </a:r>
            <a:r>
              <a:rPr lang="en-IN" sz="2400" b="1" dirty="0" err="1">
                <a:solidFill>
                  <a:srgbClr val="1E40AF"/>
                </a:solidFill>
                <a:latin typeface="Calibri" panose="020F0502020204030204" pitchFamily="82" charset="0"/>
                <a:cs typeface="Arial" panose="020B0604020202020204" pitchFamily="34" charset="0"/>
              </a:rPr>
              <a:t>AstroSage's</a:t>
            </a:r>
            <a:r>
              <a:rPr lang="en-IN" sz="2400" b="1" dirty="0">
                <a:solidFill>
                  <a:srgbClr val="1E40AF"/>
                </a:solidFill>
                <a:latin typeface="Calibri" panose="020F0502020204030204" pitchFamily="82" charset="0"/>
                <a:cs typeface="Arial" panose="020B0604020202020204" pitchFamily="34" charset="0"/>
              </a:rPr>
              <a:t> performance to its competitor, </a:t>
            </a:r>
            <a:r>
              <a:rPr lang="en-IN" sz="2400" b="1" dirty="0" err="1">
                <a:solidFill>
                  <a:srgbClr val="1E40AF"/>
                </a:solidFill>
                <a:latin typeface="Calibri" panose="020F0502020204030204" pitchFamily="82" charset="0"/>
                <a:cs typeface="Arial" panose="020B0604020202020204" pitchFamily="34" charset="0"/>
              </a:rPr>
              <a:t>AstroGuru</a:t>
            </a:r>
            <a:r>
              <a:rPr lang="en-IN" sz="2400" b="1" dirty="0">
                <a:solidFill>
                  <a:srgbClr val="1E40AF"/>
                </a:solidFill>
                <a:latin typeface="Calibri" panose="020F0502020204030204" pitchFamily="82" charset="0"/>
                <a:cs typeface="Arial" panose="020B0604020202020204" pitchFamily="34" charset="0"/>
              </a:rPr>
              <a:t>, we can </a:t>
            </a:r>
            <a:r>
              <a:rPr lang="en-IN" sz="2400" b="1" dirty="0" err="1">
                <a:solidFill>
                  <a:srgbClr val="1E40AF"/>
                </a:solidFill>
                <a:latin typeface="Calibri" panose="020F0502020204030204" pitchFamily="82" charset="0"/>
                <a:cs typeface="Arial" panose="020B0604020202020204" pitchFamily="34" charset="0"/>
              </a:rPr>
              <a:t>analyze</a:t>
            </a:r>
            <a:r>
              <a:rPr lang="en-IN" sz="2400" b="1" dirty="0">
                <a:solidFill>
                  <a:srgbClr val="1E40AF"/>
                </a:solidFill>
                <a:latin typeface="Calibri" panose="020F0502020204030204" pitchFamily="82" charset="0"/>
                <a:cs typeface="Arial" panose="020B0604020202020204" pitchFamily="34" charset="0"/>
              </a:rPr>
              <a:t> several key performance metrics typically used in call </a:t>
            </a:r>
            <a:r>
              <a:rPr lang="en-IN" sz="2400" b="1" dirty="0" err="1">
                <a:solidFill>
                  <a:srgbClr val="1E40AF"/>
                </a:solidFill>
                <a:latin typeface="Calibri" panose="020F0502020204030204" pitchFamily="82" charset="0"/>
                <a:cs typeface="Arial" panose="020B0604020202020204" pitchFamily="34" charset="0"/>
              </a:rPr>
              <a:t>center</a:t>
            </a:r>
            <a:r>
              <a:rPr lang="en-IN" sz="2400" b="1" dirty="0">
                <a:solidFill>
                  <a:srgbClr val="1E40AF"/>
                </a:solidFill>
                <a:latin typeface="Calibri" panose="020F0502020204030204" pitchFamily="82" charset="0"/>
                <a:cs typeface="Arial" panose="020B0604020202020204" pitchFamily="34" charset="0"/>
              </a:rPr>
              <a:t> operations.</a:t>
            </a:r>
            <a:endParaRPr lang="en-IN" sz="2400" b="1" dirty="0">
              <a:solidFill>
                <a:srgbClr val="1E40AF"/>
              </a:solidFill>
              <a:latin typeface="Calibri" panose="020F0502020204030204" pitchFamily="82" charset="0"/>
              <a:cs typeface="Arial" panose="020B0604020202020204" pitchFamily="34" charset="0"/>
            </a:endParaRPr>
          </a:p>
        </p:txBody>
      </p:sp>
      <p:sp>
        <p:nvSpPr>
          <p:cNvPr id="9" name="Rectangle 8"/>
          <p:cNvSpPr/>
          <p:nvPr/>
        </p:nvSpPr>
        <p:spPr>
          <a:xfrm>
            <a:off x="0" y="0"/>
            <a:ext cx="12192000" cy="320040"/>
          </a:xfrm>
          <a:prstGeom prst="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20040"/>
            <a:ext cx="164592" cy="6858000"/>
          </a:xfrm>
          <a:prstGeom prst="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92240"/>
            <a:ext cx="309880" cy="245110"/>
          </a:xfrm>
          <a:prstGeom prst="rect">
            <a:avLst/>
          </a:prstGeom>
          <a:noFill/>
        </p:spPr>
        <p:txBody>
          <a:bodyPr wrap="none">
            <a:spAutoFit/>
          </a:bodyPr>
          <a:lstStyle/>
          <a:p>
            <a:pPr algn="l">
              <a:defRPr sz="1000" b="1">
                <a:solidFill>
                  <a:srgbClr val="5A5A5A"/>
                </a:solidFill>
              </a:defRPr>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37998" y="0"/>
            <a:ext cx="10396882" cy="673768"/>
          </a:xfrm>
        </p:spPr>
        <p:txBody>
          <a:bodyPr>
            <a:noAutofit/>
          </a:bodyPr>
          <a:lstStyle/>
          <a:p>
            <a:pPr algn="ctr"/>
            <a:r>
              <a:rPr lang="en-IN" sz="1600" dirty="0" smtClean="0">
                <a:solidFill>
                  <a:srgbClr val="212529"/>
                </a:solidFill>
                <a:latin typeface="Calibri" panose="020F0502020204030204" pitchFamily="82" charset="0"/>
                <a:cs typeface="Arial" panose="020B0604020202020204" pitchFamily="34" charset="0"/>
              </a:rPr>
              <a:t>Traffic website</a:t>
            </a:r>
            <a:endParaRPr lang="en-IN" sz="3600"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283116" y="1757555"/>
            <a:ext cx="4219073" cy="3680346"/>
          </a:xfrm>
          <a:prstGeom prst="rect">
            <a:avLst/>
          </a:prstGeom>
        </p:spPr>
      </p:pic>
      <p:sp>
        <p:nvSpPr>
          <p:cNvPr id="6" name="Rounded Rectangle 5"/>
          <p:cNvSpPr/>
          <p:nvPr/>
        </p:nvSpPr>
        <p:spPr>
          <a:xfrm>
            <a:off x="1364774" y="1082722"/>
            <a:ext cx="3957850" cy="4355179"/>
          </a:xfrm>
          <a:prstGeom prst="roundRect">
            <a:avLst/>
          </a:prstGeom>
          <a:solidFill>
            <a:schemeClr val="bg2">
              <a:lumMod val="40000"/>
              <a:lumOff val="6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rgbClr val="212529"/>
                </a:solidFill>
                <a:latin typeface="Calibri" panose="020F0502020204030204" pitchFamily="82" charset="0"/>
              </a:rPr>
              <a:t>According to given data</a:t>
            </a:r>
            <a:endParaRPr lang="en-IN" sz="1600" dirty="0" smtClean="0">
              <a:solidFill>
                <a:srgbClr val="212529"/>
              </a:solidFill>
              <a:latin typeface="Calibri" panose="020F0502020204030204" pitchFamily="82" charset="0"/>
            </a:endParaRPr>
          </a:p>
          <a:p>
            <a:pPr algn="ctr"/>
            <a:r>
              <a:rPr lang="en-IN" sz="1600" dirty="0" smtClean="0">
                <a:solidFill>
                  <a:srgbClr val="212529"/>
                </a:solidFill>
                <a:latin typeface="Calibri" panose="020F0502020204030204" pitchFamily="82" charset="0"/>
              </a:rPr>
              <a:t>Gurucool  have more</a:t>
            </a:r>
            <a:endParaRPr lang="en-IN" sz="1600" dirty="0" smtClean="0">
              <a:solidFill>
                <a:srgbClr val="212529"/>
              </a:solidFill>
              <a:latin typeface="Calibri" panose="020F0502020204030204" pitchFamily="82" charset="0"/>
            </a:endParaRPr>
          </a:p>
          <a:p>
            <a:pPr algn="ctr"/>
            <a:r>
              <a:rPr lang="en-IN" sz="1600" dirty="0" smtClean="0">
                <a:solidFill>
                  <a:srgbClr val="212529"/>
                </a:solidFill>
                <a:latin typeface="Calibri" panose="020F0502020204030204" pitchFamily="82" charset="0"/>
              </a:rPr>
              <a:t>Traffic than App</a:t>
            </a:r>
            <a:endParaRPr lang="en-IN" sz="1600" dirty="0" smtClean="0">
              <a:solidFill>
                <a:srgbClr val="212529"/>
              </a:solidFill>
              <a:latin typeface="Calibri" panose="020F0502020204030204" pitchFamily="82" charset="0"/>
            </a:endParaRPr>
          </a:p>
          <a:p>
            <a:pPr algn="ctr"/>
            <a:endParaRPr lang="en-IN" dirty="0">
              <a:solidFill>
                <a:schemeClr val="tx1"/>
              </a:solidFill>
              <a:latin typeface="Arial Black" panose="020B0A04020102020204" pitchFamily="34" charset="0"/>
            </a:endParaRPr>
          </a:p>
          <a:p>
            <a:pPr algn="ctr"/>
            <a:endParaRPr lang="en-IN" dirty="0" smtClean="0">
              <a:solidFill>
                <a:schemeClr val="tx1"/>
              </a:solidFill>
              <a:latin typeface="Arial Black" panose="020B0A04020102020204" pitchFamily="34" charset="0"/>
            </a:endParaRPr>
          </a:p>
          <a:p>
            <a:pPr algn="ctr"/>
            <a:endParaRPr lang="en-IN" dirty="0">
              <a:solidFill>
                <a:schemeClr val="tx1"/>
              </a:solidFill>
              <a:latin typeface="Arial Black" panose="020B0A04020102020204" pitchFamily="34" charset="0"/>
            </a:endParaRPr>
          </a:p>
          <a:p>
            <a:pPr algn="ctr"/>
            <a:endParaRPr lang="en-IN" dirty="0" smtClean="0">
              <a:solidFill>
                <a:schemeClr val="tx1"/>
              </a:solidFill>
              <a:latin typeface="Arial Black" panose="020B0A04020102020204" pitchFamily="34" charset="0"/>
            </a:endParaRPr>
          </a:p>
          <a:p>
            <a:pPr algn="ctr"/>
            <a:endParaRPr lang="en-IN" dirty="0">
              <a:solidFill>
                <a:schemeClr val="tx1"/>
              </a:solidFill>
              <a:latin typeface="Arial Black" panose="020B0A04020102020204" pitchFamily="34" charset="0"/>
            </a:endParaRPr>
          </a:p>
          <a:p>
            <a:pPr algn="ctr"/>
            <a:endParaRPr lang="en-IN" dirty="0" smtClean="0">
              <a:solidFill>
                <a:schemeClr val="tx1"/>
              </a:solidFill>
              <a:latin typeface="Arial Black" panose="020B0A04020102020204" pitchFamily="34" charset="0"/>
            </a:endParaRPr>
          </a:p>
          <a:p>
            <a:pPr algn="ctr"/>
            <a:endParaRPr lang="en-IN" dirty="0">
              <a:solidFill>
                <a:schemeClr val="tx1"/>
              </a:solidFill>
              <a:latin typeface="Arial Black" panose="020B0A04020102020204" pitchFamily="34" charset="0"/>
            </a:endParaRPr>
          </a:p>
          <a:p>
            <a:pPr algn="ctr"/>
            <a:endParaRPr lang="en-IN" dirty="0">
              <a:solidFill>
                <a:schemeClr val="tx1"/>
              </a:solidFill>
              <a:latin typeface="Arial Black" panose="020B0A04020102020204" pitchFamily="34" charset="0"/>
            </a:endParaRPr>
          </a:p>
        </p:txBody>
      </p:sp>
      <p:graphicFrame>
        <p:nvGraphicFramePr>
          <p:cNvPr id="9" name="Diagram 8"/>
          <p:cNvGraphicFramePr/>
          <p:nvPr/>
        </p:nvGraphicFramePr>
        <p:xfrm>
          <a:off x="1378423" y="2306552"/>
          <a:ext cx="3957851" cy="31146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Rectangle 9"/>
          <p:cNvSpPr/>
          <p:nvPr/>
        </p:nvSpPr>
        <p:spPr>
          <a:xfrm>
            <a:off x="0" y="0"/>
            <a:ext cx="12192000" cy="32004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20040"/>
            <a:ext cx="164592" cy="685800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492240"/>
            <a:ext cx="309880" cy="245110"/>
          </a:xfrm>
          <a:prstGeom prst="rect">
            <a:avLst/>
          </a:prstGeom>
          <a:noFill/>
        </p:spPr>
        <p:txBody>
          <a:bodyPr wrap="none">
            <a:spAutoFit/>
          </a:bodyPr>
          <a:lstStyle/>
          <a:p>
            <a:pPr algn="l">
              <a:defRPr sz="1000" b="1">
                <a:solidFill>
                  <a:srgbClr val="5A5A5A"/>
                </a:solidFill>
              </a:defRPr>
            </a:p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60899" y="0"/>
            <a:ext cx="10396882" cy="804583"/>
          </a:xfrm>
        </p:spPr>
        <p:txBody>
          <a:bodyPr>
            <a:normAutofit/>
          </a:bodyPr>
          <a:lstStyle/>
          <a:p>
            <a:pPr algn="ctr"/>
            <a:r>
              <a:rPr lang="en-IN" sz="1600" dirty="0" smtClean="0">
                <a:solidFill>
                  <a:srgbClr val="212529"/>
                </a:solidFill>
                <a:latin typeface="Calibri" panose="020F0502020204030204" pitchFamily="82" charset="0"/>
                <a:cs typeface="Arial" panose="020B0604020202020204" pitchFamily="34" charset="0"/>
              </a:rPr>
              <a:t>User call status</a:t>
            </a:r>
            <a:endParaRPr lang="en-IN" sz="3600" dirty="0">
              <a:latin typeface="Arial" panose="020B0604020202020204" pitchFamily="34" charset="0"/>
              <a:cs typeface="Arial" panose="020B0604020202020204" pitchFamily="34" charset="0"/>
            </a:endParaRPr>
          </a:p>
        </p:txBody>
      </p:sp>
      <p:graphicFrame>
        <p:nvGraphicFramePr>
          <p:cNvPr id="7" name="Diagram 6"/>
          <p:cNvGraphicFramePr/>
          <p:nvPr/>
        </p:nvGraphicFramePr>
        <p:xfrm>
          <a:off x="3671866" y="1293415"/>
          <a:ext cx="3138984" cy="427809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10850" y="1293415"/>
            <a:ext cx="4862913" cy="4278094"/>
          </a:xfrm>
          <a:prstGeom prst="rect">
            <a:avLst/>
          </a:prstGeom>
        </p:spPr>
      </p:pic>
      <p:sp>
        <p:nvSpPr>
          <p:cNvPr id="8" name="TextBox 7"/>
          <p:cNvSpPr txBox="1"/>
          <p:nvPr/>
        </p:nvSpPr>
        <p:spPr>
          <a:xfrm>
            <a:off x="896755" y="1293414"/>
            <a:ext cx="3238517" cy="4247317"/>
          </a:xfrm>
          <a:prstGeom prst="rect">
            <a:avLst/>
          </a:prstGeom>
          <a:noFill/>
        </p:spPr>
        <p:txBody>
          <a:bodyPr wrap="square" rtlCol="0">
            <a:spAutoFit/>
          </a:bodyPr>
          <a:lstStyle/>
          <a:p>
            <a:r>
              <a:rPr lang="en-IN" sz="1600" dirty="0" smtClean="0">
                <a:solidFill>
                  <a:srgbClr val="212529"/>
                </a:solidFill>
                <a:latin typeface="Calibri" panose="020F0502020204030204" pitchFamily="82" charset="0"/>
                <a:cs typeface="Arial" panose="020B0604020202020204" pitchFamily="34" charset="0"/>
              </a:rPr>
              <a:t>According to given data</a:t>
            </a:r>
            <a:br>
              <a:rPr lang="en-IN" dirty="0" smtClean="0">
                <a:latin typeface="Arial" panose="020B0604020202020204" pitchFamily="34" charset="0"/>
                <a:cs typeface="Arial" panose="020B0604020202020204" pitchFamily="34" charset="0"/>
              </a:rPr>
            </a:br>
            <a:br>
              <a:rPr lang="en-IN" dirty="0" smtClean="0">
                <a:latin typeface="Arial" panose="020B0604020202020204" pitchFamily="34" charset="0"/>
                <a:cs typeface="Arial" panose="020B0604020202020204" pitchFamily="34" charset="0"/>
              </a:rPr>
            </a:br>
            <a:r>
              <a:rPr lang="en-IN" sz="1600" dirty="0" smtClean="0">
                <a:solidFill>
                  <a:srgbClr val="212529"/>
                </a:solidFill>
                <a:latin typeface="Calibri" panose="020F0502020204030204" pitchFamily="82" charset="0"/>
                <a:cs typeface="Arial" panose="020B0604020202020204" pitchFamily="34" charset="0"/>
              </a:rPr>
              <a:t>Only 41% call are completed</a:t>
            </a:r>
            <a:br>
              <a:rPr lang="en-IN" dirty="0" smtClean="0">
                <a:latin typeface="Arial" panose="020B0604020202020204" pitchFamily="34" charset="0"/>
                <a:cs typeface="Arial" panose="020B0604020202020204" pitchFamily="34" charset="0"/>
              </a:rPr>
            </a:br>
            <a:br>
              <a:rPr lang="en-IN" dirty="0" smtClean="0">
                <a:latin typeface="Arial" panose="020B0604020202020204" pitchFamily="34" charset="0"/>
                <a:cs typeface="Arial" panose="020B0604020202020204" pitchFamily="34" charset="0"/>
              </a:rPr>
            </a:br>
            <a:r>
              <a:rPr lang="en-IN" sz="1600" dirty="0" smtClean="0">
                <a:solidFill>
                  <a:srgbClr val="212529"/>
                </a:solidFill>
                <a:latin typeface="Calibri" panose="020F0502020204030204" pitchFamily="82" charset="0"/>
                <a:cs typeface="Arial" panose="020B0604020202020204" pitchFamily="34" charset="0"/>
              </a:rPr>
              <a:t>Need to improve call completing</a:t>
            </a:r>
            <a:br>
              <a:rPr lang="en-IN" dirty="0" smtClean="0">
                <a:latin typeface="Arial" panose="020B0604020202020204" pitchFamily="34" charset="0"/>
                <a:cs typeface="Arial" panose="020B0604020202020204" pitchFamily="34" charset="0"/>
              </a:rPr>
            </a:br>
            <a:br>
              <a:rPr lang="en-IN" dirty="0" smtClean="0">
                <a:latin typeface="Arial" panose="020B0604020202020204" pitchFamily="34" charset="0"/>
                <a:cs typeface="Arial" panose="020B0604020202020204" pitchFamily="34" charset="0"/>
              </a:rPr>
            </a:br>
            <a:r>
              <a:rPr lang="en-IN" sz="1600" dirty="0" smtClean="0">
                <a:solidFill>
                  <a:srgbClr val="212529"/>
                </a:solidFill>
                <a:latin typeface="Calibri" panose="020F0502020204030204" pitchFamily="82" charset="0"/>
                <a:cs typeface="Arial" panose="020B0604020202020204" pitchFamily="34" charset="0"/>
              </a:rPr>
              <a:t>percentage by providing</a:t>
            </a:r>
            <a:br>
              <a:rPr lang="en-IN" dirty="0" smtClean="0">
                <a:latin typeface="Arial" panose="020B0604020202020204" pitchFamily="34" charset="0"/>
                <a:cs typeface="Arial" panose="020B0604020202020204" pitchFamily="34" charset="0"/>
              </a:rPr>
            </a:br>
            <a:br>
              <a:rPr lang="en-IN" dirty="0" smtClean="0">
                <a:latin typeface="Arial" panose="020B0604020202020204" pitchFamily="34" charset="0"/>
                <a:cs typeface="Arial" panose="020B0604020202020204" pitchFamily="34" charset="0"/>
              </a:rPr>
            </a:br>
            <a:r>
              <a:rPr lang="en-IN" sz="1600" dirty="0" smtClean="0">
                <a:solidFill>
                  <a:srgbClr val="212529"/>
                </a:solidFill>
                <a:latin typeface="Calibri" panose="020F0502020204030204" pitchFamily="82" charset="0"/>
                <a:cs typeface="Arial" panose="020B0604020202020204" pitchFamily="34" charset="0"/>
              </a:rPr>
              <a:t>automate IVR call for initial</a:t>
            </a:r>
            <a:br>
              <a:rPr lang="en-IN" dirty="0" smtClean="0">
                <a:latin typeface="Arial" panose="020B0604020202020204" pitchFamily="34" charset="0"/>
                <a:cs typeface="Arial" panose="020B0604020202020204" pitchFamily="34" charset="0"/>
              </a:rPr>
            </a:br>
            <a:br>
              <a:rPr lang="en-IN" dirty="0" smtClean="0">
                <a:latin typeface="Arial" panose="020B0604020202020204" pitchFamily="34" charset="0"/>
                <a:cs typeface="Arial" panose="020B0604020202020204" pitchFamily="34" charset="0"/>
              </a:rPr>
            </a:br>
            <a:r>
              <a:rPr lang="en-IN" sz="1600" dirty="0" smtClean="0">
                <a:solidFill>
                  <a:srgbClr val="212529"/>
                </a:solidFill>
                <a:latin typeface="Calibri" panose="020F0502020204030204" pitchFamily="82" charset="0"/>
                <a:cs typeface="Arial" panose="020B0604020202020204" pitchFamily="34" charset="0"/>
              </a:rPr>
              <a:t>engage and hire more agent to</a:t>
            </a:r>
            <a:br>
              <a:rPr lang="en-IN" dirty="0" smtClean="0">
                <a:latin typeface="Arial" panose="020B0604020202020204" pitchFamily="34" charset="0"/>
                <a:cs typeface="Arial" panose="020B0604020202020204" pitchFamily="34" charset="0"/>
              </a:rPr>
            </a:br>
            <a:br>
              <a:rPr lang="en-IN" dirty="0" smtClean="0">
                <a:latin typeface="Arial" panose="020B0604020202020204" pitchFamily="34" charset="0"/>
                <a:cs typeface="Arial" panose="020B0604020202020204" pitchFamily="34" charset="0"/>
              </a:rPr>
            </a:br>
            <a:r>
              <a:rPr lang="en-IN" sz="1600" dirty="0" smtClean="0">
                <a:solidFill>
                  <a:srgbClr val="212529"/>
                </a:solidFill>
                <a:latin typeface="Calibri" panose="020F0502020204030204" pitchFamily="82" charset="0"/>
                <a:cs typeface="Arial" panose="020B0604020202020204" pitchFamily="34" charset="0"/>
              </a:rPr>
              <a:t>increase call completing</a:t>
            </a:r>
            <a:endParaRPr lang="en-IN" dirty="0">
              <a:latin typeface="Arial" panose="020B0604020202020204" pitchFamily="34" charset="0"/>
              <a:cs typeface="Arial" panose="020B0604020202020204" pitchFamily="34" charset="0"/>
            </a:endParaRPr>
          </a:p>
        </p:txBody>
      </p:sp>
      <p:sp>
        <p:nvSpPr>
          <p:cNvPr id="9" name="Rectangle 8"/>
          <p:cNvSpPr/>
          <p:nvPr/>
        </p:nvSpPr>
        <p:spPr>
          <a:xfrm>
            <a:off x="0" y="0"/>
            <a:ext cx="12192000" cy="320040"/>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20040"/>
            <a:ext cx="164592" cy="6858000"/>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92240"/>
            <a:ext cx="309880" cy="245110"/>
          </a:xfrm>
          <a:prstGeom prst="rect">
            <a:avLst/>
          </a:prstGeom>
          <a:noFill/>
        </p:spPr>
        <p:txBody>
          <a:bodyPr wrap="none">
            <a:spAutoFit/>
          </a:bodyPr>
          <a:lstStyle/>
          <a:p>
            <a:pPr algn="l">
              <a:defRPr sz="1000" b="1">
                <a:solidFill>
                  <a:srgbClr val="5A5A5A"/>
                </a:solidFill>
              </a:defRPr>
            </a:p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8096" y="0"/>
            <a:ext cx="10396882" cy="746018"/>
          </a:xfrm>
        </p:spPr>
        <p:txBody>
          <a:bodyPr>
            <a:normAutofit/>
          </a:bodyPr>
          <a:lstStyle/>
          <a:p>
            <a:pPr algn="ctr"/>
            <a:r>
              <a:rPr lang="en-IN" sz="1600" dirty="0" smtClean="0">
                <a:solidFill>
                  <a:srgbClr val="212529"/>
                </a:solidFill>
                <a:latin typeface="Calibri" panose="020F0502020204030204" pitchFamily="82" charset="0"/>
                <a:cs typeface="Arial" panose="020B0604020202020204" pitchFamily="34" charset="0"/>
              </a:rPr>
              <a:t>User chat status</a:t>
            </a:r>
            <a:endParaRPr lang="en-IN" sz="3600"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10384" y="1319762"/>
            <a:ext cx="4676565" cy="4278094"/>
          </a:xfrm>
          <a:prstGeom prst="rect">
            <a:avLst/>
          </a:prstGeom>
        </p:spPr>
      </p:pic>
      <p:sp>
        <p:nvSpPr>
          <p:cNvPr id="6" name="TextBox 5"/>
          <p:cNvSpPr txBox="1"/>
          <p:nvPr/>
        </p:nvSpPr>
        <p:spPr>
          <a:xfrm>
            <a:off x="798096" y="1319761"/>
            <a:ext cx="3238517" cy="4524315"/>
          </a:xfrm>
          <a:prstGeom prst="rect">
            <a:avLst/>
          </a:prstGeom>
          <a:noFill/>
        </p:spPr>
        <p:txBody>
          <a:bodyPr wrap="square" rtlCol="0">
            <a:spAutoFit/>
          </a:bodyPr>
          <a:lstStyle/>
          <a:p>
            <a:r>
              <a:rPr lang="en-IN" sz="1600" dirty="0" smtClean="0">
                <a:solidFill>
                  <a:srgbClr val="212529"/>
                </a:solidFill>
                <a:latin typeface="Calibri" panose="020F0502020204030204" pitchFamily="82" charset="0"/>
                <a:cs typeface="Arial" panose="020B0604020202020204" pitchFamily="34" charset="0"/>
              </a:rPr>
              <a:t>According to given data</a:t>
            </a:r>
            <a:br>
              <a:rPr lang="en-IN" dirty="0" smtClean="0">
                <a:latin typeface="Arial" panose="020B0604020202020204" pitchFamily="34" charset="0"/>
                <a:cs typeface="Arial" panose="020B0604020202020204" pitchFamily="34" charset="0"/>
              </a:rPr>
            </a:br>
            <a:br>
              <a:rPr lang="en-IN" dirty="0" smtClean="0">
                <a:latin typeface="Arial" panose="020B0604020202020204" pitchFamily="34" charset="0"/>
                <a:cs typeface="Arial" panose="020B0604020202020204" pitchFamily="34" charset="0"/>
              </a:rPr>
            </a:br>
            <a:r>
              <a:rPr lang="en-IN" sz="1600" dirty="0" smtClean="0">
                <a:solidFill>
                  <a:srgbClr val="212529"/>
                </a:solidFill>
                <a:latin typeface="Calibri" panose="020F0502020204030204" pitchFamily="82" charset="0"/>
                <a:cs typeface="Arial" panose="020B0604020202020204" pitchFamily="34" charset="0"/>
              </a:rPr>
              <a:t>Only 29% chat are completed which is very low</a:t>
            </a:r>
            <a:br>
              <a:rPr lang="en-IN" dirty="0" smtClean="0">
                <a:latin typeface="Arial" panose="020B0604020202020204" pitchFamily="34" charset="0"/>
                <a:cs typeface="Arial" panose="020B0604020202020204" pitchFamily="34" charset="0"/>
              </a:rPr>
            </a:br>
            <a:br>
              <a:rPr lang="en-IN" dirty="0" smtClean="0">
                <a:latin typeface="Arial" panose="020B0604020202020204" pitchFamily="34" charset="0"/>
                <a:cs typeface="Arial" panose="020B0604020202020204" pitchFamily="34" charset="0"/>
              </a:rPr>
            </a:br>
            <a:r>
              <a:rPr lang="en-IN" sz="1600" dirty="0" smtClean="0">
                <a:solidFill>
                  <a:srgbClr val="212529"/>
                </a:solidFill>
                <a:latin typeface="Calibri" panose="020F0502020204030204" pitchFamily="82" charset="0"/>
                <a:cs typeface="Arial" panose="020B0604020202020204" pitchFamily="34" charset="0"/>
              </a:rPr>
              <a:t>Need to improve chat completing</a:t>
            </a:r>
            <a:br>
              <a:rPr lang="en-IN" dirty="0" smtClean="0">
                <a:latin typeface="Arial" panose="020B0604020202020204" pitchFamily="34" charset="0"/>
                <a:cs typeface="Arial" panose="020B0604020202020204" pitchFamily="34" charset="0"/>
              </a:rPr>
            </a:br>
            <a:br>
              <a:rPr lang="en-IN" dirty="0" smtClean="0">
                <a:latin typeface="Arial" panose="020B0604020202020204" pitchFamily="34" charset="0"/>
                <a:cs typeface="Arial" panose="020B0604020202020204" pitchFamily="34" charset="0"/>
              </a:rPr>
            </a:br>
            <a:r>
              <a:rPr lang="en-IN" sz="1600" dirty="0" smtClean="0">
                <a:solidFill>
                  <a:srgbClr val="212529"/>
                </a:solidFill>
                <a:latin typeface="Calibri" panose="020F0502020204030204" pitchFamily="82" charset="0"/>
                <a:cs typeface="Arial" panose="020B0604020202020204" pitchFamily="34" charset="0"/>
              </a:rPr>
              <a:t>percentage by providing</a:t>
            </a:r>
            <a:br>
              <a:rPr lang="en-IN" dirty="0" smtClean="0">
                <a:latin typeface="Arial" panose="020B0604020202020204" pitchFamily="34" charset="0"/>
                <a:cs typeface="Arial" panose="020B0604020202020204" pitchFamily="34" charset="0"/>
              </a:rPr>
            </a:br>
            <a:br>
              <a:rPr lang="en-IN" dirty="0" smtClean="0">
                <a:latin typeface="Arial" panose="020B0604020202020204" pitchFamily="34" charset="0"/>
                <a:cs typeface="Arial" panose="020B0604020202020204" pitchFamily="34" charset="0"/>
              </a:rPr>
            </a:br>
            <a:r>
              <a:rPr lang="en-IN" sz="1600" dirty="0" smtClean="0">
                <a:solidFill>
                  <a:srgbClr val="212529"/>
                </a:solidFill>
                <a:latin typeface="Calibri" panose="020F0502020204030204" pitchFamily="82" charset="0"/>
                <a:cs typeface="Arial" panose="020B0604020202020204" pitchFamily="34" charset="0"/>
              </a:rPr>
              <a:t>automate AI Chat support for initial</a:t>
            </a:r>
            <a:br>
              <a:rPr lang="en-IN" dirty="0" smtClean="0">
                <a:latin typeface="Arial" panose="020B0604020202020204" pitchFamily="34" charset="0"/>
                <a:cs typeface="Arial" panose="020B0604020202020204" pitchFamily="34" charset="0"/>
              </a:rPr>
            </a:br>
            <a:br>
              <a:rPr lang="en-IN" dirty="0" smtClean="0">
                <a:latin typeface="Arial" panose="020B0604020202020204" pitchFamily="34" charset="0"/>
                <a:cs typeface="Arial" panose="020B0604020202020204" pitchFamily="34" charset="0"/>
              </a:rPr>
            </a:br>
            <a:r>
              <a:rPr lang="en-IN" sz="1600" dirty="0" smtClean="0">
                <a:solidFill>
                  <a:srgbClr val="212529"/>
                </a:solidFill>
                <a:latin typeface="Calibri" panose="020F0502020204030204" pitchFamily="82" charset="0"/>
                <a:cs typeface="Arial" panose="020B0604020202020204" pitchFamily="34" charset="0"/>
              </a:rPr>
              <a:t>engage and improve AI Chat Bot</a:t>
            </a:r>
            <a:br>
              <a:rPr lang="en-IN" dirty="0" smtClean="0">
                <a:latin typeface="Arial" panose="020B0604020202020204" pitchFamily="34" charset="0"/>
                <a:cs typeface="Arial" panose="020B0604020202020204" pitchFamily="34" charset="0"/>
              </a:rPr>
            </a:br>
            <a:r>
              <a:rPr lang="en-IN" sz="1600" dirty="0" smtClean="0">
                <a:solidFill>
                  <a:srgbClr val="212529"/>
                </a:solidFill>
                <a:latin typeface="Calibri" panose="020F0502020204030204" pitchFamily="82" charset="0"/>
                <a:cs typeface="Arial" panose="020B0604020202020204" pitchFamily="34" charset="0"/>
              </a:rPr>
              <a:t>increase chat completing</a:t>
            </a:r>
            <a:endParaRPr lang="en-IN" dirty="0">
              <a:latin typeface="Arial" panose="020B0604020202020204" pitchFamily="34" charset="0"/>
              <a:cs typeface="Arial" panose="020B0604020202020204" pitchFamily="34" charset="0"/>
            </a:endParaRPr>
          </a:p>
        </p:txBody>
      </p:sp>
      <p:graphicFrame>
        <p:nvGraphicFramePr>
          <p:cNvPr id="7" name="Diagram 6"/>
          <p:cNvGraphicFramePr/>
          <p:nvPr/>
        </p:nvGraphicFramePr>
        <p:xfrm>
          <a:off x="3671866" y="1293415"/>
          <a:ext cx="3138984" cy="42780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Rectangle 7"/>
          <p:cNvSpPr/>
          <p:nvPr/>
        </p:nvSpPr>
        <p:spPr>
          <a:xfrm>
            <a:off x="0" y="0"/>
            <a:ext cx="12192000" cy="3200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20040"/>
            <a:ext cx="164592"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92240"/>
            <a:ext cx="309880" cy="245110"/>
          </a:xfrm>
          <a:prstGeom prst="rect">
            <a:avLst/>
          </a:prstGeom>
          <a:noFill/>
        </p:spPr>
        <p:txBody>
          <a:bodyPr wrap="none">
            <a:spAutoFit/>
          </a:bodyPr>
          <a:lstStyle/>
          <a:p>
            <a:pPr algn="l">
              <a:defRPr sz="1000" b="1">
                <a:solidFill>
                  <a:srgbClr val="5A5A5A"/>
                </a:solidFill>
              </a:defRPr>
            </a:p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95055" y="0"/>
            <a:ext cx="9831835" cy="737937"/>
          </a:xfrm>
        </p:spPr>
        <p:txBody>
          <a:bodyPr>
            <a:noAutofit/>
          </a:bodyPr>
          <a:lstStyle/>
          <a:p>
            <a:pPr algn="ctr"/>
            <a:r>
              <a:rPr lang="en-IN" sz="1600" dirty="0" smtClean="0">
                <a:solidFill>
                  <a:srgbClr val="212529"/>
                </a:solidFill>
                <a:latin typeface="Calibri" panose="020F0502020204030204" pitchFamily="82" charset="0"/>
                <a:cs typeface="Arial" panose="020B0604020202020204" pitchFamily="34" charset="0"/>
              </a:rPr>
              <a:t>Total sales and revenue generated by category</a:t>
            </a:r>
            <a:endParaRPr lang="en-IN" sz="3600" dirty="0">
              <a:latin typeface="Arial" panose="020B0604020202020204" pitchFamily="34" charset="0"/>
              <a:cs typeface="Arial" panose="020B0604020202020204" pitchFamily="34" charset="0"/>
            </a:endParaRPr>
          </a:p>
        </p:txBody>
      </p:sp>
      <p:sp>
        <p:nvSpPr>
          <p:cNvPr id="6" name="TextBox 5"/>
          <p:cNvSpPr txBox="1"/>
          <p:nvPr/>
        </p:nvSpPr>
        <p:spPr>
          <a:xfrm>
            <a:off x="757154" y="1490345"/>
            <a:ext cx="2832208" cy="3693319"/>
          </a:xfrm>
          <a:prstGeom prst="rect">
            <a:avLst/>
          </a:prstGeom>
          <a:noFill/>
        </p:spPr>
        <p:txBody>
          <a:bodyPr wrap="square" rtlCol="0">
            <a:spAutoFit/>
          </a:bodyPr>
          <a:lstStyle/>
          <a:p>
            <a:r>
              <a:rPr lang="en-IN" sz="1600" dirty="0" smtClean="0">
                <a:solidFill>
                  <a:srgbClr val="212529"/>
                </a:solidFill>
                <a:latin typeface="Calibri" panose="020F0502020204030204" pitchFamily="82" charset="0"/>
                <a:cs typeface="Arial" panose="020B0604020202020204" pitchFamily="34" charset="0"/>
              </a:rPr>
              <a:t>According to given data</a:t>
            </a:r>
            <a:br>
              <a:rPr lang="en-IN" dirty="0" smtClean="0">
                <a:latin typeface="Arial" panose="020B0604020202020204" pitchFamily="34" charset="0"/>
                <a:cs typeface="Arial" panose="020B0604020202020204" pitchFamily="34" charset="0"/>
              </a:rPr>
            </a:br>
            <a:br>
              <a:rPr lang="en-IN" dirty="0" smtClean="0">
                <a:latin typeface="Arial" panose="020B0604020202020204" pitchFamily="34" charset="0"/>
                <a:cs typeface="Arial" panose="020B0604020202020204" pitchFamily="34" charset="0"/>
              </a:rPr>
            </a:br>
            <a:r>
              <a:rPr lang="en-IN" sz="1600" dirty="0" smtClean="0">
                <a:solidFill>
                  <a:srgbClr val="212529"/>
                </a:solidFill>
                <a:latin typeface="Calibri" panose="020F0502020204030204" pitchFamily="82" charset="0"/>
                <a:cs typeface="Arial" panose="020B0604020202020204" pitchFamily="34" charset="0"/>
              </a:rPr>
              <a:t>Top sales category is</a:t>
            </a:r>
            <a:endParaRPr lang="en-IN" sz="1600" dirty="0" smtClean="0">
              <a:solidFill>
                <a:srgbClr val="212529"/>
              </a:solidFill>
              <a:latin typeface="Calibri" panose="020F0502020204030204" pitchFamily="82"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r>
              <a:rPr lang="en-IN" sz="1600" dirty="0" smtClean="0">
                <a:solidFill>
                  <a:srgbClr val="212529"/>
                </a:solidFill>
                <a:latin typeface="Calibri" panose="020F0502020204030204" pitchFamily="82" charset="0"/>
                <a:cs typeface="Arial" panose="020B0604020202020204" pitchFamily="34" charset="0"/>
              </a:rPr>
              <a:t>Call also on Revenue and </a:t>
            </a:r>
            <a:endParaRPr lang="en-IN" sz="1600" dirty="0" smtClean="0">
              <a:solidFill>
                <a:srgbClr val="212529"/>
              </a:solidFill>
              <a:latin typeface="Calibri" panose="020F0502020204030204" pitchFamily="82"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r>
              <a:rPr lang="en-IN" sz="1600" dirty="0" smtClean="0">
                <a:solidFill>
                  <a:srgbClr val="212529"/>
                </a:solidFill>
                <a:latin typeface="Calibri" panose="020F0502020204030204" pitchFamily="82" charset="0"/>
                <a:cs typeface="Arial" panose="020B0604020202020204" pitchFamily="34" charset="0"/>
              </a:rPr>
              <a:t>Astrologer Earning.</a:t>
            </a:r>
            <a:br>
              <a:rPr lang="en-IN" dirty="0" smtClean="0">
                <a:latin typeface="Arial" panose="020B0604020202020204" pitchFamily="34" charset="0"/>
                <a:cs typeface="Arial" panose="020B0604020202020204" pitchFamily="34" charset="0"/>
              </a:rPr>
            </a:br>
            <a:br>
              <a:rPr lang="en-IN" dirty="0" smtClean="0">
                <a:latin typeface="Arial" panose="020B0604020202020204" pitchFamily="34" charset="0"/>
                <a:cs typeface="Arial" panose="020B0604020202020204" pitchFamily="34" charset="0"/>
              </a:rPr>
            </a:br>
            <a:r>
              <a:rPr lang="en-IN" sz="1600" dirty="0" smtClean="0">
                <a:solidFill>
                  <a:srgbClr val="212529"/>
                </a:solidFill>
                <a:latin typeface="Calibri" panose="020F0502020204030204" pitchFamily="82" charset="0"/>
                <a:cs typeface="Arial" panose="020B0604020202020204" pitchFamily="34" charset="0"/>
              </a:rPr>
              <a:t>Calls category is very </a:t>
            </a:r>
            <a:br>
              <a:rPr lang="en-IN" dirty="0" smtClean="0">
                <a:latin typeface="Arial" panose="020B0604020202020204" pitchFamily="34" charset="0"/>
                <a:cs typeface="Arial" panose="020B0604020202020204" pitchFamily="34" charset="0"/>
              </a:rPr>
            </a:br>
            <a:br>
              <a:rPr lang="en-IN" dirty="0" smtClean="0">
                <a:latin typeface="Arial" panose="020B0604020202020204" pitchFamily="34" charset="0"/>
                <a:cs typeface="Arial" panose="020B0604020202020204" pitchFamily="34" charset="0"/>
              </a:rPr>
            </a:br>
            <a:r>
              <a:rPr lang="en-IN" sz="1600" dirty="0" smtClean="0">
                <a:solidFill>
                  <a:srgbClr val="212529"/>
                </a:solidFill>
                <a:latin typeface="Calibri" panose="020F0502020204030204" pitchFamily="82" charset="0"/>
                <a:cs typeface="Arial" panose="020B0604020202020204" pitchFamily="34" charset="0"/>
              </a:rPr>
              <a:t>important segment to </a:t>
            </a:r>
            <a:br>
              <a:rPr lang="en-IN" dirty="0" smtClean="0">
                <a:latin typeface="Arial" panose="020B0604020202020204" pitchFamily="34" charset="0"/>
                <a:cs typeface="Arial" panose="020B0604020202020204" pitchFamily="34" charset="0"/>
              </a:rPr>
            </a:br>
            <a:br>
              <a:rPr lang="en-IN" dirty="0" smtClean="0">
                <a:latin typeface="Arial" panose="020B0604020202020204" pitchFamily="34" charset="0"/>
                <a:cs typeface="Arial" panose="020B0604020202020204" pitchFamily="34" charset="0"/>
              </a:rPr>
            </a:br>
            <a:r>
              <a:rPr lang="en-IN" sz="1600" dirty="0" smtClean="0">
                <a:solidFill>
                  <a:srgbClr val="212529"/>
                </a:solidFill>
                <a:latin typeface="Calibri" panose="020F0502020204030204" pitchFamily="82" charset="0"/>
                <a:cs typeface="Arial" panose="020B0604020202020204" pitchFamily="34" charset="0"/>
              </a:rPr>
              <a:t>improve.</a:t>
            </a:r>
            <a:endParaRPr lang="en-IN" dirty="0">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782325" y="1319761"/>
            <a:ext cx="7763681" cy="4098399"/>
          </a:xfrm>
          <a:prstGeom prst="rect">
            <a:avLst/>
          </a:prstGeom>
        </p:spPr>
      </p:pic>
      <p:sp>
        <p:nvSpPr>
          <p:cNvPr id="7" name="Rectangle 6"/>
          <p:cNvSpPr/>
          <p:nvPr/>
        </p:nvSpPr>
        <p:spPr>
          <a:xfrm>
            <a:off x="0" y="0"/>
            <a:ext cx="12192000" cy="320040"/>
          </a:xfrm>
          <a:prstGeom prst="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320040"/>
            <a:ext cx="164592" cy="6858000"/>
          </a:xfrm>
          <a:prstGeom prst="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92240"/>
            <a:ext cx="309880" cy="245110"/>
          </a:xfrm>
          <a:prstGeom prst="rect">
            <a:avLst/>
          </a:prstGeom>
          <a:noFill/>
        </p:spPr>
        <p:txBody>
          <a:bodyPr wrap="none">
            <a:spAutoFit/>
          </a:bodyPr>
          <a:lstStyle/>
          <a:p>
            <a:pPr algn="l">
              <a:defRPr sz="1000" b="1">
                <a:solidFill>
                  <a:srgbClr val="5A5A5A"/>
                </a:solidFill>
              </a:defRPr>
            </a:p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65689" y="0"/>
            <a:ext cx="10396882" cy="645695"/>
          </a:xfrm>
        </p:spPr>
        <p:txBody>
          <a:bodyPr>
            <a:noAutofit/>
          </a:bodyPr>
          <a:lstStyle/>
          <a:p>
            <a:pPr algn="ctr"/>
            <a:r>
              <a:rPr lang="en-IN" sz="1600" dirty="0" smtClean="0">
                <a:solidFill>
                  <a:srgbClr val="212529"/>
                </a:solidFill>
                <a:latin typeface="Calibri" panose="020F0502020204030204" pitchFamily="82" charset="0"/>
                <a:cs typeface="Arial" panose="020B0604020202020204" pitchFamily="34" charset="0"/>
              </a:rPr>
              <a:t>Total call distribution across hours</a:t>
            </a:r>
            <a:endParaRPr lang="en-IN" sz="3600" dirty="0">
              <a:latin typeface="Arial" panose="020B0604020202020204" pitchFamily="34" charset="0"/>
              <a:cs typeface="Arial" panose="020B0604020202020204" pitchFamily="34" charset="0"/>
            </a:endParaRPr>
          </a:p>
        </p:txBody>
      </p:sp>
      <p:sp>
        <p:nvSpPr>
          <p:cNvPr id="5" name="TextBox 4"/>
          <p:cNvSpPr txBox="1"/>
          <p:nvPr/>
        </p:nvSpPr>
        <p:spPr>
          <a:xfrm>
            <a:off x="784448" y="1456238"/>
            <a:ext cx="2136173" cy="3139321"/>
          </a:xfrm>
          <a:prstGeom prst="rect">
            <a:avLst/>
          </a:prstGeom>
          <a:noFill/>
        </p:spPr>
        <p:txBody>
          <a:bodyPr wrap="square" rtlCol="0">
            <a:spAutoFit/>
          </a:bodyPr>
          <a:lstStyle/>
          <a:p>
            <a:r>
              <a:rPr lang="en-IN" sz="1600" dirty="0" smtClean="0">
                <a:solidFill>
                  <a:srgbClr val="212529"/>
                </a:solidFill>
                <a:latin typeface="Calibri" panose="020F0502020204030204" pitchFamily="82" charset="0"/>
                <a:cs typeface="Arial" panose="020B0604020202020204" pitchFamily="34" charset="0"/>
              </a:rPr>
              <a:t>Call peak hour</a:t>
            </a:r>
            <a:br>
              <a:rPr lang="en-IN" dirty="0" smtClean="0">
                <a:latin typeface="Arial" panose="020B0604020202020204" pitchFamily="34" charset="0"/>
                <a:cs typeface="Arial" panose="020B0604020202020204" pitchFamily="34" charset="0"/>
              </a:rPr>
            </a:br>
            <a:br>
              <a:rPr lang="en-IN" dirty="0" smtClean="0">
                <a:latin typeface="Arial" panose="020B0604020202020204" pitchFamily="34" charset="0"/>
                <a:cs typeface="Arial" panose="020B0604020202020204" pitchFamily="34" charset="0"/>
              </a:rPr>
            </a:br>
            <a:r>
              <a:rPr lang="en-IN" sz="1600" dirty="0" smtClean="0">
                <a:solidFill>
                  <a:srgbClr val="212529"/>
                </a:solidFill>
                <a:latin typeface="Calibri" panose="020F0502020204030204" pitchFamily="82" charset="0"/>
                <a:cs typeface="Arial" panose="020B0604020202020204" pitchFamily="34" charset="0"/>
              </a:rPr>
              <a:t>must be focus on </a:t>
            </a:r>
            <a:endParaRPr lang="en-IN" sz="1600" dirty="0" smtClean="0">
              <a:solidFill>
                <a:srgbClr val="212529"/>
              </a:solidFill>
              <a:latin typeface="Calibri" panose="020F0502020204030204" pitchFamily="82"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r>
              <a:rPr lang="en-IN" sz="1600" dirty="0" smtClean="0">
                <a:solidFill>
                  <a:srgbClr val="212529"/>
                </a:solidFill>
                <a:latin typeface="Calibri" panose="020F0502020204030204" pitchFamily="82" charset="0"/>
                <a:cs typeface="Arial" panose="020B0604020202020204" pitchFamily="34" charset="0"/>
              </a:rPr>
              <a:t>Peak hour to engage</a:t>
            </a:r>
            <a:br>
              <a:rPr lang="en-IN" dirty="0" smtClean="0">
                <a:latin typeface="Arial" panose="020B0604020202020204" pitchFamily="34" charset="0"/>
                <a:cs typeface="Arial" panose="020B0604020202020204" pitchFamily="34" charset="0"/>
              </a:rPr>
            </a:br>
            <a:br>
              <a:rPr lang="en-IN" dirty="0" smtClean="0">
                <a:latin typeface="Arial" panose="020B0604020202020204" pitchFamily="34" charset="0"/>
                <a:cs typeface="Arial" panose="020B0604020202020204" pitchFamily="34" charset="0"/>
              </a:rPr>
            </a:br>
            <a:r>
              <a:rPr lang="en-IN" sz="1600" dirty="0" smtClean="0">
                <a:solidFill>
                  <a:srgbClr val="212529"/>
                </a:solidFill>
                <a:latin typeface="Calibri" panose="020F0502020204030204" pitchFamily="82" charset="0"/>
                <a:cs typeface="Arial" panose="020B0604020202020204" pitchFamily="34" charset="0"/>
              </a:rPr>
              <a:t>more user and generate</a:t>
            </a:r>
            <a:endParaRPr lang="en-IN" sz="1600" dirty="0" smtClean="0">
              <a:solidFill>
                <a:srgbClr val="212529"/>
              </a:solidFill>
              <a:latin typeface="Calibri" panose="020F0502020204030204" pitchFamily="82"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r>
              <a:rPr lang="en-IN" sz="1600" dirty="0" smtClean="0">
                <a:solidFill>
                  <a:srgbClr val="212529"/>
                </a:solidFill>
                <a:latin typeface="Calibri" panose="020F0502020204030204" pitchFamily="82" charset="0"/>
                <a:cs typeface="Arial" panose="020B0604020202020204" pitchFamily="34" charset="0"/>
              </a:rPr>
              <a:t>Maximum revenue.</a:t>
            </a:r>
            <a:endParaRPr lang="en-IN"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920620" y="1076681"/>
            <a:ext cx="9048467" cy="5037516"/>
          </a:xfrm>
          <a:prstGeom prst="rect">
            <a:avLst/>
          </a:prstGeom>
        </p:spPr>
      </p:pic>
      <p:sp>
        <p:nvSpPr>
          <p:cNvPr id="6" name="Rectangle 5"/>
          <p:cNvSpPr/>
          <p:nvPr/>
        </p:nvSpPr>
        <p:spPr>
          <a:xfrm>
            <a:off x="0" y="0"/>
            <a:ext cx="12192000" cy="32004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320040"/>
            <a:ext cx="164592" cy="685800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92240"/>
            <a:ext cx="309880" cy="245110"/>
          </a:xfrm>
          <a:prstGeom prst="rect">
            <a:avLst/>
          </a:prstGeom>
          <a:noFill/>
        </p:spPr>
        <p:txBody>
          <a:bodyPr wrap="none">
            <a:spAutoFit/>
          </a:bodyPr>
          <a:lstStyle/>
          <a:p>
            <a:pPr algn="l">
              <a:defRPr sz="1000" b="1">
                <a:solidFill>
                  <a:srgbClr val="5A5A5A"/>
                </a:solidFill>
              </a:defRPr>
            </a:p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90266" y="0"/>
            <a:ext cx="10396882" cy="757989"/>
          </a:xfrm>
        </p:spPr>
        <p:txBody>
          <a:bodyPr>
            <a:normAutofit/>
          </a:bodyPr>
          <a:lstStyle/>
          <a:p>
            <a:pPr algn="ctr"/>
            <a:r>
              <a:rPr lang="en-IN" sz="1600" dirty="0" smtClean="0">
                <a:solidFill>
                  <a:srgbClr val="212529"/>
                </a:solidFill>
                <a:latin typeface="Calibri" panose="020F0502020204030204" pitchFamily="82" charset="0"/>
                <a:cs typeface="Arial" panose="020B0604020202020204" pitchFamily="34" charset="0"/>
              </a:rPr>
              <a:t>Top 10 guru</a:t>
            </a:r>
            <a:endParaRPr lang="en-IN" sz="3600" dirty="0">
              <a:latin typeface="Arial" panose="020B0604020202020204" pitchFamily="34" charset="0"/>
              <a:cs typeface="Arial" panose="020B0604020202020204" pitchFamily="34" charset="0"/>
            </a:endParaRPr>
          </a:p>
        </p:txBody>
      </p:sp>
      <p:sp>
        <p:nvSpPr>
          <p:cNvPr id="5" name="TextBox 4"/>
          <p:cNvSpPr txBox="1"/>
          <p:nvPr/>
        </p:nvSpPr>
        <p:spPr>
          <a:xfrm>
            <a:off x="825391" y="882316"/>
            <a:ext cx="3238517" cy="3330399"/>
          </a:xfrm>
          <a:prstGeom prst="rect">
            <a:avLst/>
          </a:prstGeom>
          <a:noFill/>
        </p:spPr>
        <p:txBody>
          <a:bodyPr wrap="square" rtlCol="0">
            <a:spAutoFit/>
          </a:bodyPr>
          <a:lstStyle/>
          <a:p>
            <a:pPr>
              <a:lnSpc>
                <a:spcPct val="200000"/>
              </a:lnSpc>
            </a:pPr>
            <a:r>
              <a:rPr lang="en-IN" sz="1600" dirty="0" smtClean="0">
                <a:solidFill>
                  <a:srgbClr val="212529"/>
                </a:solidFill>
                <a:latin typeface="Calibri" panose="020F0502020204030204" pitchFamily="82" charset="0"/>
                <a:cs typeface="Arial" panose="020B0604020202020204" pitchFamily="34" charset="0"/>
              </a:rPr>
              <a:t>Represents the top 10 guru on earning based on various criteria like "sum of astrologers earnings", "sum of chat duration" and "sum of call time duration".</a:t>
            </a:r>
            <a:endParaRPr lang="en-IN" dirty="0">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063908" y="1183072"/>
            <a:ext cx="8128092" cy="5034390"/>
          </a:xfrm>
          <a:prstGeom prst="rect">
            <a:avLst/>
          </a:prstGeom>
        </p:spPr>
      </p:pic>
      <p:sp>
        <p:nvSpPr>
          <p:cNvPr id="6" name="Rectangle 5"/>
          <p:cNvSpPr/>
          <p:nvPr/>
        </p:nvSpPr>
        <p:spPr>
          <a:xfrm>
            <a:off x="0" y="0"/>
            <a:ext cx="12192000" cy="320040"/>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320040"/>
            <a:ext cx="164592" cy="6858000"/>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92240"/>
            <a:ext cx="309880" cy="245110"/>
          </a:xfrm>
          <a:prstGeom prst="rect">
            <a:avLst/>
          </a:prstGeom>
          <a:noFill/>
        </p:spPr>
        <p:txBody>
          <a:bodyPr wrap="none">
            <a:spAutoFit/>
          </a:bodyPr>
          <a:lstStyle/>
          <a:p>
            <a:pPr algn="l">
              <a:defRPr sz="1000" b="1">
                <a:solidFill>
                  <a:srgbClr val="5A5A5A"/>
                </a:solidFill>
              </a:defRPr>
            </a:p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8181" y="0"/>
            <a:ext cx="10396882" cy="625642"/>
          </a:xfrm>
        </p:spPr>
        <p:txBody>
          <a:bodyPr>
            <a:noAutofit/>
          </a:bodyPr>
          <a:lstStyle/>
          <a:p>
            <a:pPr algn="ctr"/>
            <a:r>
              <a:rPr lang="en-IN" sz="1600" dirty="0" smtClean="0">
                <a:solidFill>
                  <a:srgbClr val="212529"/>
                </a:solidFill>
                <a:latin typeface="Calibri" panose="020F0502020204030204" pitchFamily="82" charset="0"/>
                <a:cs typeface="Arial" panose="020B0604020202020204" pitchFamily="34" charset="0"/>
              </a:rPr>
              <a:t>Rating vs count of rating</a:t>
            </a:r>
            <a:endParaRPr lang="en-IN" sz="3600"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918576" y="938585"/>
            <a:ext cx="6613782" cy="4790574"/>
          </a:xfrm>
          <a:prstGeom prst="rect">
            <a:avLst/>
          </a:prstGeom>
        </p:spPr>
      </p:pic>
      <p:sp>
        <p:nvSpPr>
          <p:cNvPr id="5" name="Rectangle 4"/>
          <p:cNvSpPr/>
          <p:nvPr/>
        </p:nvSpPr>
        <p:spPr>
          <a:xfrm>
            <a:off x="878307" y="1489232"/>
            <a:ext cx="3903260" cy="2862322"/>
          </a:xfrm>
          <a:prstGeom prst="rect">
            <a:avLst/>
          </a:prstGeom>
        </p:spPr>
        <p:txBody>
          <a:bodyPr wrap="square">
            <a:spAutoFit/>
          </a:bodyPr>
          <a:lstStyle/>
          <a:p>
            <a:r>
              <a:rPr lang="en-IN" sz="1600" dirty="0" smtClean="0">
                <a:solidFill>
                  <a:srgbClr val="212529"/>
                </a:solidFill>
                <a:latin typeface="Calibri" panose="020F0502020204030204" pitchFamily="82" charset="0"/>
                <a:cs typeface="Arial" panose="020B0604020202020204" pitchFamily="34" charset="0"/>
              </a:rPr>
              <a:t>According to data</a:t>
            </a:r>
            <a:br>
              <a:rPr lang="en-IN" dirty="0" smtClean="0">
                <a:latin typeface="Arial" panose="020B0604020202020204" pitchFamily="34" charset="0"/>
                <a:cs typeface="Arial" panose="020B0604020202020204" pitchFamily="34" charset="0"/>
              </a:rPr>
            </a:br>
            <a:br>
              <a:rPr lang="en-IN" dirty="0" smtClean="0">
                <a:latin typeface="Arial" panose="020B0604020202020204" pitchFamily="34" charset="0"/>
                <a:cs typeface="Arial" panose="020B0604020202020204" pitchFamily="34" charset="0"/>
              </a:rPr>
            </a:br>
            <a:r>
              <a:rPr lang="en-IN" sz="1600" dirty="0" smtClean="0">
                <a:solidFill>
                  <a:srgbClr val="212529"/>
                </a:solidFill>
                <a:latin typeface="Calibri" panose="020F0502020204030204" pitchFamily="82" charset="0"/>
                <a:cs typeface="Arial" panose="020B0604020202020204" pitchFamily="34" charset="0"/>
              </a:rPr>
              <a:t>Overall rating is very poor</a:t>
            </a:r>
            <a:br>
              <a:rPr lang="en-IN" dirty="0" smtClean="0">
                <a:latin typeface="Arial" panose="020B0604020202020204" pitchFamily="34" charset="0"/>
                <a:cs typeface="Arial" panose="020B0604020202020204" pitchFamily="34" charset="0"/>
              </a:rPr>
            </a:br>
            <a:br>
              <a:rPr lang="en-IN" dirty="0" smtClean="0">
                <a:latin typeface="Arial" panose="020B0604020202020204" pitchFamily="34" charset="0"/>
                <a:cs typeface="Arial" panose="020B0604020202020204" pitchFamily="34" charset="0"/>
              </a:rPr>
            </a:br>
            <a:r>
              <a:rPr lang="en-IN" sz="1600" dirty="0" smtClean="0">
                <a:solidFill>
                  <a:srgbClr val="212529"/>
                </a:solidFill>
                <a:latin typeface="Calibri" panose="020F0502020204030204" pitchFamily="82" charset="0"/>
                <a:cs typeface="Arial" panose="020B0604020202020204" pitchFamily="34" charset="0"/>
              </a:rPr>
              <a:t>it show customer satisfaction is Low.</a:t>
            </a:r>
            <a:br>
              <a:rPr lang="en-IN" dirty="0" smtClean="0">
                <a:latin typeface="Arial" panose="020B0604020202020204" pitchFamily="34" charset="0"/>
                <a:cs typeface="Arial" panose="020B0604020202020204" pitchFamily="34" charset="0"/>
              </a:rPr>
            </a:br>
            <a:br>
              <a:rPr lang="en-IN" dirty="0" smtClean="0">
                <a:latin typeface="Arial" panose="020B0604020202020204" pitchFamily="34" charset="0"/>
                <a:cs typeface="Arial" panose="020B0604020202020204" pitchFamily="34" charset="0"/>
              </a:rPr>
            </a:br>
            <a:r>
              <a:rPr lang="en-IN" sz="1600" dirty="0" smtClean="0">
                <a:solidFill>
                  <a:srgbClr val="212529"/>
                </a:solidFill>
                <a:latin typeface="Calibri" panose="020F0502020204030204" pitchFamily="82" charset="0"/>
                <a:cs typeface="Arial" panose="020B0604020202020204" pitchFamily="34" charset="0"/>
              </a:rPr>
              <a:t>Need to improve customer satisfaction by providing </a:t>
            </a:r>
            <a:endParaRPr lang="en-IN" sz="1600" dirty="0" smtClean="0">
              <a:solidFill>
                <a:srgbClr val="212529"/>
              </a:solidFill>
              <a:latin typeface="Calibri" panose="020F0502020204030204" pitchFamily="82"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r>
              <a:rPr lang="en-IN" sz="1600" dirty="0" smtClean="0">
                <a:solidFill>
                  <a:srgbClr val="212529"/>
                </a:solidFill>
                <a:latin typeface="Calibri" panose="020F0502020204030204" pitchFamily="82" charset="0"/>
                <a:cs typeface="Arial" panose="020B0604020202020204" pitchFamily="34" charset="0"/>
              </a:rPr>
              <a:t>Free chat through AI Chat Bot .</a:t>
            </a:r>
            <a:endParaRPr lang="en-IN" dirty="0">
              <a:latin typeface="Arial" panose="020B0604020202020204" pitchFamily="34" charset="0"/>
              <a:cs typeface="Arial" panose="020B0604020202020204" pitchFamily="34" charset="0"/>
            </a:endParaRPr>
          </a:p>
        </p:txBody>
      </p:sp>
      <p:sp>
        <p:nvSpPr>
          <p:cNvPr id="6" name="Rectangle 5"/>
          <p:cNvSpPr/>
          <p:nvPr/>
        </p:nvSpPr>
        <p:spPr>
          <a:xfrm>
            <a:off x="0" y="0"/>
            <a:ext cx="12192000" cy="3200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320040"/>
            <a:ext cx="164592"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92240"/>
            <a:ext cx="309880" cy="245110"/>
          </a:xfrm>
          <a:prstGeom prst="rect">
            <a:avLst/>
          </a:prstGeom>
          <a:noFill/>
        </p:spPr>
        <p:txBody>
          <a:bodyPr wrap="none">
            <a:spAutoFit/>
          </a:bodyPr>
          <a:lstStyle/>
          <a:p>
            <a:pPr algn="l">
              <a:defRPr sz="1000" b="1">
                <a:solidFill>
                  <a:srgbClr val="5A5A5A"/>
                </a:solidFill>
              </a:defRPr>
            </a:p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08632" y="0"/>
            <a:ext cx="10396882" cy="753979"/>
          </a:xfrm>
        </p:spPr>
        <p:txBody>
          <a:bodyPr>
            <a:normAutofit/>
          </a:bodyPr>
          <a:lstStyle/>
          <a:p>
            <a:pPr algn="ctr"/>
            <a:r>
              <a:rPr lang="en-IN" sz="1600" dirty="0" smtClean="0">
                <a:solidFill>
                  <a:srgbClr val="212529"/>
                </a:solidFill>
                <a:latin typeface="Calibri" panose="020F0502020204030204" pitchFamily="82" charset="0"/>
                <a:cs typeface="Arial" panose="020B0604020202020204" pitchFamily="34" charset="0"/>
              </a:rPr>
              <a:t>Daily count of Consultant Type</a:t>
            </a:r>
            <a:endParaRPr lang="en-IN" sz="3600" dirty="0">
              <a:latin typeface="Arial" panose="020B0604020202020204" pitchFamily="34" charset="0"/>
              <a:cs typeface="Arial" panose="020B0604020202020204" pitchFamily="34" charset="0"/>
            </a:endParaRPr>
          </a:p>
        </p:txBody>
      </p:sp>
      <p:sp>
        <p:nvSpPr>
          <p:cNvPr id="6" name="Rectangle 5"/>
          <p:cNvSpPr/>
          <p:nvPr/>
        </p:nvSpPr>
        <p:spPr>
          <a:xfrm>
            <a:off x="808632" y="1698161"/>
            <a:ext cx="2344002" cy="1754326"/>
          </a:xfrm>
          <a:prstGeom prst="rect">
            <a:avLst/>
          </a:prstGeom>
        </p:spPr>
        <p:txBody>
          <a:bodyPr wrap="square">
            <a:spAutoFit/>
          </a:bodyPr>
          <a:lstStyle/>
          <a:p>
            <a:r>
              <a:rPr lang="en-IN" sz="1600" dirty="0" smtClean="0">
                <a:solidFill>
                  <a:srgbClr val="212529"/>
                </a:solidFill>
                <a:latin typeface="Calibri" panose="020F0502020204030204" pitchFamily="82" charset="0"/>
                <a:cs typeface="Arial" panose="020B0604020202020204" pitchFamily="34" charset="0"/>
              </a:rPr>
              <a:t>According to Given Data</a:t>
            </a:r>
            <a:endParaRPr lang="en-IN" sz="1600" dirty="0" smtClean="0">
              <a:solidFill>
                <a:srgbClr val="212529"/>
              </a:solidFill>
              <a:latin typeface="Calibri" panose="020F0502020204030204" pitchFamily="82"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r>
              <a:rPr lang="en-IN" sz="1600" dirty="0" smtClean="0">
                <a:solidFill>
                  <a:srgbClr val="212529"/>
                </a:solidFill>
                <a:latin typeface="Calibri" panose="020F0502020204030204" pitchFamily="82" charset="0"/>
                <a:cs typeface="Arial" panose="020B0604020202020204" pitchFamily="34" charset="0"/>
              </a:rPr>
              <a:t>Daily consultant</a:t>
            </a:r>
            <a:br>
              <a:rPr lang="en-IN" dirty="0" smtClean="0">
                <a:latin typeface="Arial" panose="020B0604020202020204" pitchFamily="34" charset="0"/>
                <a:cs typeface="Arial" panose="020B0604020202020204" pitchFamily="34" charset="0"/>
              </a:rPr>
            </a:br>
            <a:r>
              <a:rPr lang="en-IN" sz="1600" dirty="0" smtClean="0">
                <a:solidFill>
                  <a:srgbClr val="212529"/>
                </a:solidFill>
                <a:latin typeface="Calibri" panose="020F0502020204030204" pitchFamily="82" charset="0"/>
                <a:cs typeface="Arial" panose="020B0604020202020204" pitchFamily="34" charset="0"/>
              </a:rPr>
              <a:t>(including call, chat..)</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457432" y="1029314"/>
            <a:ext cx="7815619" cy="5104856"/>
          </a:xfrm>
          <a:prstGeom prst="rect">
            <a:avLst/>
          </a:prstGeom>
        </p:spPr>
      </p:pic>
      <p:sp>
        <p:nvSpPr>
          <p:cNvPr id="7" name="Rectangle 6"/>
          <p:cNvSpPr/>
          <p:nvPr/>
        </p:nvSpPr>
        <p:spPr>
          <a:xfrm>
            <a:off x="0" y="0"/>
            <a:ext cx="12192000" cy="320040"/>
          </a:xfrm>
          <a:prstGeom prst="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320040"/>
            <a:ext cx="164592" cy="6858000"/>
          </a:xfrm>
          <a:prstGeom prst="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92240"/>
            <a:ext cx="309880" cy="245110"/>
          </a:xfrm>
          <a:prstGeom prst="rect">
            <a:avLst/>
          </a:prstGeom>
          <a:noFill/>
        </p:spPr>
        <p:txBody>
          <a:bodyPr wrap="none">
            <a:spAutoFit/>
          </a:bodyPr>
          <a:lstStyle/>
          <a:p>
            <a:pPr algn="l">
              <a:defRPr sz="1000" b="1">
                <a:solidFill>
                  <a:srgbClr val="5A5A5A"/>
                </a:solidFill>
              </a:defRPr>
            </a:p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4" name="Title 1"/>
          <p:cNvSpPr>
            <a:spLocks noGrp="1"/>
          </p:cNvSpPr>
          <p:nvPr>
            <p:ph type="title"/>
          </p:nvPr>
        </p:nvSpPr>
        <p:spPr>
          <a:xfrm>
            <a:off x="685801" y="0"/>
            <a:ext cx="10396882" cy="753979"/>
          </a:xfrm>
        </p:spPr>
        <p:txBody>
          <a:bodyPr>
            <a:normAutofit/>
          </a:bodyPr>
          <a:lstStyle/>
          <a:p>
            <a:pPr algn="ctr"/>
            <a:r>
              <a:rPr lang="en-IN" sz="1600" dirty="0" smtClean="0">
                <a:solidFill>
                  <a:srgbClr val="212529"/>
                </a:solidFill>
                <a:latin typeface="Calibri" panose="020F0502020204030204" pitchFamily="82" charset="0"/>
                <a:cs typeface="Arial" panose="020B0604020202020204" pitchFamily="34" charset="0"/>
              </a:rPr>
              <a:t>Daily net Amount</a:t>
            </a:r>
            <a:endParaRPr lang="en-IN" sz="3600" dirty="0">
              <a:latin typeface="Arial" panose="020B0604020202020204" pitchFamily="34" charset="0"/>
              <a:cs typeface="Arial" panose="020B0604020202020204" pitchFamily="34" charset="0"/>
            </a:endParaRPr>
          </a:p>
        </p:txBody>
      </p:sp>
      <p:sp>
        <p:nvSpPr>
          <p:cNvPr id="5" name="Rectangle 4"/>
          <p:cNvSpPr/>
          <p:nvPr/>
        </p:nvSpPr>
        <p:spPr>
          <a:xfrm>
            <a:off x="685801" y="1384262"/>
            <a:ext cx="1688908" cy="2308324"/>
          </a:xfrm>
          <a:prstGeom prst="rect">
            <a:avLst/>
          </a:prstGeom>
        </p:spPr>
        <p:txBody>
          <a:bodyPr wrap="square">
            <a:spAutoFit/>
          </a:bodyPr>
          <a:lstStyle/>
          <a:p>
            <a:r>
              <a:rPr lang="en-IN" sz="1600" dirty="0" smtClean="0">
                <a:solidFill>
                  <a:srgbClr val="212529"/>
                </a:solidFill>
                <a:latin typeface="Calibri" panose="020F0502020204030204" pitchFamily="82" charset="0"/>
                <a:cs typeface="Arial" panose="020B0604020202020204" pitchFamily="34" charset="0"/>
              </a:rPr>
              <a:t>According to Given Data</a:t>
            </a:r>
            <a:endParaRPr lang="en-IN" sz="1600" dirty="0" smtClean="0">
              <a:solidFill>
                <a:srgbClr val="212529"/>
              </a:solidFill>
              <a:latin typeface="Calibri" panose="020F0502020204030204" pitchFamily="82"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r>
              <a:rPr lang="en-IN" sz="1600" dirty="0" smtClean="0">
                <a:solidFill>
                  <a:srgbClr val="212529"/>
                </a:solidFill>
                <a:latin typeface="Calibri" panose="020F0502020204030204" pitchFamily="82" charset="0"/>
                <a:cs typeface="Arial" panose="020B0604020202020204" pitchFamily="34" charset="0"/>
              </a:rPr>
              <a:t>Sum of Daily net Amount </a:t>
            </a:r>
            <a:endParaRPr lang="en-IN" sz="1600" dirty="0" smtClean="0">
              <a:solidFill>
                <a:srgbClr val="212529"/>
              </a:solidFill>
              <a:latin typeface="Calibri" panose="020F0502020204030204" pitchFamily="82" charset="0"/>
              <a:cs typeface="Arial" panose="020B0604020202020204" pitchFamily="34" charset="0"/>
            </a:endParaRPr>
          </a:p>
          <a:p>
            <a:r>
              <a:rPr lang="en-IN" sz="1600" dirty="0" smtClean="0">
                <a:solidFill>
                  <a:srgbClr val="212529"/>
                </a:solidFill>
                <a:latin typeface="Calibri" panose="020F0502020204030204" pitchFamily="82" charset="0"/>
                <a:cs typeface="Arial" panose="020B0604020202020204" pitchFamily="34" charset="0"/>
              </a:rPr>
              <a:t>( including call , chat )</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34018" y="1206500"/>
            <a:ext cx="8652681" cy="4445000"/>
          </a:xfrm>
          <a:prstGeom prst="rect">
            <a:avLst/>
          </a:prstGeom>
        </p:spPr>
      </p:pic>
      <p:sp>
        <p:nvSpPr>
          <p:cNvPr id="7" name="Rectangle 6"/>
          <p:cNvSpPr/>
          <p:nvPr/>
        </p:nvSpPr>
        <p:spPr>
          <a:xfrm>
            <a:off x="0" y="0"/>
            <a:ext cx="12192000" cy="32004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320040"/>
            <a:ext cx="164592" cy="685800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92240"/>
            <a:ext cx="309880" cy="245110"/>
          </a:xfrm>
          <a:prstGeom prst="rect">
            <a:avLst/>
          </a:prstGeom>
          <a:noFill/>
        </p:spPr>
        <p:txBody>
          <a:bodyPr wrap="none">
            <a:spAutoFit/>
          </a:bodyPr>
          <a:lstStyle/>
          <a:p>
            <a:pPr algn="l">
              <a:defRPr sz="1000" b="1">
                <a:solidFill>
                  <a:srgbClr val="5A5A5A"/>
                </a:solidFill>
              </a:defRPr>
            </a:p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38632" y="0"/>
            <a:ext cx="10396882" cy="641445"/>
          </a:xfrm>
        </p:spPr>
        <p:txBody>
          <a:bodyPr>
            <a:normAutofit fontScale="90000"/>
          </a:bodyPr>
          <a:lstStyle/>
          <a:p>
            <a:pPr algn="ctr"/>
            <a:r>
              <a:rPr lang="en-IN" sz="1600" dirty="0" err="1" smtClean="0">
                <a:solidFill>
                  <a:srgbClr val="212529"/>
                </a:solidFill>
                <a:latin typeface="Calibri" panose="020F0502020204030204" pitchFamily="82" charset="0"/>
                <a:cs typeface="Arial" panose="020B0604020202020204" pitchFamily="34" charset="0"/>
              </a:rPr>
              <a:t>Astrosage</a:t>
            </a:r>
            <a:r>
              <a:rPr lang="en-IN" sz="1600" dirty="0" smtClean="0">
                <a:solidFill>
                  <a:srgbClr val="212529"/>
                </a:solidFill>
                <a:latin typeface="Calibri" panose="020F0502020204030204" pitchFamily="82" charset="0"/>
                <a:cs typeface="Arial" panose="020B0604020202020204" pitchFamily="34" charset="0"/>
              </a:rPr>
              <a:t> dashboard</a:t>
            </a:r>
            <a:endParaRPr lang="en-IN" sz="4000"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7421" y="996287"/>
            <a:ext cx="11859904" cy="5308979"/>
          </a:xfrm>
          <a:prstGeom prst="rect">
            <a:avLst/>
          </a:prstGeom>
        </p:spPr>
      </p:pic>
      <p:sp>
        <p:nvSpPr>
          <p:cNvPr id="5" name="Rectangle 4"/>
          <p:cNvSpPr/>
          <p:nvPr/>
        </p:nvSpPr>
        <p:spPr>
          <a:xfrm>
            <a:off x="0" y="0"/>
            <a:ext cx="12192000" cy="320040"/>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320040"/>
            <a:ext cx="164592" cy="6858000"/>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309880" cy="245110"/>
          </a:xfrm>
          <a:prstGeom prst="rect">
            <a:avLst/>
          </a:prstGeom>
          <a:noFill/>
        </p:spPr>
        <p:txBody>
          <a:bodyPr wrap="none">
            <a:spAutoFit/>
          </a:bodyPr>
          <a:lstStyle/>
          <a:p>
            <a:pPr algn="l">
              <a:defRPr sz="1000" b="1">
                <a:solidFill>
                  <a:srgbClr val="5A5A5A"/>
                </a:solidFill>
              </a:defRPr>
            </a:p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Shape 114"/>
        <p:cNvGrpSpPr/>
        <p:nvPr/>
      </p:nvGrpSpPr>
      <p:grpSpPr>
        <a:xfrm>
          <a:off x="0" y="0"/>
          <a:ext cx="0" cy="0"/>
          <a:chOff x="0" y="0"/>
          <a:chExt cx="0" cy="0"/>
        </a:xfrm>
      </p:grpSpPr>
      <p:sp>
        <p:nvSpPr>
          <p:cNvPr id="115" name="Google Shape;115;p15"/>
          <p:cNvSpPr txBox="1">
            <a:spLocks noGrp="1"/>
          </p:cNvSpPr>
          <p:nvPr>
            <p:ph type="title"/>
          </p:nvPr>
        </p:nvSpPr>
        <p:spPr>
          <a:xfrm>
            <a:off x="1965277" y="0"/>
            <a:ext cx="8023746" cy="696035"/>
          </a:xfrm>
          <a:prstGeom prst="rect">
            <a:avLst/>
          </a:prstGeom>
          <a:noFill/>
          <a:ln>
            <a:noFill/>
          </a:ln>
        </p:spPr>
        <p:txBody>
          <a:bodyPr spcFirstLastPara="1" wrap="square" lIns="91425" tIns="45700" rIns="91425" bIns="45700" anchor="b" anchorCtr="0">
            <a:normAutofit fontScale="90000"/>
          </a:bodyPr>
          <a:lstStyle/>
          <a:p>
            <a:pPr algn="ctr"/>
            <a:r>
              <a:rPr lang="en-IN" sz="1600" dirty="0">
                <a:solidFill>
                  <a:srgbClr val="212529"/>
                </a:solidFill>
                <a:latin typeface="Calibri" panose="020F0502020204030204" pitchFamily="82" charset="0"/>
                <a:cs typeface="Arial" panose="020B0604020202020204" pitchFamily="34" charset="0"/>
              </a:rPr>
              <a:t>Key Insights Summary</a:t>
            </a:r>
            <a:endParaRPr lang="en-IN" sz="1600" dirty="0">
              <a:solidFill>
                <a:srgbClr val="212529"/>
              </a:solidFill>
              <a:latin typeface="Calibri" panose="020F0502020204030204" pitchFamily="82" charset="0"/>
              <a:cs typeface="Arial" panose="020B0604020202020204" pitchFamily="34" charset="0"/>
            </a:endParaRPr>
          </a:p>
        </p:txBody>
      </p:sp>
      <p:sp>
        <p:nvSpPr>
          <p:cNvPr id="2" name="Rectangle 1"/>
          <p:cNvSpPr/>
          <p:nvPr/>
        </p:nvSpPr>
        <p:spPr>
          <a:xfrm>
            <a:off x="1063387" y="1037234"/>
            <a:ext cx="10112991" cy="1200329"/>
          </a:xfrm>
          <a:prstGeom prst="rect">
            <a:avLst/>
          </a:prstGeom>
        </p:spPr>
        <p:txBody>
          <a:bodyPr wrap="square">
            <a:spAutoFit/>
          </a:bodyPr>
          <a:lstStyle/>
          <a:p>
            <a:r>
              <a:rPr lang="en-IN" sz="2400" b="1" dirty="0" err="1">
                <a:solidFill>
                  <a:srgbClr val="0F172A"/>
                </a:solidFill>
                <a:latin typeface="Calibri" panose="020F0502020204030204" pitchFamily="82" charset="0"/>
                <a:cs typeface="Arial" panose="020B0604020202020204" pitchFamily="34" charset="0"/>
              </a:rPr>
              <a:t>AstroSage</a:t>
            </a:r>
            <a:r>
              <a:rPr lang="en-IN" sz="2400" b="1" dirty="0">
                <a:solidFill>
                  <a:srgbClr val="0F172A"/>
                </a:solidFill>
                <a:latin typeface="Calibri" panose="020F0502020204030204" pitchFamily="82" charset="0"/>
                <a:cs typeface="Arial" panose="020B0604020202020204" pitchFamily="34" charset="0"/>
              </a:rPr>
              <a:t> has lower average call volumes compared to </a:t>
            </a:r>
            <a:r>
              <a:rPr lang="en-IN" sz="2400" b="1" dirty="0" err="1">
                <a:solidFill>
                  <a:srgbClr val="0F172A"/>
                </a:solidFill>
                <a:latin typeface="Calibri" panose="020F0502020204030204" pitchFamily="82" charset="0"/>
                <a:cs typeface="Arial" panose="020B0604020202020204" pitchFamily="34" charset="0"/>
              </a:rPr>
              <a:t>AstroGuru</a:t>
            </a:r>
            <a:r>
              <a:rPr lang="en-IN" sz="2400" b="1" dirty="0">
                <a:solidFill>
                  <a:srgbClr val="0F172A"/>
                </a:solidFill>
                <a:latin typeface="Calibri" panose="020F0502020204030204" pitchFamily="82" charset="0"/>
                <a:cs typeface="Arial" panose="020B0604020202020204" pitchFamily="34" charset="0"/>
              </a:rPr>
              <a:t>.</a:t>
            </a:r>
            <a:endParaRPr lang="en-IN" sz="2400" b="1" dirty="0">
              <a:solidFill>
                <a:srgbClr val="0F172A"/>
              </a:solidFill>
              <a:latin typeface="Calibri" panose="020F0502020204030204" pitchFamily="82" charset="0"/>
              <a:cs typeface="Arial" panose="020B0604020202020204" pitchFamily="34" charset="0"/>
            </a:endParaRPr>
          </a:p>
          <a:p>
            <a:r>
              <a:rPr lang="en-IN" sz="1600" b="1" dirty="0" smtClean="0">
                <a:solidFill>
                  <a:srgbClr val="212529"/>
                </a:solidFill>
                <a:latin typeface="Calibri" panose="020F0502020204030204" pitchFamily="82" charset="0"/>
                <a:cs typeface="Arial" panose="020B0604020202020204" pitchFamily="34" charset="0"/>
              </a:rPr>
              <a:t>Customer </a:t>
            </a:r>
            <a:r>
              <a:rPr lang="en-IN" sz="1600" b="1" dirty="0">
                <a:solidFill>
                  <a:srgbClr val="212529"/>
                </a:solidFill>
                <a:latin typeface="Calibri" panose="020F0502020204030204" pitchFamily="82" charset="0"/>
                <a:cs typeface="Arial" panose="020B0604020202020204" pitchFamily="34" charset="0"/>
              </a:rPr>
              <a:t>satisfaction is declining, indicating potential service issues.</a:t>
            </a:r>
            <a:endParaRPr lang="en-IN" sz="1600" b="1" dirty="0">
              <a:solidFill>
                <a:srgbClr val="212529"/>
              </a:solidFill>
              <a:latin typeface="Calibri" panose="020F0502020204030204" pitchFamily="82" charset="0"/>
              <a:cs typeface="Arial" panose="020B0604020202020204" pitchFamily="34" charset="0"/>
            </a:endParaRPr>
          </a:p>
          <a:p>
            <a:r>
              <a:rPr lang="en-IN" sz="1600" b="1" dirty="0">
                <a:solidFill>
                  <a:srgbClr val="212529"/>
                </a:solidFill>
                <a:latin typeface="Calibri" panose="020F0502020204030204" pitchFamily="82" charset="0"/>
                <a:cs typeface="Arial" panose="020B0604020202020204" pitchFamily="34" charset="0"/>
              </a:rPr>
              <a:t> </a:t>
            </a:r>
            <a:r>
              <a:rPr lang="en-IN" sz="1600" b="1" dirty="0" smtClean="0">
                <a:solidFill>
                  <a:srgbClr val="212529"/>
                </a:solidFill>
                <a:latin typeface="Calibri" panose="020F0502020204030204" pitchFamily="82" charset="0"/>
                <a:cs typeface="Arial" panose="020B0604020202020204" pitchFamily="34" charset="0"/>
              </a:rPr>
              <a:t>Agent </a:t>
            </a:r>
            <a:r>
              <a:rPr lang="en-IN" sz="1600" b="1" dirty="0">
                <a:solidFill>
                  <a:srgbClr val="212529"/>
                </a:solidFill>
                <a:latin typeface="Calibri" panose="020F0502020204030204" pitchFamily="82" charset="0"/>
                <a:cs typeface="Arial" panose="020B0604020202020204" pitchFamily="34" charset="0"/>
              </a:rPr>
              <a:t>performance varies significantly, with some agents excelling</a:t>
            </a:r>
            <a:endParaRPr lang="en-IN" sz="1600" b="1" dirty="0">
              <a:solidFill>
                <a:srgbClr val="212529"/>
              </a:solidFill>
              <a:latin typeface="Calibri" panose="020F0502020204030204" pitchFamily="82" charset="0"/>
              <a:cs typeface="Arial" panose="020B0604020202020204" pitchFamily="34" charset="0"/>
            </a:endParaRPr>
          </a:p>
          <a:p>
            <a:r>
              <a:rPr lang="en-IN" sz="1600" b="1" dirty="0" smtClean="0">
                <a:solidFill>
                  <a:srgbClr val="212529"/>
                </a:solidFill>
                <a:latin typeface="Calibri" panose="020F0502020204030204" pitchFamily="82" charset="0"/>
                <a:cs typeface="Arial" panose="020B0604020202020204" pitchFamily="34" charset="0"/>
              </a:rPr>
              <a:t> while </a:t>
            </a:r>
            <a:r>
              <a:rPr lang="en-IN" sz="1600" b="1" dirty="0">
                <a:solidFill>
                  <a:srgbClr val="212529"/>
                </a:solidFill>
                <a:latin typeface="Calibri" panose="020F0502020204030204" pitchFamily="82" charset="0"/>
                <a:cs typeface="Arial" panose="020B0604020202020204" pitchFamily="34" charset="0"/>
              </a:rPr>
              <a:t>others lag behind.</a:t>
            </a:r>
            <a:endParaRPr lang="en-IN" sz="1600" b="1" dirty="0">
              <a:solidFill>
                <a:srgbClr val="212529"/>
              </a:solidFill>
              <a:latin typeface="Calibri" panose="020F0502020204030204" pitchFamily="82" charset="0"/>
              <a:cs typeface="Arial" panose="020B0604020202020204" pitchFamily="34" charset="0"/>
            </a:endParaRPr>
          </a:p>
        </p:txBody>
      </p:sp>
      <p:sp>
        <p:nvSpPr>
          <p:cNvPr id="5" name="Rectangle 4"/>
          <p:cNvSpPr/>
          <p:nvPr/>
        </p:nvSpPr>
        <p:spPr>
          <a:xfrm>
            <a:off x="1063387" y="2578762"/>
            <a:ext cx="11353800" cy="3996992"/>
          </a:xfrm>
          <a:prstGeom prst="rect">
            <a:avLst/>
          </a:prstGeom>
        </p:spPr>
        <p:txBody>
          <a:bodyPr wrap="square">
            <a:spAutoFit/>
          </a:bodyPr>
          <a:lstStyle/>
          <a:p>
            <a:pPr>
              <a:lnSpc>
                <a:spcPct val="115000"/>
              </a:lnSpc>
              <a:spcBef>
                <a:spcPts val="400"/>
              </a:spcBef>
              <a:spcAft>
                <a:spcPts val="0"/>
              </a:spcAft>
            </a:pPr>
            <a:r>
              <a:rPr lang="en-IN" sz="1600" b="1" i="1" dirty="0">
                <a:solidFill>
                  <a:srgbClr val="212529"/>
                </a:solidFill>
                <a:latin typeface="Calibri" panose="020F0502020204030204" pitchFamily="82" charset="0"/>
                <a:ea typeface="Times New Roman" panose="02020603050405020304" pitchFamily="18" charset="0"/>
                <a:cs typeface="Arial" panose="020B0604020202020204" pitchFamily="34" charset="0"/>
              </a:rPr>
              <a:t>Possible Key Factors</a:t>
            </a:r>
            <a:endParaRPr lang="en-IN" sz="1600" b="1" i="1" dirty="0">
              <a:solidFill>
                <a:srgbClr val="212529"/>
              </a:solidFill>
              <a:latin typeface="Calibri" panose="020F0502020204030204" pitchFamily="82" charset="0"/>
              <a:ea typeface="Times New Roman" panose="02020603050405020304" pitchFamily="18" charset="0"/>
              <a:cs typeface="Arial" panose="020B0604020202020204" pitchFamily="34" charset="0"/>
            </a:endParaRPr>
          </a:p>
          <a:p>
            <a:pPr>
              <a:lnSpc>
                <a:spcPct val="115000"/>
              </a:lnSpc>
            </a:pPr>
            <a:r>
              <a:rPr lang="en-IN" sz="1600" b="1" dirty="0">
                <a:solidFill>
                  <a:srgbClr val="212529"/>
                </a:solidFill>
                <a:latin typeface="Calibri" panose="020F0502020204030204" pitchFamily="82" charset="0"/>
                <a:ea typeface="Times New Roman" panose="02020603050405020304" pitchFamily="18" charset="0"/>
                <a:cs typeface="Arial" panose="020B0604020202020204" pitchFamily="34" charset="0"/>
              </a:rPr>
              <a:t>Based on call </a:t>
            </a:r>
            <a:r>
              <a:rPr lang="en-IN" sz="1600" b="1" dirty="0" smtClean="0">
                <a:solidFill>
                  <a:srgbClr val="212529"/>
                </a:solidFill>
                <a:latin typeface="Calibri" panose="020F0502020204030204" pitchFamily="82" charset="0"/>
                <a:ea typeface="Times New Roman" panose="02020603050405020304" pitchFamily="18" charset="0"/>
                <a:cs typeface="Arial" panose="020B0604020202020204" pitchFamily="34" charset="0"/>
              </a:rPr>
              <a:t>centre </a:t>
            </a:r>
            <a:r>
              <a:rPr lang="en-IN" sz="1600" b="1" dirty="0">
                <a:solidFill>
                  <a:srgbClr val="212529"/>
                </a:solidFill>
                <a:latin typeface="Calibri" panose="020F0502020204030204" pitchFamily="82" charset="0"/>
                <a:ea typeface="Times New Roman" panose="02020603050405020304" pitchFamily="18" charset="0"/>
                <a:cs typeface="Arial" panose="020B0604020202020204" pitchFamily="34" charset="0"/>
              </a:rPr>
              <a:t>operations, the following data attributes might impact customer satisfaction:</a:t>
            </a:r>
            <a:endParaRPr lang="en-IN" sz="2000" dirty="0">
              <a:latin typeface="Arial" panose="020B0604020202020204" pitchFamily="34" charset="0"/>
              <a:ea typeface="Times New Roman" panose="02020603050405020304" pitchFamily="18" charset="0"/>
              <a:cs typeface="Arial" panose="020B0604020202020204" pitchFamily="34"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600" b="1" dirty="0">
                <a:solidFill>
                  <a:srgbClr val="212529"/>
                </a:solidFill>
                <a:latin typeface="Calibri" panose="020F0502020204030204" pitchFamily="82" charset="0"/>
                <a:ea typeface="Times New Roman" panose="02020603050405020304" pitchFamily="18" charset="0"/>
                <a:cs typeface="Arial" panose="020B0604020202020204" pitchFamily="34" charset="0"/>
              </a:rPr>
              <a:t>Call Duration: Shorter or optimal durations may indicate efficient resolution.</a:t>
            </a:r>
            <a:endParaRPr lang="en-IN" dirty="0">
              <a:latin typeface="Arial" panose="020B0604020202020204" pitchFamily="34" charset="0"/>
              <a:ea typeface="Times New Roman" panose="02020603050405020304" pitchFamily="18" charset="0"/>
              <a:cs typeface="Arial" panose="020B0604020202020204" pitchFamily="34"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600" b="1" dirty="0">
                <a:solidFill>
                  <a:srgbClr val="212529"/>
                </a:solidFill>
                <a:latin typeface="Calibri" panose="020F0502020204030204" pitchFamily="82" charset="0"/>
                <a:ea typeface="Times New Roman" panose="02020603050405020304" pitchFamily="18" charset="0"/>
                <a:cs typeface="Arial" panose="020B0604020202020204" pitchFamily="34" charset="0"/>
              </a:rPr>
              <a:t>Agent Performance: Metrics like the number of calls handled, agent rating, and expertise (e.g., Guru Name).</a:t>
            </a:r>
            <a:endParaRPr lang="en-IN" dirty="0">
              <a:latin typeface="Arial" panose="020B0604020202020204" pitchFamily="34" charset="0"/>
              <a:ea typeface="Times New Roman" panose="02020603050405020304" pitchFamily="18" charset="0"/>
              <a:cs typeface="Arial" panose="020B0604020202020204" pitchFamily="34"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600" b="1" dirty="0">
                <a:solidFill>
                  <a:srgbClr val="212529"/>
                </a:solidFill>
                <a:latin typeface="Calibri" panose="020F0502020204030204" pitchFamily="82" charset="0"/>
                <a:ea typeface="Times New Roman" panose="02020603050405020304" pitchFamily="18" charset="0"/>
                <a:cs typeface="Arial" panose="020B0604020202020204" pitchFamily="34" charset="0"/>
              </a:rPr>
              <a:t>Call Channel and Type: Free vs. paid calls, chat vs. voice calls, or specific consultation types.</a:t>
            </a:r>
            <a:endParaRPr lang="en-IN" dirty="0">
              <a:latin typeface="Arial" panose="020B0604020202020204" pitchFamily="34" charset="0"/>
              <a:ea typeface="Times New Roman" panose="02020603050405020304" pitchFamily="18" charset="0"/>
              <a:cs typeface="Arial" panose="020B0604020202020204" pitchFamily="34"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600" b="1" dirty="0">
                <a:solidFill>
                  <a:srgbClr val="212529"/>
                </a:solidFill>
                <a:latin typeface="Calibri" panose="020F0502020204030204" pitchFamily="82" charset="0"/>
                <a:ea typeface="Times New Roman" panose="02020603050405020304" pitchFamily="18" charset="0"/>
                <a:cs typeface="Arial" panose="020B0604020202020204" pitchFamily="34" charset="0"/>
              </a:rPr>
              <a:t>Call Status: Successful resolution or unresolved queries (e.g., refund or escalation cases).</a:t>
            </a:r>
            <a:endParaRPr lang="en-IN" dirty="0">
              <a:latin typeface="Arial" panose="020B0604020202020204" pitchFamily="34" charset="0"/>
              <a:ea typeface="Times New Roman" panose="02020603050405020304" pitchFamily="18" charset="0"/>
              <a:cs typeface="Arial" panose="020B0604020202020204" pitchFamily="34"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600" b="1" dirty="0">
                <a:solidFill>
                  <a:srgbClr val="212529"/>
                </a:solidFill>
                <a:latin typeface="Calibri" panose="020F0502020204030204" pitchFamily="82" charset="0"/>
                <a:ea typeface="Times New Roman" panose="02020603050405020304" pitchFamily="18" charset="0"/>
                <a:cs typeface="Arial" panose="020B0604020202020204" pitchFamily="34" charset="0"/>
              </a:rPr>
              <a:t>Time of Call: Off-peak vs. peak handling efficiency.</a:t>
            </a:r>
            <a:endParaRPr lang="en-IN" dirty="0">
              <a:latin typeface="Arial" panose="020B0604020202020204" pitchFamily="34" charset="0"/>
              <a:ea typeface="Times New Roman" panose="02020603050405020304" pitchFamily="18" charset="0"/>
              <a:cs typeface="Arial" panose="020B0604020202020204" pitchFamily="34" charset="0"/>
            </a:endParaRPr>
          </a:p>
          <a:p>
            <a:r>
              <a:rPr lang="en-IN" sz="1600" b="1" dirty="0">
                <a:solidFill>
                  <a:srgbClr val="212529"/>
                </a:solidFill>
                <a:latin typeface="Calibri" panose="020F0502020204030204" pitchFamily="82" charset="0"/>
                <a:ea typeface="Times New Roman" panose="02020603050405020304" pitchFamily="18" charset="0"/>
                <a:cs typeface="Arial" panose="020B0604020202020204" pitchFamily="34" charset="0"/>
              </a:rPr>
              <a:t>Region: Localization or language support preferences</a:t>
            </a:r>
            <a:endParaRPr lang="en-IN" dirty="0">
              <a:latin typeface="Arial" panose="020B0604020202020204" pitchFamily="34" charset="0"/>
              <a:cs typeface="Arial" panose="020B0604020202020204" pitchFamily="34" charset="0"/>
            </a:endParaRPr>
          </a:p>
        </p:txBody>
      </p:sp>
      <p:sp>
        <p:nvSpPr>
          <p:cNvPr id="116" name="Rectangle 115"/>
          <p:cNvSpPr/>
          <p:nvPr/>
        </p:nvSpPr>
        <p:spPr>
          <a:xfrm>
            <a:off x="0" y="0"/>
            <a:ext cx="12192000" cy="3200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0" y="320040"/>
            <a:ext cx="164592"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365760" y="6492240"/>
            <a:ext cx="309880" cy="245110"/>
          </a:xfrm>
          <a:prstGeom prst="rect">
            <a:avLst/>
          </a:prstGeom>
          <a:noFill/>
        </p:spPr>
        <p:txBody>
          <a:bodyPr wrap="none">
            <a:spAutoFit/>
          </a:bodyPr>
          <a:lstStyle/>
          <a:p>
            <a:pPr algn="l">
              <a:defRPr sz="1000" b="1">
                <a:solidFill>
                  <a:srgbClr val="5A5A5A"/>
                </a:solidFill>
              </a:defRPr>
            </a:p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Shape 197"/>
        <p:cNvGrpSpPr/>
        <p:nvPr/>
      </p:nvGrpSpPr>
      <p:grpSpPr>
        <a:xfrm>
          <a:off x="0" y="0"/>
          <a:ext cx="0" cy="0"/>
          <a:chOff x="0" y="0"/>
          <a:chExt cx="0" cy="0"/>
        </a:xfrm>
      </p:grpSpPr>
      <p:sp>
        <p:nvSpPr>
          <p:cNvPr id="198" name="Google Shape;198;p26"/>
          <p:cNvSpPr txBox="1">
            <a:spLocks noGrp="1"/>
          </p:cNvSpPr>
          <p:nvPr>
            <p:ph type="title"/>
          </p:nvPr>
        </p:nvSpPr>
        <p:spPr>
          <a:xfrm>
            <a:off x="699449" y="0"/>
            <a:ext cx="10396882" cy="701589"/>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rgbClr val="3F3F3F"/>
              </a:buClr>
              <a:buSzPts val="4800"/>
              <a:buFont typeface="Calibri" panose="020F0502020204030204"/>
              <a:buNone/>
            </a:pPr>
            <a:r>
              <a:rPr lang="en-US" sz="1600" dirty="0">
                <a:solidFill>
                  <a:srgbClr val="212529"/>
                </a:solidFill>
                <a:latin typeface="Calibri" panose="020F0502020204030204" pitchFamily="82" charset="0"/>
                <a:cs typeface="Arial" panose="020B0604020202020204" pitchFamily="34" charset="0"/>
              </a:rPr>
              <a:t>Suggestion </a:t>
            </a:r>
            <a:endParaRPr sz="3600" dirty="0">
              <a:latin typeface="Arial" panose="020B0604020202020204" pitchFamily="34" charset="0"/>
              <a:cs typeface="Arial" panose="020B0604020202020204" pitchFamily="34" charset="0"/>
            </a:endParaRPr>
          </a:p>
        </p:txBody>
      </p:sp>
      <p:sp>
        <p:nvSpPr>
          <p:cNvPr id="199" name="Google Shape;199;p26"/>
          <p:cNvSpPr txBox="1">
            <a:spLocks noGrp="1"/>
          </p:cNvSpPr>
          <p:nvPr>
            <p:ph idx="1"/>
          </p:nvPr>
        </p:nvSpPr>
        <p:spPr>
          <a:xfrm>
            <a:off x="699449" y="947247"/>
            <a:ext cx="10609416" cy="4348083"/>
          </a:xfrm>
          <a:prstGeom prst="rect">
            <a:avLst/>
          </a:prstGeom>
          <a:noFill/>
          <a:ln>
            <a:noFill/>
          </a:ln>
        </p:spPr>
        <p:txBody>
          <a:bodyPr spcFirstLastPara="1" wrap="square" lIns="0" tIns="45700" rIns="0" bIns="45700" anchor="t" anchorCtr="0">
            <a:noAutofit/>
          </a:bodyPr>
          <a:lstStyle/>
          <a:p>
            <a:pPr marL="0" lvl="0" indent="0" algn="l" rtl="0">
              <a:lnSpc>
                <a:spcPct val="115000"/>
              </a:lnSpc>
              <a:spcBef>
                <a:spcPts val="1400"/>
              </a:spcBef>
              <a:spcAft>
                <a:spcPts val="0"/>
              </a:spcAft>
              <a:buClr>
                <a:schemeClr val="dk1"/>
              </a:buClr>
              <a:buSzPts val="1100"/>
              <a:buFont typeface="Arial" panose="020B0604020202020204"/>
              <a:buNone/>
            </a:pPr>
            <a:r>
              <a:rPr lang="en-US" sz="1600" b="1" dirty="0">
                <a:solidFill>
                  <a:srgbClr val="212529"/>
                </a:solidFill>
                <a:latin typeface="Calibri" panose="020F0502020204030204"/>
                <a:ea typeface="Arial" panose="020B0604020202020204"/>
                <a:cs typeface="Arial" panose="020B0604020202020204"/>
                <a:sym typeface="Arial" panose="020B0604020202020204"/>
              </a:rPr>
              <a:t>Suggestions for Improvement Based on Findings</a:t>
            </a:r>
            <a:endParaRPr sz="1800" b="1" dirty="0">
              <a:latin typeface="Arial" panose="020B0604020202020204"/>
              <a:ea typeface="Arial" panose="020B0604020202020204"/>
              <a:cs typeface="Arial" panose="020B0604020202020204"/>
              <a:sym typeface="Arial" panose="020B0604020202020204"/>
            </a:endParaRPr>
          </a:p>
          <a:p>
            <a:pPr marL="457200" lvl="0" indent="-298450" algn="l" rtl="0">
              <a:lnSpc>
                <a:spcPct val="115000"/>
              </a:lnSpc>
              <a:spcBef>
                <a:spcPts val="1200"/>
              </a:spcBef>
              <a:spcAft>
                <a:spcPts val="0"/>
              </a:spcAft>
              <a:buClr>
                <a:schemeClr val="dk1"/>
              </a:buClr>
              <a:buSzPts val="1100"/>
              <a:buFont typeface="Arial" panose="020B0604020202020204"/>
              <a:buAutoNum type="arabicPeriod"/>
            </a:pPr>
            <a:r>
              <a:rPr lang="en-IN" sz="1600" b="1" cap="none" dirty="0" smtClean="0">
                <a:solidFill>
                  <a:srgbClr val="212529"/>
                </a:solidFill>
                <a:latin typeface="Calibri" panose="020F0502020204030204"/>
                <a:ea typeface="Arial" panose="020B0604020202020204"/>
                <a:cs typeface="Arial" panose="020B0604020202020204"/>
                <a:sym typeface="Arial" panose="020B0604020202020204"/>
              </a:rPr>
              <a:t>Agent training:</a:t>
            </a:r>
            <a:endParaRPr lang="en-IN" sz="1600" b="1" cap="none" dirty="0" smtClean="0">
              <a:solidFill>
                <a:srgbClr val="212529"/>
              </a:solidFill>
              <a:latin typeface="Calibri" panose="020F0502020204030204"/>
              <a:ea typeface="Arial" panose="020B0604020202020204"/>
              <a:cs typeface="Arial" panose="020B0604020202020204"/>
              <a:sym typeface="Arial" panose="020B0604020202020204"/>
            </a:endParaRPr>
          </a:p>
          <a:p>
            <a:pPr marL="914400" lvl="1" indent="-298450" algn="l" rtl="0">
              <a:lnSpc>
                <a:spcPct val="115000"/>
              </a:lnSpc>
              <a:spcBef>
                <a:spcPts val="0"/>
              </a:spcBef>
              <a:spcAft>
                <a:spcPts val="0"/>
              </a:spcAft>
              <a:buClr>
                <a:schemeClr val="dk1"/>
              </a:buClr>
              <a:buSzPts val="1100"/>
              <a:buFont typeface="Wingdings" panose="05000000000000000000" pitchFamily="2" charset="2"/>
              <a:buChar char="§"/>
            </a:pPr>
            <a:r>
              <a:rPr lang="en-IN" sz="1600" b="1" cap="none" dirty="0" smtClean="0">
                <a:solidFill>
                  <a:srgbClr val="212529"/>
                </a:solidFill>
                <a:latin typeface="Calibri" panose="020F0502020204030204"/>
                <a:ea typeface="Arial" panose="020B0604020202020204"/>
                <a:cs typeface="Arial" panose="020B0604020202020204"/>
                <a:sym typeface="Arial" panose="020B0604020202020204"/>
              </a:rPr>
              <a:t>Focus training on areas that correlate with high satisfaction, such as consultation effectiveness or reduced resolution time.</a:t>
            </a:r>
            <a:endParaRPr lang="en-IN" sz="1600" b="1" cap="none" dirty="0" smtClean="0">
              <a:solidFill>
                <a:srgbClr val="212529"/>
              </a:solidFill>
              <a:latin typeface="Calibri" panose="020F0502020204030204"/>
              <a:ea typeface="Arial" panose="020B0604020202020204"/>
              <a:cs typeface="Arial" panose="020B0604020202020204"/>
              <a:sym typeface="Arial" panose="020B0604020202020204"/>
            </a:endParaRPr>
          </a:p>
          <a:p>
            <a:pPr marL="457200" lvl="0" indent="-298450" algn="l" rtl="0">
              <a:lnSpc>
                <a:spcPct val="115000"/>
              </a:lnSpc>
              <a:spcBef>
                <a:spcPts val="0"/>
              </a:spcBef>
              <a:spcAft>
                <a:spcPts val="0"/>
              </a:spcAft>
              <a:buClr>
                <a:schemeClr val="dk1"/>
              </a:buClr>
              <a:buSzPts val="1100"/>
              <a:buFont typeface="Arial" panose="020B0604020202020204"/>
              <a:buAutoNum type="arabicPeriod"/>
            </a:pPr>
            <a:r>
              <a:rPr lang="en-IN" sz="1600" b="1" cap="none" dirty="0" smtClean="0">
                <a:solidFill>
                  <a:srgbClr val="212529"/>
                </a:solidFill>
                <a:latin typeface="Calibri" panose="020F0502020204030204"/>
                <a:ea typeface="Arial" panose="020B0604020202020204"/>
                <a:cs typeface="Arial" panose="020B0604020202020204"/>
                <a:sym typeface="Arial" panose="020B0604020202020204"/>
              </a:rPr>
              <a:t>Optimization of call duration:</a:t>
            </a:r>
            <a:endParaRPr lang="en-IN" sz="1600" b="1" cap="none" dirty="0" smtClean="0">
              <a:solidFill>
                <a:srgbClr val="212529"/>
              </a:solidFill>
              <a:latin typeface="Calibri" panose="020F0502020204030204"/>
              <a:ea typeface="Arial" panose="020B0604020202020204"/>
              <a:cs typeface="Arial" panose="020B0604020202020204"/>
              <a:sym typeface="Arial" panose="020B0604020202020204"/>
            </a:endParaRPr>
          </a:p>
          <a:p>
            <a:pPr marL="914400" lvl="1" indent="-298450" algn="l" rtl="0">
              <a:lnSpc>
                <a:spcPct val="115000"/>
              </a:lnSpc>
              <a:spcBef>
                <a:spcPts val="0"/>
              </a:spcBef>
              <a:spcAft>
                <a:spcPts val="0"/>
              </a:spcAft>
              <a:buClr>
                <a:schemeClr val="dk1"/>
              </a:buClr>
              <a:buSzPts val="1100"/>
              <a:buFont typeface="Wingdings" panose="05000000000000000000" pitchFamily="2" charset="2"/>
              <a:buChar char="§"/>
            </a:pPr>
            <a:r>
              <a:rPr lang="en-IN" sz="1600" b="1" cap="none" dirty="0" smtClean="0">
                <a:solidFill>
                  <a:srgbClr val="212529"/>
                </a:solidFill>
                <a:latin typeface="Calibri" panose="020F0502020204030204"/>
                <a:ea typeface="Arial" panose="020B0604020202020204"/>
                <a:cs typeface="Arial" panose="020B0604020202020204"/>
                <a:sym typeface="Arial" panose="020B0604020202020204"/>
              </a:rPr>
              <a:t>Identify the optimal duration range where satisfaction is highest and aim for efficiency within that range.</a:t>
            </a:r>
            <a:endParaRPr lang="en-IN" sz="1600" b="1" cap="none" dirty="0" smtClean="0">
              <a:solidFill>
                <a:srgbClr val="212529"/>
              </a:solidFill>
              <a:latin typeface="Calibri" panose="020F0502020204030204"/>
              <a:ea typeface="Arial" panose="020B0604020202020204"/>
              <a:cs typeface="Arial" panose="020B0604020202020204"/>
              <a:sym typeface="Arial" panose="020B0604020202020204"/>
            </a:endParaRPr>
          </a:p>
          <a:p>
            <a:pPr marL="457200" lvl="0" indent="-298450" algn="l" rtl="0">
              <a:lnSpc>
                <a:spcPct val="115000"/>
              </a:lnSpc>
              <a:spcBef>
                <a:spcPts val="0"/>
              </a:spcBef>
              <a:spcAft>
                <a:spcPts val="0"/>
              </a:spcAft>
              <a:buClr>
                <a:schemeClr val="dk1"/>
              </a:buClr>
              <a:buSzPts val="1100"/>
              <a:buFont typeface="Arial" panose="020B0604020202020204"/>
              <a:buAutoNum type="arabicPeriod"/>
            </a:pPr>
            <a:r>
              <a:rPr lang="en-IN" sz="1600" b="1" cap="none" dirty="0" smtClean="0">
                <a:solidFill>
                  <a:srgbClr val="212529"/>
                </a:solidFill>
                <a:latin typeface="Calibri" panose="020F0502020204030204"/>
                <a:ea typeface="Arial" panose="020B0604020202020204"/>
                <a:cs typeface="Arial" panose="020B0604020202020204"/>
                <a:sym typeface="Arial" panose="020B0604020202020204"/>
              </a:rPr>
              <a:t>Feedback integration:</a:t>
            </a:r>
            <a:endParaRPr lang="en-IN" sz="1600" b="1" cap="none" dirty="0" smtClean="0">
              <a:solidFill>
                <a:srgbClr val="212529"/>
              </a:solidFill>
              <a:latin typeface="Calibri" panose="020F0502020204030204"/>
              <a:ea typeface="Arial" panose="020B0604020202020204"/>
              <a:cs typeface="Arial" panose="020B0604020202020204"/>
              <a:sym typeface="Arial" panose="020B0604020202020204"/>
            </a:endParaRPr>
          </a:p>
          <a:p>
            <a:pPr marL="914400" lvl="1" indent="-298450" algn="l" rtl="0">
              <a:lnSpc>
                <a:spcPct val="115000"/>
              </a:lnSpc>
              <a:spcBef>
                <a:spcPts val="0"/>
              </a:spcBef>
              <a:spcAft>
                <a:spcPts val="0"/>
              </a:spcAft>
              <a:buClr>
                <a:schemeClr val="dk1"/>
              </a:buClr>
              <a:buSzPts val="1100"/>
              <a:buFont typeface="Wingdings" panose="05000000000000000000" pitchFamily="2" charset="2"/>
              <a:buChar char="§"/>
            </a:pPr>
            <a:r>
              <a:rPr lang="en-IN" sz="1600" b="1" cap="none" dirty="0" smtClean="0">
                <a:solidFill>
                  <a:srgbClr val="212529"/>
                </a:solidFill>
                <a:latin typeface="Calibri" panose="020F0502020204030204"/>
                <a:ea typeface="Arial" panose="020B0604020202020204"/>
                <a:cs typeface="Arial" panose="020B0604020202020204"/>
                <a:sym typeface="Arial" panose="020B0604020202020204"/>
              </a:rPr>
              <a:t>Use customer feedback to identify pain points and success areas for iterative improvement.</a:t>
            </a:r>
            <a:endParaRPr lang="en-IN" sz="1600" b="1" cap="none" dirty="0" smtClean="0">
              <a:solidFill>
                <a:srgbClr val="212529"/>
              </a:solidFill>
              <a:latin typeface="Calibri" panose="020F0502020204030204"/>
              <a:ea typeface="Arial" panose="020B0604020202020204"/>
              <a:cs typeface="Arial" panose="020B0604020202020204"/>
              <a:sym typeface="Arial" panose="020B0604020202020204"/>
            </a:endParaRPr>
          </a:p>
          <a:p>
            <a:pPr marL="457200" lvl="0" indent="-298450" algn="l" rtl="0">
              <a:lnSpc>
                <a:spcPct val="115000"/>
              </a:lnSpc>
              <a:spcBef>
                <a:spcPts val="0"/>
              </a:spcBef>
              <a:spcAft>
                <a:spcPts val="0"/>
              </a:spcAft>
              <a:buClr>
                <a:schemeClr val="dk1"/>
              </a:buClr>
              <a:buSzPts val="1100"/>
              <a:buFont typeface="Arial" panose="020B0604020202020204"/>
              <a:buAutoNum type="arabicPeriod"/>
            </a:pPr>
            <a:r>
              <a:rPr lang="en-IN" sz="1600" b="1" cap="none" dirty="0" smtClean="0">
                <a:solidFill>
                  <a:srgbClr val="212529"/>
                </a:solidFill>
                <a:latin typeface="Calibri" panose="020F0502020204030204"/>
                <a:ea typeface="Arial" panose="020B0604020202020204"/>
                <a:cs typeface="Arial" panose="020B0604020202020204"/>
                <a:sym typeface="Arial" panose="020B0604020202020204"/>
              </a:rPr>
              <a:t>Strategic resource allocation:</a:t>
            </a:r>
            <a:endParaRPr lang="en-IN" sz="1600" b="1" cap="none" dirty="0" smtClean="0">
              <a:solidFill>
                <a:srgbClr val="212529"/>
              </a:solidFill>
              <a:latin typeface="Calibri" panose="020F0502020204030204"/>
              <a:ea typeface="Arial" panose="020B0604020202020204"/>
              <a:cs typeface="Arial" panose="020B0604020202020204"/>
              <a:sym typeface="Arial" panose="020B0604020202020204"/>
            </a:endParaRPr>
          </a:p>
          <a:p>
            <a:pPr marL="914400" lvl="1" indent="-298450" algn="l" rtl="0">
              <a:lnSpc>
                <a:spcPct val="115000"/>
              </a:lnSpc>
              <a:spcBef>
                <a:spcPts val="0"/>
              </a:spcBef>
              <a:spcAft>
                <a:spcPts val="0"/>
              </a:spcAft>
              <a:buClr>
                <a:schemeClr val="dk1"/>
              </a:buClr>
              <a:buSzPts val="1100"/>
              <a:buFont typeface="Wingdings" panose="05000000000000000000" pitchFamily="2" charset="2"/>
              <a:buChar char="§"/>
            </a:pPr>
            <a:r>
              <a:rPr lang="en-IN" sz="1600" b="1" cap="none" dirty="0" smtClean="0">
                <a:solidFill>
                  <a:srgbClr val="212529"/>
                </a:solidFill>
                <a:latin typeface="Calibri" panose="020F0502020204030204"/>
                <a:ea typeface="Arial" panose="020B0604020202020204"/>
                <a:cs typeface="Arial" panose="020B0604020202020204"/>
                <a:sym typeface="Arial" panose="020B0604020202020204"/>
              </a:rPr>
              <a:t>Deploy high-performing agents during critical time slots or for complex cases to maintain satisfaction levels.</a:t>
            </a:r>
            <a:endParaRPr lang="en-IN" sz="1600" b="1" cap="none" dirty="0" smtClean="0">
              <a:solidFill>
                <a:srgbClr val="212529"/>
              </a:solidFill>
              <a:latin typeface="Calibri" panose="020F0502020204030204"/>
              <a:ea typeface="Arial" panose="020B0604020202020204"/>
              <a:cs typeface="Arial" panose="020B0604020202020204"/>
              <a:sym typeface="Arial" panose="020B0604020202020204"/>
            </a:endParaRPr>
          </a:p>
          <a:p>
            <a:pPr marL="0" lvl="0" indent="0" algn="l" rtl="0">
              <a:lnSpc>
                <a:spcPct val="115000"/>
              </a:lnSpc>
              <a:spcBef>
                <a:spcPts val="1200"/>
              </a:spcBef>
              <a:spcAft>
                <a:spcPts val="1200"/>
              </a:spcAft>
              <a:buSzPts val="1100"/>
              <a:buNone/>
            </a:pPr>
            <a:br>
              <a:rPr lang="en-US" sz="1800" b="1" dirty="0">
                <a:latin typeface="Arial" panose="020B0604020202020204"/>
                <a:ea typeface="Arial" panose="020B0604020202020204"/>
                <a:cs typeface="Arial" panose="020B0604020202020204"/>
                <a:sym typeface="Arial" panose="020B0604020202020204"/>
              </a:rPr>
            </a:br>
            <a:endParaRPr sz="1800" dirty="0"/>
          </a:p>
        </p:txBody>
      </p:sp>
      <p:sp>
        <p:nvSpPr>
          <p:cNvPr id="200" name="Rectangle 199"/>
          <p:cNvSpPr/>
          <p:nvPr/>
        </p:nvSpPr>
        <p:spPr>
          <a:xfrm>
            <a:off x="0" y="0"/>
            <a:ext cx="12192000" cy="320040"/>
          </a:xfrm>
          <a:prstGeom prst="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0" y="320040"/>
            <a:ext cx="164592" cy="6858000"/>
          </a:xfrm>
          <a:prstGeom prst="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365760" y="6492240"/>
            <a:ext cx="309880" cy="245110"/>
          </a:xfrm>
          <a:prstGeom prst="rect">
            <a:avLst/>
          </a:prstGeom>
          <a:noFill/>
        </p:spPr>
        <p:txBody>
          <a:bodyPr wrap="none">
            <a:spAutoFit/>
          </a:bodyPr>
          <a:lstStyle/>
          <a:p>
            <a:pPr algn="l">
              <a:defRPr sz="1000" b="1">
                <a:solidFill>
                  <a:srgbClr val="5A5A5A"/>
                </a:solidFill>
              </a:defRPr>
            </a:p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1624083" y="1560605"/>
            <a:ext cx="8802806" cy="3970318"/>
          </a:xfrm>
          <a:prstGeom prst="rect">
            <a:avLst/>
          </a:prstGeom>
        </p:spPr>
        <p:txBody>
          <a:bodyPr wrap="square">
            <a:spAutoFit/>
          </a:bodyPr>
          <a:lstStyle/>
          <a:p>
            <a:r>
              <a:rPr lang="en-IN" sz="1600" b="1" dirty="0">
                <a:solidFill>
                  <a:srgbClr val="212529"/>
                </a:solidFill>
                <a:latin typeface="Calibri" panose="020F0502020204030204" pitchFamily="82" charset="0"/>
                <a:cs typeface="Arial" panose="020B0604020202020204" pitchFamily="34" charset="0"/>
              </a:rPr>
              <a:t>Satisfaction score affect the rating if any customer is not satisfied we can’t say that they will provide positive feedback to us . If someone little bit satisfied then they also not provide 5 out of 5 rating , we have to ensure that their problem and why they are giving low rating , after taking feedback we can improve that.</a:t>
            </a:r>
            <a:br>
              <a:rPr lang="en-IN" b="1" dirty="0">
                <a:latin typeface="Arial" panose="020B0604020202020204" pitchFamily="34" charset="0"/>
                <a:cs typeface="Arial" panose="020B0604020202020204" pitchFamily="34" charset="0"/>
              </a:rPr>
            </a:br>
            <a:br>
              <a:rPr lang="en-IN" b="1" dirty="0">
                <a:latin typeface="Arial" panose="020B0604020202020204" pitchFamily="34" charset="0"/>
                <a:cs typeface="Arial" panose="020B0604020202020204" pitchFamily="34" charset="0"/>
              </a:rPr>
            </a:br>
            <a:r>
              <a:rPr lang="en-IN" sz="1600" b="1" dirty="0">
                <a:solidFill>
                  <a:srgbClr val="212529"/>
                </a:solidFill>
                <a:latin typeface="Calibri" panose="020F0502020204030204" pitchFamily="82" charset="0"/>
                <a:cs typeface="Arial" panose="020B0604020202020204" pitchFamily="34" charset="0"/>
              </a:rPr>
              <a:t>  Statistical Analysis:</a:t>
            </a:r>
            <a:endParaRPr lang="en-IN" dirty="0">
              <a:latin typeface="Arial" panose="020B0604020202020204" pitchFamily="34" charset="0"/>
              <a:cs typeface="Arial" panose="020B0604020202020204" pitchFamily="34" charset="0"/>
            </a:endParaRPr>
          </a:p>
          <a:p>
            <a:pPr lvl="0"/>
            <a:r>
              <a:rPr lang="en-IN" sz="1600" b="1" dirty="0">
                <a:solidFill>
                  <a:srgbClr val="212529"/>
                </a:solidFill>
                <a:latin typeface="Calibri" panose="020F0502020204030204" pitchFamily="82" charset="0"/>
                <a:cs typeface="Arial" panose="020B0604020202020204" pitchFamily="34" charset="0"/>
              </a:rPr>
              <a:t>Perform regression analysis with satisfaction scores as the dependent variable and other factors as independent variables. The coefficients and p-values will indicate the significance of each factor.</a:t>
            </a:r>
            <a:endParaRPr lang="en-IN" dirty="0">
              <a:latin typeface="Arial" panose="020B0604020202020204" pitchFamily="34" charset="0"/>
              <a:cs typeface="Arial" panose="020B0604020202020204" pitchFamily="34" charset="0"/>
            </a:endParaRPr>
          </a:p>
          <a:p>
            <a:r>
              <a:rPr lang="en-IN" sz="1600" b="1" dirty="0">
                <a:solidFill>
                  <a:srgbClr val="212529"/>
                </a:solidFill>
                <a:latin typeface="Calibri" panose="020F0502020204030204" pitchFamily="82" charset="0"/>
                <a:cs typeface="Arial" panose="020B0604020202020204" pitchFamily="34" charset="0"/>
              </a:rPr>
              <a:t>  Practical Validation:</a:t>
            </a:r>
            <a:endParaRPr lang="en-IN" dirty="0">
              <a:latin typeface="Arial" panose="020B0604020202020204" pitchFamily="34" charset="0"/>
              <a:cs typeface="Arial" panose="020B0604020202020204" pitchFamily="34" charset="0"/>
            </a:endParaRPr>
          </a:p>
          <a:p>
            <a:pPr lvl="0"/>
            <a:r>
              <a:rPr lang="en-IN" sz="1600" b="1" dirty="0">
                <a:solidFill>
                  <a:srgbClr val="212529"/>
                </a:solidFill>
                <a:latin typeface="Calibri" panose="020F0502020204030204" pitchFamily="82" charset="0"/>
                <a:cs typeface="Arial" panose="020B0604020202020204" pitchFamily="34" charset="0"/>
              </a:rPr>
              <a:t>Compare satisfaction scores for high-rated calls (e.g., 4-5 stars) vs. low-rated calls (e.g., 1-2 stars). A clear difference in factors like call duration or agent can validate the impact.</a:t>
            </a:r>
            <a:endParaRPr lang="en-IN" dirty="0">
              <a:latin typeface="Arial" panose="020B0604020202020204" pitchFamily="34" charset="0"/>
              <a:cs typeface="Arial" panose="020B0604020202020204" pitchFamily="34" charset="0"/>
            </a:endParaRPr>
          </a:p>
        </p:txBody>
      </p:sp>
      <p:sp>
        <p:nvSpPr>
          <p:cNvPr id="5" name="Google Shape;198;p26"/>
          <p:cNvSpPr txBox="1">
            <a:spLocks noGrp="1"/>
          </p:cNvSpPr>
          <p:nvPr>
            <p:ph type="title"/>
          </p:nvPr>
        </p:nvSpPr>
        <p:spPr>
          <a:xfrm>
            <a:off x="699449" y="0"/>
            <a:ext cx="10396882" cy="701589"/>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rgbClr val="3F3F3F"/>
              </a:buClr>
              <a:buSzPts val="4800"/>
              <a:buFont typeface="Calibri" panose="020F0502020204030204"/>
              <a:buNone/>
            </a:pPr>
            <a:r>
              <a:rPr lang="en-US" sz="1600" dirty="0">
                <a:solidFill>
                  <a:srgbClr val="212529"/>
                </a:solidFill>
                <a:latin typeface="Calibri" panose="020F0502020204030204" pitchFamily="82" charset="0"/>
                <a:cs typeface="Arial" panose="020B0604020202020204" pitchFamily="34" charset="0"/>
              </a:rPr>
              <a:t>Suggestion </a:t>
            </a:r>
            <a:endParaRPr sz="3600" dirty="0">
              <a:latin typeface="Arial" panose="020B0604020202020204" pitchFamily="34" charset="0"/>
              <a:cs typeface="Arial" panose="020B0604020202020204" pitchFamily="34" charset="0"/>
            </a:endParaRPr>
          </a:p>
        </p:txBody>
      </p:sp>
      <p:sp>
        <p:nvSpPr>
          <p:cNvPr id="6" name="Rectangle 5"/>
          <p:cNvSpPr/>
          <p:nvPr/>
        </p:nvSpPr>
        <p:spPr>
          <a:xfrm>
            <a:off x="0" y="0"/>
            <a:ext cx="12192000" cy="32004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320040"/>
            <a:ext cx="164592" cy="685800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92240"/>
            <a:ext cx="309880" cy="245110"/>
          </a:xfrm>
          <a:prstGeom prst="rect">
            <a:avLst/>
          </a:prstGeom>
          <a:noFill/>
        </p:spPr>
        <p:txBody>
          <a:bodyPr wrap="none">
            <a:spAutoFit/>
          </a:bodyPr>
          <a:lstStyle/>
          <a:p>
            <a:pPr algn="l">
              <a:defRPr sz="1000" b="1">
                <a:solidFill>
                  <a:srgbClr val="5A5A5A"/>
                </a:solidFill>
              </a:defRPr>
            </a:p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873456" y="832508"/>
            <a:ext cx="10945504" cy="5295337"/>
          </a:xfrm>
        </p:spPr>
        <p:txBody>
          <a:bodyPr>
            <a:normAutofit/>
          </a:bodyPr>
          <a:lstStyle/>
          <a:p>
            <a:pPr marL="0" indent="0">
              <a:buNone/>
            </a:pPr>
            <a:r>
              <a:rPr lang="en-IN" sz="1600" b="1" dirty="0">
                <a:solidFill>
                  <a:srgbClr val="212529"/>
                </a:solidFill>
                <a:latin typeface="Calibri" panose="020F0502020204030204" pitchFamily="82" charset="0"/>
                <a:cs typeface="Arial" panose="020B0604020202020204" pitchFamily="34" charset="0"/>
              </a:rPr>
              <a:t>Based on call </a:t>
            </a:r>
            <a:r>
              <a:rPr lang="en-IN" sz="1600" b="1" dirty="0" smtClean="0">
                <a:solidFill>
                  <a:srgbClr val="212529"/>
                </a:solidFill>
                <a:latin typeface="Calibri" panose="020F0502020204030204" pitchFamily="82" charset="0"/>
                <a:cs typeface="Arial" panose="020B0604020202020204" pitchFamily="34" charset="0"/>
              </a:rPr>
              <a:t>centre </a:t>
            </a:r>
            <a:r>
              <a:rPr lang="en-IN" sz="1600" b="1" dirty="0">
                <a:solidFill>
                  <a:srgbClr val="212529"/>
                </a:solidFill>
                <a:latin typeface="Calibri" panose="020F0502020204030204" pitchFamily="82" charset="0"/>
                <a:cs typeface="Arial" panose="020B0604020202020204" pitchFamily="34" charset="0"/>
              </a:rPr>
              <a:t>operations, the following data attributes might impact customer satisfaction</a:t>
            </a:r>
            <a:r>
              <a:rPr lang="en-IN" sz="1600" b="1" dirty="0" smtClean="0">
                <a:solidFill>
                  <a:srgbClr val="212529"/>
                </a:solidFill>
                <a:latin typeface="Calibri" panose="020F0502020204030204" pitchFamily="82" charset="0"/>
                <a:cs typeface="Arial" panose="020B0604020202020204" pitchFamily="34" charset="0"/>
              </a:rPr>
              <a:t>:</a:t>
            </a:r>
            <a:endParaRPr lang="en-IN" b="1" dirty="0">
              <a:latin typeface="Arial" panose="020B0604020202020204" pitchFamily="34" charset="0"/>
              <a:cs typeface="Arial" panose="020B0604020202020204" pitchFamily="34" charset="0"/>
            </a:endParaRPr>
          </a:p>
          <a:p>
            <a:pPr marL="0" indent="0">
              <a:buNone/>
            </a:pPr>
            <a:endParaRPr lang="en-IN" b="1" dirty="0">
              <a:latin typeface="Arial" panose="020B0604020202020204" pitchFamily="34" charset="0"/>
              <a:cs typeface="Arial" panose="020B0604020202020204" pitchFamily="34" charset="0"/>
            </a:endParaRPr>
          </a:p>
          <a:p>
            <a:pPr lvl="0">
              <a:buClr>
                <a:schemeClr val="tx1"/>
              </a:buClr>
            </a:pPr>
            <a:r>
              <a:rPr lang="en-IN" sz="1600" cap="none" dirty="0" smtClean="0">
                <a:solidFill>
                  <a:srgbClr val="212529"/>
                </a:solidFill>
                <a:latin typeface="Calibri" panose="020F0502020204030204" pitchFamily="82" charset="0"/>
                <a:cs typeface="Arial" panose="020B0604020202020204" pitchFamily="34" charset="0"/>
              </a:rPr>
              <a:t>Call duration: shorter or optimal durations may indicate efficient resolution.</a:t>
            </a:r>
            <a:endParaRPr lang="en-IN" sz="1600" cap="none" dirty="0" smtClean="0">
              <a:solidFill>
                <a:srgbClr val="212529"/>
              </a:solidFill>
              <a:latin typeface="Calibri" panose="020F0502020204030204" pitchFamily="82" charset="0"/>
              <a:cs typeface="Arial" panose="020B0604020202020204" pitchFamily="34" charset="0"/>
            </a:endParaRPr>
          </a:p>
          <a:p>
            <a:pPr lvl="0">
              <a:buClr>
                <a:schemeClr val="tx1"/>
              </a:buClr>
            </a:pPr>
            <a:r>
              <a:rPr lang="en-IN" sz="1600" cap="none" dirty="0" smtClean="0">
                <a:solidFill>
                  <a:srgbClr val="212529"/>
                </a:solidFill>
                <a:latin typeface="Calibri" panose="020F0502020204030204" pitchFamily="82" charset="0"/>
                <a:cs typeface="Arial" panose="020B0604020202020204" pitchFamily="34" charset="0"/>
              </a:rPr>
              <a:t>Agent performance: metrics like the number of calls handled, agent rating, and expertise (e.g., Guru name).</a:t>
            </a:r>
            <a:endParaRPr lang="en-IN" sz="1600" cap="none" dirty="0" smtClean="0">
              <a:solidFill>
                <a:srgbClr val="212529"/>
              </a:solidFill>
              <a:latin typeface="Calibri" panose="020F0502020204030204" pitchFamily="82" charset="0"/>
              <a:cs typeface="Arial" panose="020B0604020202020204" pitchFamily="34" charset="0"/>
            </a:endParaRPr>
          </a:p>
          <a:p>
            <a:pPr lvl="0">
              <a:buClr>
                <a:schemeClr val="tx1"/>
              </a:buClr>
            </a:pPr>
            <a:r>
              <a:rPr lang="en-IN" sz="1600" cap="none" dirty="0" smtClean="0">
                <a:solidFill>
                  <a:srgbClr val="212529"/>
                </a:solidFill>
                <a:latin typeface="Calibri" panose="020F0502020204030204" pitchFamily="82" charset="0"/>
                <a:cs typeface="Arial" panose="020B0604020202020204" pitchFamily="34" charset="0"/>
              </a:rPr>
              <a:t>Call channel and type: free vs. Paid calls, chat vs. Voice calls, or specific consultation types.</a:t>
            </a:r>
            <a:endParaRPr lang="en-IN" sz="1600" cap="none" dirty="0" smtClean="0">
              <a:solidFill>
                <a:srgbClr val="212529"/>
              </a:solidFill>
              <a:latin typeface="Calibri" panose="020F0502020204030204" pitchFamily="82" charset="0"/>
              <a:cs typeface="Arial" panose="020B0604020202020204" pitchFamily="34" charset="0"/>
            </a:endParaRPr>
          </a:p>
          <a:p>
            <a:pPr lvl="0">
              <a:buClr>
                <a:schemeClr val="tx1"/>
              </a:buClr>
            </a:pPr>
            <a:r>
              <a:rPr lang="en-IN" sz="1600" cap="none" dirty="0" smtClean="0">
                <a:solidFill>
                  <a:srgbClr val="212529"/>
                </a:solidFill>
                <a:latin typeface="Calibri" panose="020F0502020204030204" pitchFamily="82" charset="0"/>
                <a:cs typeface="Arial" panose="020B0604020202020204" pitchFamily="34" charset="0"/>
              </a:rPr>
              <a:t>Call status: successful resolution or unresolved queries (e.g., Refund or escalation cases).</a:t>
            </a:r>
            <a:endParaRPr lang="en-IN" sz="1600" cap="none" dirty="0" smtClean="0">
              <a:solidFill>
                <a:srgbClr val="212529"/>
              </a:solidFill>
              <a:latin typeface="Calibri" panose="020F0502020204030204" pitchFamily="82" charset="0"/>
              <a:cs typeface="Arial" panose="020B0604020202020204" pitchFamily="34" charset="0"/>
            </a:endParaRPr>
          </a:p>
          <a:p>
            <a:pPr lvl="0">
              <a:buClr>
                <a:schemeClr val="tx1"/>
              </a:buClr>
            </a:pPr>
            <a:r>
              <a:rPr lang="en-IN" sz="1600" cap="none" dirty="0" smtClean="0">
                <a:solidFill>
                  <a:srgbClr val="212529"/>
                </a:solidFill>
                <a:latin typeface="Calibri" panose="020F0502020204030204" pitchFamily="82" charset="0"/>
                <a:cs typeface="Arial" panose="020B0604020202020204" pitchFamily="34" charset="0"/>
              </a:rPr>
              <a:t>Time of call: off-peak vs. Peak handling efficiency.</a:t>
            </a:r>
            <a:endParaRPr lang="en-IN" sz="1600" cap="none" dirty="0" smtClean="0">
              <a:solidFill>
                <a:srgbClr val="212529"/>
              </a:solidFill>
              <a:latin typeface="Calibri" panose="020F0502020204030204" pitchFamily="82" charset="0"/>
              <a:cs typeface="Arial" panose="020B0604020202020204" pitchFamily="34" charset="0"/>
            </a:endParaRPr>
          </a:p>
          <a:p>
            <a:pPr lvl="0">
              <a:buClr>
                <a:schemeClr val="tx1"/>
              </a:buClr>
            </a:pPr>
            <a:r>
              <a:rPr lang="en-IN" sz="1600" cap="none" dirty="0" smtClean="0">
                <a:solidFill>
                  <a:srgbClr val="212529"/>
                </a:solidFill>
                <a:latin typeface="Calibri" panose="020F0502020204030204" pitchFamily="82" charset="0"/>
                <a:cs typeface="Arial" panose="020B0604020202020204" pitchFamily="34" charset="0"/>
              </a:rPr>
              <a:t>Region: localization or language support preferences.</a:t>
            </a:r>
            <a:endParaRPr lang="en-IN" sz="1800" cap="none" dirty="0">
              <a:latin typeface="Arial" panose="020B0604020202020204" pitchFamily="34" charset="0"/>
              <a:cs typeface="Arial" panose="020B0604020202020204" pitchFamily="34" charset="0"/>
            </a:endParaRPr>
          </a:p>
        </p:txBody>
      </p:sp>
      <p:sp>
        <p:nvSpPr>
          <p:cNvPr id="4" name="Rectangle 3"/>
          <p:cNvSpPr/>
          <p:nvPr/>
        </p:nvSpPr>
        <p:spPr>
          <a:xfrm>
            <a:off x="0" y="0"/>
            <a:ext cx="12192000" cy="320040"/>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320040"/>
            <a:ext cx="164592" cy="6858000"/>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309880" cy="245110"/>
          </a:xfrm>
          <a:prstGeom prst="rect">
            <a:avLst/>
          </a:prstGeom>
          <a:noFill/>
        </p:spPr>
        <p:txBody>
          <a:bodyPr wrap="none">
            <a:spAutoFit/>
          </a:bodyPr>
          <a:lstStyle/>
          <a:p>
            <a:pPr algn="l">
              <a:defRPr sz="1000" b="1">
                <a:solidFill>
                  <a:srgbClr val="5A5A5A"/>
                </a:solidFill>
              </a:defRPr>
            </a:p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30960" y="-55093"/>
            <a:ext cx="10396882" cy="646331"/>
          </a:xfrm>
        </p:spPr>
        <p:txBody>
          <a:bodyPr>
            <a:normAutofit fontScale="90000"/>
          </a:bodyPr>
          <a:lstStyle/>
          <a:p>
            <a:pPr algn="ctr"/>
            <a:r>
              <a:rPr lang="en-IN" sz="1600" dirty="0" smtClean="0">
                <a:solidFill>
                  <a:srgbClr val="212529"/>
                </a:solidFill>
                <a:latin typeface="Calibri" panose="020F0502020204030204" pitchFamily="82" charset="0"/>
                <a:cs typeface="Arial" panose="020B0604020202020204" pitchFamily="34" charset="0"/>
              </a:rPr>
              <a:t>Conclusion </a:t>
            </a:r>
            <a:endParaRPr lang="en-IN" sz="4000" dirty="0">
              <a:latin typeface="Arial" panose="020B0604020202020204" pitchFamily="34" charset="0"/>
              <a:cs typeface="Arial" panose="020B0604020202020204" pitchFamily="34" charset="0"/>
            </a:endParaRPr>
          </a:p>
        </p:txBody>
      </p:sp>
      <p:sp>
        <p:nvSpPr>
          <p:cNvPr id="7" name="Rectangle 6"/>
          <p:cNvSpPr/>
          <p:nvPr/>
        </p:nvSpPr>
        <p:spPr>
          <a:xfrm>
            <a:off x="523164" y="1078173"/>
            <a:ext cx="10558818" cy="646331"/>
          </a:xfrm>
          <a:prstGeom prst="rect">
            <a:avLst/>
          </a:prstGeom>
        </p:spPr>
        <p:txBody>
          <a:bodyPr wrap="square">
            <a:spAutoFit/>
          </a:bodyPr>
          <a:lstStyle/>
          <a:p>
            <a:pPr algn="ctr"/>
            <a:r>
              <a:rPr lang="en-IN" sz="2400" b="1" dirty="0" smtClean="0">
                <a:solidFill>
                  <a:srgbClr val="0F172A"/>
                </a:solidFill>
                <a:latin typeface="Calibri" panose="020F0502020204030204" pitchFamily="82" charset="0"/>
                <a:cs typeface="Arial" panose="020B0604020202020204" pitchFamily="34" charset="0"/>
              </a:rPr>
              <a:t>        </a:t>
            </a:r>
            <a:r>
              <a:rPr lang="en-IN" sz="2400" b="1" dirty="0" err="1">
                <a:solidFill>
                  <a:srgbClr val="0F172A"/>
                </a:solidFill>
                <a:latin typeface="Calibri" panose="020F0502020204030204" pitchFamily="82" charset="0"/>
                <a:cs typeface="Arial" panose="020B0604020202020204" pitchFamily="34" charset="0"/>
              </a:rPr>
              <a:t>AstroSage</a:t>
            </a:r>
            <a:r>
              <a:rPr lang="en-IN" sz="2400" b="1" dirty="0">
                <a:solidFill>
                  <a:srgbClr val="0F172A"/>
                </a:solidFill>
                <a:latin typeface="Calibri" panose="020F0502020204030204" pitchFamily="82" charset="0"/>
                <a:cs typeface="Arial" panose="020B0604020202020204" pitchFamily="34" charset="0"/>
              </a:rPr>
              <a:t> faces challenges in call volume, customer </a:t>
            </a:r>
            <a:r>
              <a:rPr lang="en-IN" sz="2400" b="1" dirty="0" smtClean="0">
                <a:solidFill>
                  <a:srgbClr val="0F172A"/>
                </a:solidFill>
                <a:latin typeface="Calibri" panose="020F0502020204030204" pitchFamily="82" charset="0"/>
                <a:cs typeface="Arial" panose="020B0604020202020204" pitchFamily="34" charset="0"/>
              </a:rPr>
              <a:t>satisfaction, and </a:t>
            </a:r>
            <a:r>
              <a:rPr lang="en-IN" sz="2400" b="1" dirty="0">
                <a:solidFill>
                  <a:srgbClr val="0F172A"/>
                </a:solidFill>
                <a:latin typeface="Calibri" panose="020F0502020204030204" pitchFamily="82" charset="0"/>
                <a:cs typeface="Arial" panose="020B0604020202020204" pitchFamily="34" charset="0"/>
              </a:rPr>
              <a:t>agent performance.</a:t>
            </a:r>
            <a:endParaRPr lang="en-IN" sz="2400" b="1" dirty="0">
              <a:solidFill>
                <a:srgbClr val="0F172A"/>
              </a:solidFill>
              <a:latin typeface="Calibri" panose="020F0502020204030204" pitchFamily="82" charset="0"/>
              <a:cs typeface="Arial" panose="020B0604020202020204" pitchFamily="34" charset="0"/>
            </a:endParaRPr>
          </a:p>
          <a:p>
            <a:pPr algn="ctr"/>
            <a:r>
              <a:rPr lang="en-IN" sz="1600" dirty="0">
                <a:solidFill>
                  <a:srgbClr val="212529"/>
                </a:solidFill>
                <a:latin typeface="Calibri" panose="020F0502020204030204" pitchFamily="82" charset="0"/>
                <a:cs typeface="Arial" panose="020B0604020202020204" pitchFamily="34" charset="0"/>
              </a:rPr>
              <a:t>        Immediate attention is needed to address these issues to remain competitive.</a:t>
            </a:r>
            <a:endParaRPr lang="en-IN" sz="1600" dirty="0">
              <a:solidFill>
                <a:srgbClr val="212529"/>
              </a:solidFill>
              <a:latin typeface="Calibri" panose="020F0502020204030204" pitchFamily="82" charset="0"/>
              <a:cs typeface="Arial" panose="020B0604020202020204" pitchFamily="34" charset="0"/>
            </a:endParaRPr>
          </a:p>
        </p:txBody>
      </p:sp>
      <p:sp>
        <p:nvSpPr>
          <p:cNvPr id="8" name="Rectangle 7"/>
          <p:cNvSpPr/>
          <p:nvPr/>
        </p:nvSpPr>
        <p:spPr>
          <a:xfrm>
            <a:off x="968991" y="1724504"/>
            <a:ext cx="10522424" cy="4184222"/>
          </a:xfrm>
          <a:prstGeom prst="rect">
            <a:avLst/>
          </a:prstGeom>
        </p:spPr>
        <p:txBody>
          <a:bodyPr wrap="square">
            <a:spAutoFit/>
          </a:bodyPr>
          <a:lstStyle/>
          <a:p>
            <a:pPr>
              <a:lnSpc>
                <a:spcPct val="115000"/>
              </a:lnSpc>
              <a:spcBef>
                <a:spcPts val="400"/>
              </a:spcBef>
              <a:spcAft>
                <a:spcPts val="0"/>
              </a:spcAft>
            </a:pPr>
            <a:r>
              <a:rPr lang="en-IN" sz="1600" b="1" i="1" dirty="0">
                <a:solidFill>
                  <a:srgbClr val="212529"/>
                </a:solidFill>
                <a:latin typeface="Calibri" panose="020F0502020204030204" pitchFamily="82" charset="0"/>
                <a:ea typeface="Times New Roman" panose="02020603050405020304" pitchFamily="18" charset="0"/>
                <a:cs typeface="Arial" panose="020B0604020202020204" pitchFamily="34" charset="0"/>
              </a:rPr>
              <a:t>Suggestions for Improvement Based on Findings</a:t>
            </a:r>
            <a:endParaRPr lang="en-IN" sz="1600" b="1" i="1" dirty="0">
              <a:solidFill>
                <a:srgbClr val="212529"/>
              </a:solidFill>
              <a:latin typeface="Calibri" panose="020F0502020204030204" pitchFamily="82" charset="0"/>
              <a:ea typeface="Times New Roman" panose="02020603050405020304" pitchFamily="18" charset="0"/>
              <a:cs typeface="Arial" panose="020B0604020202020204" pitchFamily="34" charset="0"/>
            </a:endParaRPr>
          </a:p>
          <a:p>
            <a:pPr marL="342900" lvl="0" indent="-342900">
              <a:lnSpc>
                <a:spcPct val="115000"/>
              </a:lnSpc>
              <a:spcAft>
                <a:spcPts val="800"/>
              </a:spcAft>
              <a:buFont typeface="+mj-lt"/>
              <a:buAutoNum type="arabicPeriod"/>
              <a:tabLst>
                <a:tab pos="457200" algn="l"/>
              </a:tabLst>
            </a:pPr>
            <a:r>
              <a:rPr lang="en-IN" sz="1600" b="1" dirty="0">
                <a:solidFill>
                  <a:srgbClr val="212529"/>
                </a:solidFill>
                <a:latin typeface="Calibri" panose="020F0502020204030204" pitchFamily="82" charset="0"/>
                <a:ea typeface="Times New Roman" panose="02020603050405020304" pitchFamily="18" charset="0"/>
                <a:cs typeface="Arial" panose="020B0604020202020204" pitchFamily="34" charset="0"/>
              </a:rPr>
              <a:t>Agent Training:</a:t>
            </a:r>
            <a:endParaRPr lang="en-IN" sz="1600" dirty="0">
              <a:latin typeface="Arial" panose="020B0604020202020204" pitchFamily="34" charset="0"/>
              <a:ea typeface="Times New Roman" panose="02020603050405020304" pitchFamily="18" charset="0"/>
              <a:cs typeface="Arial" panose="020B0604020202020204" pitchFamily="34" charset="0"/>
            </a:endParaRPr>
          </a:p>
          <a:p>
            <a:pPr marL="742950" lvl="1" indent="-285750">
              <a:lnSpc>
                <a:spcPct val="115000"/>
              </a:lnSpc>
              <a:spcAft>
                <a:spcPts val="800"/>
              </a:spcAft>
              <a:buSzPts val="1000"/>
              <a:buFont typeface="Symbol" panose="05050102010706020507" pitchFamily="18" charset="2"/>
              <a:buChar char=""/>
              <a:tabLst>
                <a:tab pos="914400" algn="l"/>
              </a:tabLst>
            </a:pPr>
            <a:r>
              <a:rPr lang="en-IN" sz="1600" b="1" dirty="0">
                <a:solidFill>
                  <a:srgbClr val="212529"/>
                </a:solidFill>
                <a:latin typeface="Calibri" panose="020F0502020204030204" pitchFamily="82" charset="0"/>
                <a:ea typeface="Times New Roman" panose="02020603050405020304" pitchFamily="18" charset="0"/>
                <a:cs typeface="Arial" panose="020B0604020202020204" pitchFamily="34" charset="0"/>
              </a:rPr>
              <a:t>Focus training on areas that correlate with high satisfaction, such as consultation effectiveness or reduced resolution time.</a:t>
            </a:r>
            <a:endParaRPr lang="en-IN" sz="1600" dirty="0">
              <a:latin typeface="Arial" panose="020B0604020202020204" pitchFamily="34" charset="0"/>
              <a:ea typeface="Times New Roman" panose="02020603050405020304" pitchFamily="18" charset="0"/>
              <a:cs typeface="Arial" panose="020B0604020202020204" pitchFamily="34" charset="0"/>
            </a:endParaRPr>
          </a:p>
          <a:p>
            <a:pPr marL="342900" lvl="0" indent="-342900">
              <a:lnSpc>
                <a:spcPct val="115000"/>
              </a:lnSpc>
              <a:spcAft>
                <a:spcPts val="800"/>
              </a:spcAft>
              <a:buFont typeface="+mj-lt"/>
              <a:buAutoNum type="arabicPeriod"/>
              <a:tabLst>
                <a:tab pos="457200" algn="l"/>
              </a:tabLst>
            </a:pPr>
            <a:r>
              <a:rPr lang="en-IN" sz="1600" b="1" dirty="0">
                <a:solidFill>
                  <a:srgbClr val="212529"/>
                </a:solidFill>
                <a:latin typeface="Calibri" panose="020F0502020204030204" pitchFamily="82" charset="0"/>
                <a:ea typeface="Times New Roman" panose="02020603050405020304" pitchFamily="18" charset="0"/>
                <a:cs typeface="Arial" panose="020B0604020202020204" pitchFamily="34" charset="0"/>
              </a:rPr>
              <a:t>Optimization of Call Duration:</a:t>
            </a:r>
            <a:endParaRPr lang="en-IN" sz="1600" dirty="0">
              <a:latin typeface="Arial" panose="020B0604020202020204" pitchFamily="34" charset="0"/>
              <a:ea typeface="Times New Roman" panose="02020603050405020304" pitchFamily="18" charset="0"/>
              <a:cs typeface="Arial" panose="020B0604020202020204" pitchFamily="34" charset="0"/>
            </a:endParaRPr>
          </a:p>
          <a:p>
            <a:pPr marL="742950" lvl="1" indent="-285750">
              <a:lnSpc>
                <a:spcPct val="115000"/>
              </a:lnSpc>
              <a:spcAft>
                <a:spcPts val="800"/>
              </a:spcAft>
              <a:buSzPts val="1000"/>
              <a:buFont typeface="Symbol" panose="05050102010706020507" pitchFamily="18" charset="2"/>
              <a:buChar char=""/>
              <a:tabLst>
                <a:tab pos="914400" algn="l"/>
              </a:tabLst>
            </a:pPr>
            <a:r>
              <a:rPr lang="en-IN" sz="1600" b="1" dirty="0">
                <a:solidFill>
                  <a:srgbClr val="212529"/>
                </a:solidFill>
                <a:latin typeface="Calibri" panose="020F0502020204030204" pitchFamily="82" charset="0"/>
                <a:ea typeface="Times New Roman" panose="02020603050405020304" pitchFamily="18" charset="0"/>
                <a:cs typeface="Arial" panose="020B0604020202020204" pitchFamily="34" charset="0"/>
              </a:rPr>
              <a:t>Identify the optimal duration range where satisfaction is highest and aim for efficiency within that range.</a:t>
            </a:r>
            <a:endParaRPr lang="en-IN" sz="1600" dirty="0">
              <a:latin typeface="Arial" panose="020B0604020202020204" pitchFamily="34" charset="0"/>
              <a:ea typeface="Times New Roman" panose="02020603050405020304" pitchFamily="18" charset="0"/>
              <a:cs typeface="Arial" panose="020B0604020202020204" pitchFamily="34" charset="0"/>
            </a:endParaRPr>
          </a:p>
          <a:p>
            <a:pPr marL="342900" lvl="0" indent="-342900">
              <a:lnSpc>
                <a:spcPct val="115000"/>
              </a:lnSpc>
              <a:spcAft>
                <a:spcPts val="800"/>
              </a:spcAft>
              <a:buFont typeface="+mj-lt"/>
              <a:buAutoNum type="arabicPeriod"/>
              <a:tabLst>
                <a:tab pos="457200" algn="l"/>
              </a:tabLst>
            </a:pPr>
            <a:r>
              <a:rPr lang="en-IN" sz="1600" b="1" dirty="0">
                <a:solidFill>
                  <a:srgbClr val="212529"/>
                </a:solidFill>
                <a:latin typeface="Calibri" panose="020F0502020204030204" pitchFamily="82" charset="0"/>
                <a:ea typeface="Times New Roman" panose="02020603050405020304" pitchFamily="18" charset="0"/>
                <a:cs typeface="Arial" panose="020B0604020202020204" pitchFamily="34" charset="0"/>
              </a:rPr>
              <a:t>Feedback Integration:</a:t>
            </a:r>
            <a:endParaRPr lang="en-IN" sz="1600" dirty="0">
              <a:latin typeface="Arial" panose="020B0604020202020204" pitchFamily="34" charset="0"/>
              <a:ea typeface="Times New Roman" panose="02020603050405020304" pitchFamily="18" charset="0"/>
              <a:cs typeface="Arial" panose="020B0604020202020204" pitchFamily="34" charset="0"/>
            </a:endParaRPr>
          </a:p>
          <a:p>
            <a:pPr marL="742950" lvl="1" indent="-285750">
              <a:lnSpc>
                <a:spcPct val="115000"/>
              </a:lnSpc>
              <a:spcAft>
                <a:spcPts val="800"/>
              </a:spcAft>
              <a:buSzPts val="1000"/>
              <a:buFont typeface="Symbol" panose="05050102010706020507" pitchFamily="18" charset="2"/>
              <a:buChar char=""/>
              <a:tabLst>
                <a:tab pos="914400" algn="l"/>
              </a:tabLst>
            </a:pPr>
            <a:r>
              <a:rPr lang="en-IN" sz="1600" b="1" dirty="0">
                <a:solidFill>
                  <a:srgbClr val="212529"/>
                </a:solidFill>
                <a:latin typeface="Calibri" panose="020F0502020204030204" pitchFamily="82" charset="0"/>
                <a:ea typeface="Times New Roman" panose="02020603050405020304" pitchFamily="18" charset="0"/>
                <a:cs typeface="Arial" panose="020B0604020202020204" pitchFamily="34" charset="0"/>
              </a:rPr>
              <a:t>Use customer feedback to identify pain points and success areas for iterative improvement.</a:t>
            </a:r>
            <a:endParaRPr lang="en-IN" sz="1600" dirty="0">
              <a:latin typeface="Arial" panose="020B0604020202020204" pitchFamily="34" charset="0"/>
              <a:ea typeface="Times New Roman" panose="02020603050405020304" pitchFamily="18" charset="0"/>
              <a:cs typeface="Arial" panose="020B0604020202020204" pitchFamily="34" charset="0"/>
            </a:endParaRPr>
          </a:p>
          <a:p>
            <a:pPr marL="342900" lvl="0" indent="-342900">
              <a:lnSpc>
                <a:spcPct val="115000"/>
              </a:lnSpc>
              <a:spcAft>
                <a:spcPts val="800"/>
              </a:spcAft>
              <a:buFont typeface="+mj-lt"/>
              <a:buAutoNum type="arabicPeriod"/>
              <a:tabLst>
                <a:tab pos="457200" algn="l"/>
              </a:tabLst>
            </a:pPr>
            <a:r>
              <a:rPr lang="en-IN" sz="1600" b="1" dirty="0">
                <a:solidFill>
                  <a:srgbClr val="212529"/>
                </a:solidFill>
                <a:latin typeface="Calibri" panose="020F0502020204030204" pitchFamily="82" charset="0"/>
                <a:ea typeface="Times New Roman" panose="02020603050405020304" pitchFamily="18" charset="0"/>
                <a:cs typeface="Arial" panose="020B0604020202020204" pitchFamily="34" charset="0"/>
              </a:rPr>
              <a:t>Strategic Resource Allocation:</a:t>
            </a:r>
            <a:endParaRPr lang="en-IN" sz="1600" dirty="0">
              <a:latin typeface="Arial" panose="020B0604020202020204" pitchFamily="34" charset="0"/>
              <a:ea typeface="Times New Roman" panose="02020603050405020304" pitchFamily="18" charset="0"/>
              <a:cs typeface="Arial" panose="020B0604020202020204" pitchFamily="34" charset="0"/>
            </a:endParaRPr>
          </a:p>
          <a:p>
            <a:pPr marL="742950" lvl="1" indent="-285750">
              <a:lnSpc>
                <a:spcPct val="115000"/>
              </a:lnSpc>
              <a:spcAft>
                <a:spcPts val="800"/>
              </a:spcAft>
              <a:buSzPts val="1000"/>
              <a:buFont typeface="Symbol" panose="05050102010706020507" pitchFamily="18" charset="2"/>
              <a:buChar char=""/>
              <a:tabLst>
                <a:tab pos="914400" algn="l"/>
              </a:tabLst>
            </a:pPr>
            <a:r>
              <a:rPr lang="en-IN" sz="1600" b="1" dirty="0">
                <a:solidFill>
                  <a:srgbClr val="212529"/>
                </a:solidFill>
                <a:latin typeface="Calibri" panose="020F0502020204030204" pitchFamily="82" charset="0"/>
                <a:ea typeface="Times New Roman" panose="02020603050405020304" pitchFamily="18" charset="0"/>
                <a:cs typeface="Arial" panose="020B0604020202020204" pitchFamily="34" charset="0"/>
              </a:rPr>
              <a:t>Deploy high-performing agents during critical time slots or for complex cases to maintain satisfaction levels.</a:t>
            </a:r>
            <a:endParaRPr lang="en-IN" sz="1600" dirty="0">
              <a:effectLst/>
              <a:latin typeface="Arial" panose="020B0604020202020204" pitchFamily="34" charset="0"/>
              <a:ea typeface="Times New Roman" panose="02020603050405020304" pitchFamily="18" charset="0"/>
              <a:cs typeface="Arial" panose="020B0604020202020204" pitchFamily="34" charset="0"/>
            </a:endParaRPr>
          </a:p>
        </p:txBody>
      </p:sp>
      <p:sp>
        <p:nvSpPr>
          <p:cNvPr id="9" name="Rectangle 8"/>
          <p:cNvSpPr/>
          <p:nvPr/>
        </p:nvSpPr>
        <p:spPr>
          <a:xfrm>
            <a:off x="0" y="0"/>
            <a:ext cx="12192000" cy="3200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20040"/>
            <a:ext cx="164592"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92240"/>
            <a:ext cx="309880" cy="245110"/>
          </a:xfrm>
          <a:prstGeom prst="rect">
            <a:avLst/>
          </a:prstGeom>
          <a:noFill/>
        </p:spPr>
        <p:txBody>
          <a:bodyPr wrap="none">
            <a:spAutoFit/>
          </a:bodyPr>
          <a:lstStyle/>
          <a:p>
            <a:pPr algn="l">
              <a:defRPr sz="1000" b="1">
                <a:solidFill>
                  <a:srgbClr val="5A5A5A"/>
                </a:solidFill>
              </a:defRPr>
            </a:p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0" name="Oval 29"/>
          <p:cNvSpPr/>
          <p:nvPr/>
        </p:nvSpPr>
        <p:spPr>
          <a:xfrm>
            <a:off x="1351128" y="736979"/>
            <a:ext cx="8857397" cy="476306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p:cNvSpPr txBox="1"/>
          <p:nvPr/>
        </p:nvSpPr>
        <p:spPr>
          <a:xfrm>
            <a:off x="4169390" y="986430"/>
            <a:ext cx="3220872" cy="830997"/>
          </a:xfrm>
          <a:prstGeom prst="rect">
            <a:avLst/>
          </a:prstGeom>
          <a:noFill/>
        </p:spPr>
        <p:txBody>
          <a:bodyPr wrap="square" rtlCol="0">
            <a:spAutoFit/>
          </a:bodyPr>
          <a:lstStyle/>
          <a:p>
            <a:pPr algn="ctr"/>
            <a:r>
              <a:rPr lang="en-IN" sz="2400" b="1" dirty="0" smtClean="0">
                <a:solidFill>
                  <a:srgbClr val="1E40AF"/>
                </a:solidFill>
                <a:latin typeface="Calibri" panose="020F0502020204030204"/>
              </a:rPr>
              <a:t>THANKS</a:t>
            </a:r>
            <a:endParaRPr lang="en-IN" sz="4800" b="1" dirty="0"/>
          </a:p>
        </p:txBody>
      </p:sp>
      <p:sp>
        <p:nvSpPr>
          <p:cNvPr id="32" name="TextBox 31"/>
          <p:cNvSpPr txBox="1"/>
          <p:nvPr/>
        </p:nvSpPr>
        <p:spPr>
          <a:xfrm>
            <a:off x="2454322" y="2287516"/>
            <a:ext cx="4342263" cy="830997"/>
          </a:xfrm>
          <a:prstGeom prst="rect">
            <a:avLst/>
          </a:prstGeom>
          <a:noFill/>
        </p:spPr>
        <p:txBody>
          <a:bodyPr wrap="square" rtlCol="0">
            <a:spAutoFit/>
          </a:bodyPr>
          <a:lstStyle/>
          <a:p>
            <a:pPr algn="ctr"/>
            <a:r>
              <a:rPr lang="en-IN" sz="1600" b="1" dirty="0" smtClean="0">
                <a:solidFill>
                  <a:srgbClr val="212529"/>
                </a:solidFill>
                <a:latin typeface="Calibri" panose="020F0502020204030204"/>
              </a:rPr>
              <a:t>Presented By</a:t>
            </a:r>
            <a:endParaRPr lang="en-IN" sz="4800" b="1" dirty="0"/>
          </a:p>
        </p:txBody>
      </p:sp>
      <p:sp>
        <p:nvSpPr>
          <p:cNvPr id="33" name="TextBox 32"/>
          <p:cNvSpPr txBox="1"/>
          <p:nvPr/>
        </p:nvSpPr>
        <p:spPr>
          <a:xfrm>
            <a:off x="4804012" y="3728871"/>
            <a:ext cx="4342263" cy="830997"/>
          </a:xfrm>
          <a:prstGeom prst="rect">
            <a:avLst/>
          </a:prstGeom>
          <a:solidFill>
            <a:schemeClr val="accent4"/>
          </a:solidFill>
        </p:spPr>
        <p:txBody>
          <a:bodyPr wrap="square" rtlCol="0">
            <a:spAutoFit/>
          </a:bodyPr>
          <a:lstStyle/>
          <a:p>
            <a:r>
              <a:t>SAURAV KUMAR</a:t>
            </a:r>
          </a:p>
        </p:txBody>
      </p:sp>
      <p:sp>
        <p:nvSpPr>
          <p:cNvPr id="34" name="Rectangle 33"/>
          <p:cNvSpPr/>
          <p:nvPr/>
        </p:nvSpPr>
        <p:spPr>
          <a:xfrm>
            <a:off x="0" y="0"/>
            <a:ext cx="12192000" cy="320040"/>
          </a:xfrm>
          <a:prstGeom prst="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320040"/>
            <a:ext cx="164592" cy="6858000"/>
          </a:xfrm>
          <a:prstGeom prst="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6492240"/>
            <a:ext cx="952500" cy="245110"/>
          </a:xfrm>
          <a:prstGeom prst="rect">
            <a:avLst/>
          </a:prstGeom>
          <a:noFill/>
        </p:spPr>
        <p:txBody>
          <a:bodyPr wrap="none">
            <a:spAutoFit/>
          </a:bodyPr>
          <a:lstStyle/>
          <a:p>
            <a:pPr algn="l">
              <a:defRPr sz="1000" b="1">
                <a:solidFill>
                  <a:srgbClr val="5A5A5A"/>
                </a:solidFill>
              </a:defRPr>
            </a:pPr>
            <a:r>
              <a:t>Saurav Kumar</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5.jpeg"/></Relationships>
</file>

<file path=ppt/theme/theme1.xml><?xml version="1.0" encoding="utf-8"?>
<a:theme xmlns:a="http://schemas.openxmlformats.org/drawingml/2006/main" name="Ion">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0</TotalTime>
  <Words>7933</Words>
  <Application>WPS Presentation</Application>
  <PresentationFormat>Widescreen</PresentationFormat>
  <Paragraphs>347</Paragraphs>
  <Slides>22</Slides>
  <Notes>4</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22</vt:i4>
      </vt:variant>
    </vt:vector>
  </HeadingPairs>
  <TitlesOfParts>
    <vt:vector size="44" baseType="lpstr">
      <vt:lpstr>Arial</vt:lpstr>
      <vt:lpstr>SimSun</vt:lpstr>
      <vt:lpstr>Wingdings</vt:lpstr>
      <vt:lpstr>Wingdings 3</vt:lpstr>
      <vt:lpstr>Symbol</vt:lpstr>
      <vt:lpstr>Arial</vt:lpstr>
      <vt:lpstr>Algerian</vt:lpstr>
      <vt:lpstr>Segoe Print</vt:lpstr>
      <vt:lpstr>Calibri</vt:lpstr>
      <vt:lpstr>Chiller</vt:lpstr>
      <vt:lpstr>Aparajita</vt:lpstr>
      <vt:lpstr>Nirmala UI</vt:lpstr>
      <vt:lpstr>Calibri</vt:lpstr>
      <vt:lpstr>Rockwell</vt:lpstr>
      <vt:lpstr>Arial Black</vt:lpstr>
      <vt:lpstr>Gabriola</vt:lpstr>
      <vt:lpstr>Century Gothic</vt:lpstr>
      <vt:lpstr>Microsoft YaHei</vt:lpstr>
      <vt:lpstr>Arial Unicode MS</vt:lpstr>
      <vt:lpstr>Times New Roman</vt:lpstr>
      <vt:lpstr>Symbol</vt:lpstr>
      <vt:lpstr>Ion</vt:lpstr>
      <vt:lpstr>AstroSage Analysis</vt:lpstr>
      <vt:lpstr>PowerPoint 演示文稿</vt:lpstr>
      <vt:lpstr>Problem statement</vt:lpstr>
      <vt:lpstr>Data Overview</vt:lpstr>
      <vt:lpstr>Data cleaning and analysis or methology</vt:lpstr>
      <vt:lpstr>Identifying Performance Gaps</vt:lpstr>
      <vt:lpstr>Traffic website</vt:lpstr>
      <vt:lpstr>User call status</vt:lpstr>
      <vt:lpstr>User chat status</vt:lpstr>
      <vt:lpstr>Total sales and revenue generated by category</vt:lpstr>
      <vt:lpstr>Total call distribution across hours</vt:lpstr>
      <vt:lpstr>Top 10 guru</vt:lpstr>
      <vt:lpstr>Rating vs count of rating</vt:lpstr>
      <vt:lpstr>Daily count of Consultant Type</vt:lpstr>
      <vt:lpstr>Daily net Amount</vt:lpstr>
      <vt:lpstr>Astrosage dashboard</vt:lpstr>
      <vt:lpstr>Key Insights Summary</vt:lpstr>
      <vt:lpstr>Suggestion </vt:lpstr>
      <vt:lpstr>Suggestion </vt:lpstr>
      <vt:lpstr>PowerPoint 演示文稿</vt:lpstr>
      <vt:lpstr>Conclusion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AstroSage Analysis</dc:title>
  <dc:creator>At Square</dc:creator>
  <cp:lastModifiedBy>sw</cp:lastModifiedBy>
  <cp:revision>80</cp:revision>
  <dcterms:created xsi:type="dcterms:W3CDTF">2026-05-23T10:15:59Z</dcterms:created>
  <dcterms:modified xsi:type="dcterms:W3CDTF">2026-05-23T10:23:36Z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1033-12.1.0.26372</vt:lpwstr>
  </property>
  <property fmtid="{D5CDD505-2E9C-101B-9397-08002B2CF9AE}" pid="3" name="ICV">
    <vt:lpwstr>6D933BC6CEC2428689337BDA72EEAD53_13</vt:lpwstr>
  </property>
</Properties>
</file>