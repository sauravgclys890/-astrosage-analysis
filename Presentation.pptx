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63254-BCDD-4FD7-B371-2D9749714AE0}" v="196" dt="2026-05-01T16:33:51.499"/>
    <p1510:client id="{2D066482-50AD-475D-A207-56ED2E779CAA}" v="563" dt="2026-05-01T08:39:10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7" autoAdjust="0"/>
    <p:restoredTop sz="94660"/>
  </p:normalViewPr>
  <p:slideViewPr>
    <p:cSldViewPr>
      <p:cViewPr varScale="1">
        <p:scale>
          <a:sx n="93" d="100"/>
          <a:sy n="93" d="100"/>
        </p:scale>
        <p:origin x="90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73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75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3152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8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0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9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219385-CEEC-20A5-C72F-B13448DE6E0F}"/>
              </a:ext>
            </a:extLst>
          </p:cNvPr>
          <p:cNvSpPr/>
          <p:nvPr/>
        </p:nvSpPr>
        <p:spPr>
          <a:xfrm>
            <a:off x="0" y="-12003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0997" y="-2673001"/>
            <a:ext cx="6870003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4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57856" y="-2666214"/>
            <a:ext cx="6876288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6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33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6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98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9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66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5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4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4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71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0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330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9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101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8119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3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7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639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0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1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46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6550152" cy="4489704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600" y="1801367"/>
            <a:ext cx="3718561" cy="44897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289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54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53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64922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8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98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4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3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86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9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912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04E38F-46D8-838A-C636-0958E5B36C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313433"/>
            <a:ext cx="5165725" cy="4000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8F84C8F-5A53-198D-2CB3-A78F006C4D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313430"/>
            <a:ext cx="5165725" cy="4000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8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98999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708347-B003-2458-75EC-D8317FBF02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794000"/>
            <a:ext cx="5165725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9899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3E993C-0A55-1F54-C280-76AF30E5377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794000"/>
            <a:ext cx="5166360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37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31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38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542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33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7C9377-9F78-1004-B032-B8BCF9955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9175" y="1354819"/>
            <a:ext cx="5240881" cy="2411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Astrosage Platform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45E89-D758-BE9B-4CAF-2870780A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146832"/>
            <a:ext cx="349726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Saurav Kumar</a:t>
            </a:r>
          </a:p>
          <a:p>
            <a:pPr>
              <a:lnSpc>
                <a:spcPct val="90000"/>
              </a:lnSpc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01-05-2026</a:t>
            </a:r>
          </a:p>
        </p:txBody>
      </p:sp>
      <p:pic>
        <p:nvPicPr>
          <p:cNvPr id="9" name="Picture 8" descr="A blue presentation pack with white text&#10;&#10;AI-generated content may be incorrect.">
            <a:extLst>
              <a:ext uri="{FF2B5EF4-FFF2-40B4-BE49-F238E27FC236}">
                <a16:creationId xmlns:a16="http://schemas.microsoft.com/office/drawing/2014/main" id="{1BD86999-7EEB-FA7F-7A4A-36B4640BA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4" y="1842050"/>
            <a:ext cx="4397376" cy="24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6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C0FF-2055-4B2F-3257-FA4EA3DC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                                         Introduction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F951-505F-580D-DA83-886A8BB42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About </a:t>
            </a:r>
            <a:r>
              <a:rPr lang="en-US" sz="1800" dirty="0" err="1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AstroSage</a:t>
            </a:r>
            <a:r>
              <a:rPr lang="en-US" sz="1800" dirty="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 - </a:t>
            </a:r>
            <a:endParaRPr lang="en-US" sz="1800" dirty="0">
              <a:solidFill>
                <a:srgbClr val="131313"/>
              </a:solidFill>
              <a:latin typeface="Aptos Light"/>
              <a:cs typeface="Arial"/>
            </a:endParaRPr>
          </a:p>
          <a:p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Online astrology consultation platform connecting users with vetted astrologers </a:t>
            </a:r>
            <a:r>
              <a:rPr lang="en-US" sz="1800" dirty="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(Gurus) </a:t>
            </a:r>
            <a:endParaRPr lang="en-US" sz="1800">
              <a:solidFill>
                <a:srgbClr val="131313"/>
              </a:solidFill>
              <a:latin typeface="Aptos Light"/>
              <a:cs typeface="Arial"/>
            </a:endParaRPr>
          </a:p>
          <a:p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Modes: Chat and Call (primary), with occasional live/public sessions</a:t>
            </a:r>
            <a:endParaRPr lang="en-US" sz="1800">
              <a:solidFill>
                <a:srgbClr val="131313"/>
              </a:solidFill>
              <a:latin typeface="Aptos Light"/>
              <a:cs typeface="Arial"/>
            </a:endParaRPr>
          </a:p>
          <a:p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Pay-per-minute model; platform commission + astrologer earnings</a:t>
            </a:r>
          </a:p>
          <a:p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</p:txBody>
      </p:sp>
      <p:pic>
        <p:nvPicPr>
          <p:cNvPr id="4" name="Picture 3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76B1B656-3C56-0364-A2B1-0DF7C0BD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8" y="3257984"/>
            <a:ext cx="3140652" cy="3126797"/>
          </a:xfrm>
          <a:prstGeom prst="rect">
            <a:avLst/>
          </a:prstGeom>
        </p:spPr>
      </p:pic>
      <p:pic>
        <p:nvPicPr>
          <p:cNvPr id="5" name="Picture 4" descr="A person holding a phone&#10;&#10;AI-generated content may be incorrect.">
            <a:extLst>
              <a:ext uri="{FF2B5EF4-FFF2-40B4-BE49-F238E27FC236}">
                <a16:creationId xmlns:a16="http://schemas.microsoft.com/office/drawing/2014/main" id="{24602523-F4C8-0BEE-81E0-238C6B12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691" y="3261878"/>
            <a:ext cx="3893127" cy="3119005"/>
          </a:xfrm>
          <a:prstGeom prst="rect">
            <a:avLst/>
          </a:prstGeom>
        </p:spPr>
      </p:pic>
      <p:pic>
        <p:nvPicPr>
          <p:cNvPr id="6" name="Picture 5" descr="A hand holding a phone&#10;&#10;AI-generated content may be incorrect.">
            <a:extLst>
              <a:ext uri="{FF2B5EF4-FFF2-40B4-BE49-F238E27FC236}">
                <a16:creationId xmlns:a16="http://schemas.microsoft.com/office/drawing/2014/main" id="{A7C1BB75-ACA4-C628-FB2F-345D3BA2B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330" y="3251487"/>
            <a:ext cx="3330286" cy="313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6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9123-DDC4-6F63-54BC-C57DE26C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  <a:latin typeface="Aptos Display"/>
              </a:rPr>
              <a:t>                                                        </a:t>
            </a:r>
            <a:r>
              <a:rPr lang="en-US" sz="360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B437-EC58-925E-EFEB-55EFF721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AutoNum type="arabicPeriod"/>
            </a:pPr>
            <a:r>
              <a:rPr lang="en-US" sz="1800" dirty="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How it works (user journey) 1) Discover: Browse astrologers by expertise, rating, availability, price</a:t>
            </a:r>
            <a:endParaRPr lang="en-US" sz="1800" dirty="0">
              <a:solidFill>
                <a:srgbClr val="131313"/>
              </a:solidFill>
              <a:latin typeface="Aptos Light"/>
              <a:cs typeface="Arial"/>
            </a:endParaRPr>
          </a:p>
          <a:p>
            <a:pPr>
              <a:buAutoNum type="arabicPeriod"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Choose mode: Select Chat or Call; view rate/min and language </a:t>
            </a:r>
            <a:endParaRPr lang="en-US" sz="1800">
              <a:solidFill>
                <a:srgbClr val="131313"/>
              </a:solidFill>
              <a:latin typeface="Aptos Light"/>
              <a:cs typeface="Arial"/>
            </a:endParaRPr>
          </a:p>
          <a:p>
            <a:pPr>
              <a:buAutoNum type="arabicPeriod"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 Transact: Add funds and start session; timer tracks billable minutes </a:t>
            </a:r>
            <a:endParaRPr lang="en-US" sz="1800">
              <a:solidFill>
                <a:srgbClr val="131313"/>
              </a:solidFill>
              <a:latin typeface="Aptos Light"/>
              <a:cs typeface="Arial"/>
            </a:endParaRPr>
          </a:p>
          <a:p>
            <a:pPr>
              <a:buAutoNum type="arabicPeriod"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Consult: Real-time guidance; session status recorded (Completed/Failed/Incomplete/etc.)</a:t>
            </a:r>
            <a:endParaRPr lang="en-US" sz="1800">
              <a:solidFill>
                <a:srgbClr val="131313"/>
              </a:solidFill>
              <a:latin typeface="Aptos Light"/>
              <a:cs typeface="Arial"/>
            </a:endParaRPr>
          </a:p>
          <a:p>
            <a:pPr>
              <a:buAutoNum type="arabicPeriod"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Close: Amount settled; user can rate/review; insights feed quality monitoring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7651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9B2C-0CB2-7875-A4F3-2745C200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4052-BEF2-7D3B-AEA1-99362608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Data Overv</a:t>
            </a:r>
            <a:r>
              <a:rPr lang="en-US" sz="360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iew</a:t>
            </a:r>
            <a:endParaRPr lang="en-US" sz="3600" dirty="0">
              <a:solidFill>
                <a:schemeClr val="accent5">
                  <a:lumMod val="76000"/>
                </a:schemeClr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3DBD7-73F2-814A-1375-4E464BE7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accent4"/>
                </a:solidFill>
                <a:highlight>
                  <a:srgbClr val="FAFAFA"/>
                </a:highlight>
                <a:latin typeface="Arial"/>
                <a:cs typeface="Arial"/>
              </a:rPr>
              <a:t>Scope and volume </a:t>
            </a:r>
            <a:r>
              <a:rPr lang="en-US" sz="1800">
                <a:solidFill>
                  <a:schemeClr val="accent4"/>
                </a:solidFill>
                <a:highlight>
                  <a:srgbClr val="FAFAFA"/>
                </a:highlight>
                <a:latin typeface="Arial"/>
                <a:cs typeface="Arial"/>
              </a:rPr>
              <a:t>-</a:t>
            </a:r>
            <a:r>
              <a:rPr lang="en-US" sz="1800" dirty="0">
                <a:solidFill>
                  <a:schemeClr val="accent4"/>
                </a:solidFill>
                <a:highlight>
                  <a:srgbClr val="FAFAFA"/>
                </a:highlight>
                <a:latin typeface="Arial"/>
                <a:cs typeface="Arial"/>
              </a:rPr>
              <a:t> </a:t>
            </a:r>
            <a:endParaRPr lang="en-US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-Total sessions: 28,027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Unique users: 10,344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Unique astrologers (Gurus): 149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Time window (analysis focus): Dec 2023 – Jan 2024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 b="1">
                <a:solidFill>
                  <a:schemeClr val="accent4"/>
                </a:solidFill>
                <a:highlight>
                  <a:srgbClr val="FAFAFA"/>
                </a:highlight>
                <a:latin typeface="Arial"/>
                <a:cs typeface="Arial"/>
              </a:rPr>
              <a:t>Key metrics </a:t>
            </a:r>
            <a:endParaRPr lang="en-US" b="1">
              <a:solidFill>
                <a:schemeClr val="accent4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Total revenue: ₹665,387.12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Astrologer earnings (payouts): ₹309,051.00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Average rating: 2.93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Avg. daily volume: 246.0 sessions/day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 b="1">
                <a:solidFill>
                  <a:schemeClr val="accent4"/>
                </a:solidFill>
                <a:highlight>
                  <a:srgbClr val="FAFAFA"/>
                </a:highlight>
                <a:latin typeface="Arial"/>
                <a:cs typeface="Arial"/>
              </a:rPr>
              <a:t>Mix and distribution </a:t>
            </a:r>
            <a:endParaRPr lang="en-US" b="1">
              <a:solidFill>
                <a:schemeClr val="accent4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Consultation types: Chat 69.6% (19,514), Call 30.4% (8,508), others &lt;0.1%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Session outcomes: No Records 30.4%, Failed 25.9%, Incomplete 23.7%, Completed 19.7%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 - Region: Others 67.8% (19,008), Indian 32.2% (9,019)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435A-B495-8154-3983-C1344E7E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C7C1-9FF9-FC4F-2E3B-CC41A902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Consultation</a:t>
            </a:r>
            <a:r>
              <a:rPr lang="en-US" sz="3600" dirty="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 Type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1321B-604B-5469-1B80-78750BF2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30.4% - </a:t>
            </a:r>
            <a:r>
              <a:rPr lang="en-US" sz="2800">
                <a:solidFill>
                  <a:schemeClr val="accent4"/>
                </a:solidFill>
              </a:rPr>
              <a:t>CALL</a:t>
            </a:r>
          </a:p>
          <a:p>
            <a:r>
              <a:rPr lang="en-US" sz="2800"/>
              <a:t>69.6% - </a:t>
            </a:r>
            <a:r>
              <a:rPr lang="en-US" sz="2800">
                <a:solidFill>
                  <a:schemeClr val="accent4"/>
                </a:solidFill>
              </a:rPr>
              <a:t>CHAT</a:t>
            </a:r>
            <a:endParaRPr lang="en-US" sz="2800" dirty="0">
              <a:solidFill>
                <a:schemeClr val="accent4"/>
              </a:solidFill>
            </a:endParaRPr>
          </a:p>
        </p:txBody>
      </p:sp>
      <p:pic>
        <p:nvPicPr>
          <p:cNvPr id="10" name="Picture 9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4E489A43-3C6F-F5CB-3853-CF477138B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014" y="1185019"/>
            <a:ext cx="8170208" cy="53396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4CBE1F-84DB-0C05-90AC-25286EA36D95}"/>
              </a:ext>
            </a:extLst>
          </p:cNvPr>
          <p:cNvSpPr txBox="1"/>
          <p:nvPr/>
        </p:nvSpPr>
        <p:spPr>
          <a:xfrm>
            <a:off x="579783" y="2774673"/>
            <a:ext cx="345108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Channel performance - Preference: Chat leads volume (69.6%) 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r>
              <a:rPr lang="en-US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- Monetization: Calls generate higher revenue per session despite lower volume</a:t>
            </a:r>
            <a:endParaRPr lang="en-US">
              <a:solidFill>
                <a:srgbClr val="131313"/>
              </a:solidFill>
              <a:latin typeface="Aptos Light"/>
              <a:cs typeface="Arial"/>
            </a:endParaRPr>
          </a:p>
          <a:p>
            <a:r>
              <a:rPr lang="en-US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- Revenue by type (total): Chat ≈ ₹376.7K; Call ≈ ₹288.6K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8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ACCC-9A39-4852-C75A-6313CA51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CCC6-9721-1659-AAA9-739AB66C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Call Distribution Status</a:t>
            </a:r>
            <a:endParaRPr lang="en-US" sz="3600" dirty="0">
              <a:solidFill>
                <a:schemeClr val="accent5">
                  <a:lumMod val="76000"/>
                </a:schemeClr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56C61-9160-1808-DFBB-01F0611B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1800" dirty="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Cleaned </a:t>
            </a: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Datasheet records shows that </a:t>
            </a: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- 8512 – no records for call</a:t>
            </a: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 - 7526 – failed</a:t>
            </a: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-  6641- Incomplete</a:t>
            </a: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 -  5535 – completed</a:t>
            </a: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  -   48 – Pending</a:t>
            </a: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1800">
                <a:solidFill>
                  <a:srgbClr val="232425"/>
                </a:solidFill>
                <a:highlight>
                  <a:srgbClr val="FAFAFA"/>
                </a:highlight>
                <a:latin typeface="Arial"/>
                <a:cs typeface="Arial"/>
              </a:rPr>
              <a:t>35 – Started</a:t>
            </a:r>
          </a:p>
          <a:p>
            <a:pPr marL="285750" indent="-285750">
              <a:buFont typeface="Calibri"/>
              <a:buChar char="-"/>
            </a:pP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solidFill>
                <a:srgbClr val="232425"/>
              </a:solidFill>
              <a:highlight>
                <a:srgbClr val="FAFAFA"/>
              </a:highlight>
              <a:latin typeface="Arial"/>
              <a:cs typeface="Arial"/>
            </a:endParaRPr>
          </a:p>
        </p:txBody>
      </p:sp>
      <p:pic>
        <p:nvPicPr>
          <p:cNvPr id="4" name="Picture 3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01718B44-AE18-8634-6088-90CB0F99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446" y="2131918"/>
            <a:ext cx="8546167" cy="41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3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1353-B630-3D34-959C-D5B09EE4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B0FC-5312-5784-B2E8-4D2B1824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chemeClr val="accent5">
                    <a:lumMod val="76000"/>
                  </a:schemeClr>
                </a:solidFill>
                <a:latin typeface="Aptos Display"/>
              </a:rPr>
              <a:t>Top 10 Astrologer by Number of consultant</a:t>
            </a:r>
            <a:endParaRPr lang="en-US" sz="3600" dirty="0">
              <a:solidFill>
                <a:schemeClr val="accent5">
                  <a:lumMod val="76000"/>
                </a:schemeClr>
              </a:solidFill>
              <a:latin typeface="Aptos Display"/>
            </a:endParaRPr>
          </a:p>
        </p:txBody>
      </p:sp>
      <p:pic>
        <p:nvPicPr>
          <p:cNvPr id="4" name="Content Placeholder 3" descr="A graph with green bars">
            <a:extLst>
              <a:ext uri="{FF2B5EF4-FFF2-40B4-BE49-F238E27FC236}">
                <a16:creationId xmlns:a16="http://schemas.microsoft.com/office/drawing/2014/main" id="{CAAD80DD-D1E1-43B2-81B6-6D84B30B8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670" y="1181926"/>
            <a:ext cx="9345705" cy="544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9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D165-30BA-F2E4-F475-D0994882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51A430-E6FB-D804-C8D9-D52EFA04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Customer satisfaction is moderate → needs improvement- So majority of the customer rating are lying to zero, An exceptionally </a:t>
            </a:r>
            <a:r>
              <a:rPr lang="en-US" sz="1800">
                <a:ea typeface="+mn-lt"/>
                <a:cs typeface="+mn-lt"/>
              </a:rPr>
              <a:t>dwindling number</a:t>
            </a:r>
            <a:r>
              <a:rPr lang="en-US" sz="1800" dirty="0">
                <a:ea typeface="+mn-lt"/>
                <a:cs typeface="+mn-lt"/>
              </a:rPr>
              <a:t> are towards high rating.</a:t>
            </a:r>
            <a:endParaRPr lang="en-US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E345C95-1F5E-17EB-F44D-2969EFE3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C26C"/>
                </a:solidFill>
              </a:rPr>
              <a:t>Customer rating </a:t>
            </a:r>
            <a:r>
              <a:rPr lang="en-US" b="1">
                <a:solidFill>
                  <a:srgbClr val="66C26C"/>
                </a:solidFill>
              </a:rPr>
              <a:t>Distribution</a:t>
            </a:r>
            <a:endParaRPr lang="en-US" b="1" dirty="0" err="1">
              <a:solidFill>
                <a:srgbClr val="66C26C"/>
              </a:solidFill>
            </a:endParaRPr>
          </a:p>
        </p:txBody>
      </p:sp>
      <p:pic>
        <p:nvPicPr>
          <p:cNvPr id="8" name="Picture 7" descr="A graph of customer rating distribution&#10;&#10;AI-generated content may be incorrect.">
            <a:extLst>
              <a:ext uri="{FF2B5EF4-FFF2-40B4-BE49-F238E27FC236}">
                <a16:creationId xmlns:a16="http://schemas.microsoft.com/office/drawing/2014/main" id="{F13DB637-0C71-579F-684A-AF469731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93" y="2064682"/>
            <a:ext cx="10933020" cy="424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4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0109D-7668-44CD-514E-C8B1C8C9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BFB54F1-4D4F-60B7-AC57-6AB2FF162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228" y="1514851"/>
            <a:ext cx="10959352" cy="467366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4BCE756-FD46-2CB2-21EB-EDC9C833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66C26C"/>
                </a:solidFill>
              </a:rPr>
              <a:t>Daily Call Volume Trend</a:t>
            </a:r>
            <a:endParaRPr lang="en-US" b="1" dirty="0" err="1">
              <a:solidFill>
                <a:srgbClr val="66C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50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853F-EF39-0C32-6806-5B8A43FB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CE6438-8BAD-F719-245C-E3942053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66C26C"/>
                </a:solidFill>
              </a:rPr>
              <a:t>Call Status </a:t>
            </a:r>
            <a:endParaRPr lang="en-US" b="1" dirty="0" err="1">
              <a:solidFill>
                <a:srgbClr val="66C26C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40742-678E-3337-E202-5E6182A18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9432" y="1219423"/>
            <a:ext cx="8573620" cy="4883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91530-351D-D06C-2DD4-7591B949D3FD}"/>
              </a:ext>
            </a:extLst>
          </p:cNvPr>
          <p:cNvSpPr txBox="1"/>
          <p:nvPr/>
        </p:nvSpPr>
        <p:spPr>
          <a:xfrm>
            <a:off x="554181" y="1350817"/>
            <a:ext cx="259772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Based on the records it shows that majority of the call are </a:t>
            </a:r>
            <a:r>
              <a:rPr lang="en-US" sz="2000"/>
              <a:t>showing</a:t>
            </a:r>
            <a:r>
              <a:rPr lang="en-US" sz="2000" dirty="0"/>
              <a:t> as missed</a:t>
            </a:r>
          </a:p>
          <a:p>
            <a:endParaRPr lang="en-US" sz="2000" dirty="0"/>
          </a:p>
          <a:p>
            <a:r>
              <a:rPr lang="en-US" sz="2000"/>
              <a:t>Busy- 4.79%</a:t>
            </a:r>
            <a:endParaRPr lang="en-US" sz="2000" dirty="0"/>
          </a:p>
          <a:p>
            <a:r>
              <a:rPr lang="en-US" sz="2000"/>
              <a:t>Completed-32.73%</a:t>
            </a:r>
            <a:endParaRPr lang="en-US" sz="2000" dirty="0"/>
          </a:p>
          <a:p>
            <a:r>
              <a:rPr lang="en-US" sz="2000"/>
              <a:t>Failed- 1.37%</a:t>
            </a:r>
            <a:endParaRPr lang="en-US" sz="2000" dirty="0"/>
          </a:p>
          <a:p>
            <a:r>
              <a:rPr lang="en-US" sz="2000"/>
              <a:t>Missed-41.99%</a:t>
            </a:r>
            <a:br>
              <a:rPr lang="en-US" sz="2000" dirty="0"/>
            </a:br>
            <a:r>
              <a:rPr lang="en-US" sz="2000"/>
              <a:t>No Answer- 19.15 %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629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C0B1-9CCB-6DC6-ACE0-5D1B6639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                                                  </a:t>
            </a:r>
            <a:r>
              <a:rPr lang="en-US" b="1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Conclusion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01D7E-9E2D-C9C0-CB91-C47AD9F6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If You have </a:t>
            </a:r>
            <a:r>
              <a:rPr lang="en-US" sz="2400" dirty="0" err="1">
                <a:solidFill>
                  <a:srgbClr val="000000"/>
                </a:solidFill>
                <a:latin typeface="Arial"/>
                <a:cs typeface="Arial"/>
              </a:rPr>
              <a:t>invest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 1 </a:t>
            </a:r>
            <a:r>
              <a:rPr lang="en-US" sz="2400" dirty="0" err="1">
                <a:solidFill>
                  <a:srgbClr val="000000"/>
                </a:solidFill>
                <a:latin typeface="Arial"/>
                <a:cs typeface="Arial"/>
              </a:rPr>
              <a:t>cr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 rupee to optimizer the operational efficiency and enhance customer satisfaction, based on the data, </a:t>
            </a:r>
            <a:r>
              <a:rPr lang="en-US" sz="2400" dirty="0" err="1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 would invest more in training program and quality improvement rather than other areas</a:t>
            </a:r>
          </a:p>
          <a:p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Prioritize training to improve customer satisfaction</a:t>
            </a:r>
            <a:endParaRPr lang="en-US" sz="2400"/>
          </a:p>
          <a:p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  Use data-driven hiring for peak periods</a:t>
            </a:r>
            <a:endParaRPr lang="en-US" sz="2400"/>
          </a:p>
          <a:p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  Implement automation tools to reduce workload</a:t>
            </a:r>
            <a:endParaRPr lang="en-US" sz="2400"/>
          </a:p>
          <a:p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   Balance workload across agents</a:t>
            </a:r>
            <a:endParaRPr lang="en-US" sz="2400"/>
          </a:p>
          <a:p>
            <a:r>
              <a:rPr lang="en-US" sz="2400">
                <a:solidFill>
                  <a:srgbClr val="000000"/>
                </a:solidFill>
                <a:latin typeface="Arial"/>
                <a:cs typeface="Arial"/>
              </a:rPr>
              <a:t>  Continuously monitor KPIs using dashboards</a:t>
            </a:r>
            <a:endParaRPr lang="en-US" sz="240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68488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765D7D-D5CE-4522-8099-745D903F48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75CE36B-7578-4CD8-A1EE-AB0D9EA3EA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45BFBA-5402-4A2B-A3EF-0CBC5F583F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Chroma</Template>
  <TotalTime>0</TotalTime>
  <Words>4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Chroma</vt:lpstr>
      <vt:lpstr>Astrosage Platform analysis</vt:lpstr>
      <vt:lpstr>                                         Introduction and Objective</vt:lpstr>
      <vt:lpstr>                                                        How it Works</vt:lpstr>
      <vt:lpstr>Data Overview</vt:lpstr>
      <vt:lpstr>Consultation Type Distribution</vt:lpstr>
      <vt:lpstr>Call Distribution Status</vt:lpstr>
      <vt:lpstr>Top 10 Astrologer by Number of consultant</vt:lpstr>
      <vt:lpstr>Customer rating Distribution</vt:lpstr>
      <vt:lpstr>Daily Call Volume Trend</vt:lpstr>
      <vt:lpstr>Call Status </vt:lpstr>
      <vt:lpstr>                                                 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255</cp:revision>
  <dcterms:created xsi:type="dcterms:W3CDTF">2026-05-01T07:52:24Z</dcterms:created>
  <dcterms:modified xsi:type="dcterms:W3CDTF">2026-05-02T10:55:43Z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